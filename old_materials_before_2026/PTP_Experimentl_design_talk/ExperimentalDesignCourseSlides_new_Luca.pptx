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
  </p:notesMasterIdLst>
  <p:handoutMasterIdLst>
    <p:handoutMasterId r:id="rId39"/>
  </p:handoutMasterIdLst>
  <p:sldIdLst>
    <p:sldId id="302" r:id="rId5"/>
    <p:sldId id="392" r:id="rId6"/>
    <p:sldId id="393" r:id="rId7"/>
    <p:sldId id="473" r:id="rId8"/>
    <p:sldId id="452" r:id="rId9"/>
    <p:sldId id="470" r:id="rId10"/>
    <p:sldId id="466" r:id="rId11"/>
    <p:sldId id="467" r:id="rId12"/>
    <p:sldId id="469" r:id="rId13"/>
    <p:sldId id="447" r:id="rId14"/>
    <p:sldId id="474" r:id="rId15"/>
    <p:sldId id="455" r:id="rId16"/>
    <p:sldId id="453" r:id="rId17"/>
    <p:sldId id="448" r:id="rId18"/>
    <p:sldId id="456" r:id="rId19"/>
    <p:sldId id="477" r:id="rId20"/>
    <p:sldId id="401" r:id="rId21"/>
    <p:sldId id="395" r:id="rId22"/>
    <p:sldId id="396" r:id="rId23"/>
    <p:sldId id="454" r:id="rId24"/>
    <p:sldId id="461" r:id="rId25"/>
    <p:sldId id="465" r:id="rId26"/>
    <p:sldId id="397" r:id="rId27"/>
    <p:sldId id="398" r:id="rId28"/>
    <p:sldId id="464" r:id="rId29"/>
    <p:sldId id="472" r:id="rId30"/>
    <p:sldId id="471" r:id="rId31"/>
    <p:sldId id="428" r:id="rId32"/>
    <p:sldId id="476" r:id="rId33"/>
    <p:sldId id="429" r:id="rId34"/>
    <p:sldId id="430" r:id="rId35"/>
    <p:sldId id="433" r:id="rId36"/>
    <p:sldId id="462" r:id="rId37"/>
  </p:sldIdLst>
  <p:sldSz cx="9906000" cy="6858000" type="A4"/>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88">
          <p15:clr>
            <a:srgbClr val="A4A3A4"/>
          </p15:clr>
        </p15:guide>
        <p15:guide id="2" orient="horz" pos="3872">
          <p15:clr>
            <a:srgbClr val="A4A3A4"/>
          </p15:clr>
        </p15:guide>
        <p15:guide id="3" orient="horz" pos="320">
          <p15:clr>
            <a:srgbClr val="A4A3A4"/>
          </p15:clr>
        </p15:guide>
        <p15:guide id="4" orient="horz" pos="4496">
          <p15:clr>
            <a:srgbClr val="A4A3A4"/>
          </p15:clr>
        </p15:guide>
        <p15:guide id="5" orient="horz" pos="944">
          <p15:clr>
            <a:srgbClr val="A4A3A4"/>
          </p15:clr>
        </p15:guide>
        <p15:guide id="6" orient="horz" pos="-400">
          <p15:clr>
            <a:srgbClr val="A4A3A4"/>
          </p15:clr>
        </p15:guide>
        <p15:guide id="7" orient="horz" pos="1952">
          <p15:clr>
            <a:srgbClr val="A4A3A4"/>
          </p15:clr>
        </p15:guide>
        <p15:guide id="8" orient="horz" pos="2816">
          <p15:clr>
            <a:srgbClr val="A4A3A4"/>
          </p15:clr>
        </p15:guide>
        <p15:guide id="9" orient="horz" pos="3680">
          <p15:clr>
            <a:srgbClr val="A4A3A4"/>
          </p15:clr>
        </p15:guide>
        <p15:guide id="10" pos="312">
          <p15:clr>
            <a:srgbClr val="A4A3A4"/>
          </p15:clr>
        </p15:guide>
        <p15:guide id="11" pos="5928">
          <p15:clr>
            <a:srgbClr val="A4A3A4"/>
          </p15:clr>
        </p15:guide>
        <p15:guide id="12" pos="2496">
          <p15:clr>
            <a:srgbClr val="A4A3A4"/>
          </p15:clr>
        </p15:guide>
        <p15:guide id="13" pos="3120">
          <p15:clr>
            <a:srgbClr val="A4A3A4"/>
          </p15:clr>
        </p15:guide>
        <p15:guide id="14" pos="3744">
          <p15:clr>
            <a:srgbClr val="A4A3A4"/>
          </p15:clr>
        </p15:guide>
        <p15:guide id="15" pos="3328">
          <p15:clr>
            <a:srgbClr val="A4A3A4"/>
          </p15:clr>
        </p15:guide>
        <p15:guide id="16" pos="2704">
          <p15:clr>
            <a:srgbClr val="A4A3A4"/>
          </p15:clr>
        </p15:guide>
        <p15:guide id="17" pos="39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rah Vowler" initials="SV"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2658" autoAdjust="0"/>
    <p:restoredTop sz="99416" autoAdjust="0"/>
  </p:normalViewPr>
  <p:slideViewPr>
    <p:cSldViewPr showGuides="1">
      <p:cViewPr varScale="1">
        <p:scale>
          <a:sx n="127" d="100"/>
          <a:sy n="127" d="100"/>
        </p:scale>
        <p:origin x="176" y="376"/>
      </p:cViewPr>
      <p:guideLst>
        <p:guide orient="horz" pos="1088"/>
        <p:guide orient="horz" pos="3872"/>
        <p:guide orient="horz" pos="320"/>
        <p:guide orient="horz" pos="4496"/>
        <p:guide orient="horz" pos="944"/>
        <p:guide orient="horz" pos="-400"/>
        <p:guide orient="horz" pos="1952"/>
        <p:guide orient="horz" pos="2816"/>
        <p:guide orient="horz" pos="3680"/>
        <p:guide pos="312"/>
        <p:guide pos="5928"/>
        <p:guide pos="2496"/>
        <p:guide pos="3120"/>
        <p:guide pos="3744"/>
        <p:guide pos="3328"/>
        <p:guide pos="2704"/>
        <p:guide pos="3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3" d="100"/>
        <a:sy n="9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GB"/>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D0E155D4-5C91-8347-8BAE-63384EA8F501}" type="datetimeFigureOut">
              <a:rPr lang="en-GB"/>
              <a:pPr/>
              <a:t>25/09/2024</a:t>
            </a:fld>
            <a:endParaRPr lang="en-GB"/>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GB"/>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151DCEC2-24C9-7A45-9848-823E6C1DDFA2}" type="slidenum">
              <a:rPr/>
              <a:pPr/>
              <a:t>‹#›</a:t>
            </a:fld>
            <a:endParaRPr lang="en-GB"/>
          </a:p>
        </p:txBody>
      </p:sp>
    </p:spTree>
    <p:extLst>
      <p:ext uri="{BB962C8B-B14F-4D97-AF65-F5344CB8AC3E}">
        <p14:creationId xmlns:p14="http://schemas.microsoft.com/office/powerpoint/2010/main" val="120882871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GB"/>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1B3C19E1-06D0-8D40-B36B-10A34F48B281}" type="datetimeFigureOut">
              <a:rPr lang="en-GB"/>
              <a:pPr/>
              <a:t>25/09/2024</a:t>
            </a:fld>
            <a:endParaRPr lang="en-GB"/>
          </a:p>
        </p:txBody>
      </p:sp>
      <p:sp>
        <p:nvSpPr>
          <p:cNvPr id="4" name="Slide Image Placeholder 3"/>
          <p:cNvSpPr>
            <a:spLocks noGrp="1" noRot="1" noChangeAspect="1"/>
          </p:cNvSpPr>
          <p:nvPr>
            <p:ph type="sldImg" idx="2"/>
          </p:nvPr>
        </p:nvSpPr>
        <p:spPr>
          <a:xfrm>
            <a:off x="779463" y="768350"/>
            <a:ext cx="5541962" cy="3836988"/>
          </a:xfrm>
          <a:prstGeom prst="rect">
            <a:avLst/>
          </a:prstGeom>
          <a:noFill/>
          <a:ln w="12700">
            <a:solidFill>
              <a:prstClr val="black"/>
            </a:solidFill>
          </a:ln>
        </p:spPr>
        <p:txBody>
          <a:bodyPr vert="horz" lIns="99048" tIns="49524" rIns="99048" bIns="49524" rtlCol="0" anchor="ctr"/>
          <a:lstStyle/>
          <a:p>
            <a:endParaRPr lang="en-GB"/>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GB"/>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C235930E-F62D-A446-8BAD-EBBA9D14D0E0}" type="slidenum">
              <a:rPr/>
              <a:pPr/>
              <a:t>‹#›</a:t>
            </a:fld>
            <a:endParaRPr lang="en-GB"/>
          </a:p>
        </p:txBody>
      </p:sp>
    </p:spTree>
    <p:extLst>
      <p:ext uri="{BB962C8B-B14F-4D97-AF65-F5344CB8AC3E}">
        <p14:creationId xmlns:p14="http://schemas.microsoft.com/office/powerpoint/2010/main" val="149935939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235930E-F62D-A446-8BAD-EBBA9D14D0E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2</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5</a:t>
            </a:fld>
            <a:endParaRPr lang="en-GB"/>
          </a:p>
        </p:txBody>
      </p:sp>
    </p:spTree>
    <p:extLst>
      <p:ext uri="{BB962C8B-B14F-4D97-AF65-F5344CB8AC3E}">
        <p14:creationId xmlns:p14="http://schemas.microsoft.com/office/powerpoint/2010/main" val="2432852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4C946-8047-0BC7-491D-797C9A64B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038BC-97FA-D27E-CB8E-9A420AC56BC1}"/>
              </a:ext>
            </a:extLst>
          </p:cNvPr>
          <p:cNvSpPr>
            <a:spLocks noGrp="1" noRot="1" noChangeAspect="1"/>
          </p:cNvSpPr>
          <p:nvPr>
            <p:ph type="sldImg"/>
          </p:nvPr>
        </p:nvSpPr>
        <p:spPr>
          <a:xfrm>
            <a:off x="779463" y="768350"/>
            <a:ext cx="5541962" cy="3836988"/>
          </a:xfrm>
        </p:spPr>
      </p:sp>
      <p:sp>
        <p:nvSpPr>
          <p:cNvPr id="3" name="Notes Placeholder 2">
            <a:extLst>
              <a:ext uri="{FF2B5EF4-FFF2-40B4-BE49-F238E27FC236}">
                <a16:creationId xmlns:a16="http://schemas.microsoft.com/office/drawing/2014/main" id="{D7DA21C5-1275-9FD9-949A-E13B7F096902}"/>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C6127F62-073B-1C26-EA80-811E06255D5D}"/>
              </a:ext>
            </a:extLst>
          </p:cNvPr>
          <p:cNvSpPr>
            <a:spLocks noGrp="1"/>
          </p:cNvSpPr>
          <p:nvPr>
            <p:ph type="sldNum" sz="quarter" idx="10"/>
          </p:nvPr>
        </p:nvSpPr>
        <p:spPr/>
        <p:txBody>
          <a:bodyPr/>
          <a:lstStyle/>
          <a:p>
            <a:fld id="{C235930E-F62D-A446-8BAD-EBBA9D14D0E0}" type="slidenum">
              <a:rPr lang="en-GB" smtClean="0"/>
              <a:pPr/>
              <a:t>6</a:t>
            </a:fld>
            <a:endParaRPr lang="en-GB"/>
          </a:p>
        </p:txBody>
      </p:sp>
    </p:spTree>
    <p:extLst>
      <p:ext uri="{BB962C8B-B14F-4D97-AF65-F5344CB8AC3E}">
        <p14:creationId xmlns:p14="http://schemas.microsoft.com/office/powerpoint/2010/main" val="1939307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12</a:t>
            </a:fld>
            <a:endParaRPr lang="en-GB"/>
          </a:p>
        </p:txBody>
      </p:sp>
    </p:spTree>
    <p:extLst>
      <p:ext uri="{BB962C8B-B14F-4D97-AF65-F5344CB8AC3E}">
        <p14:creationId xmlns:p14="http://schemas.microsoft.com/office/powerpoint/2010/main" val="4022300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p:cNvSpPr>
            <a:spLocks noGrp="1" noChangeArrowheads="1"/>
          </p:cNvSpPr>
          <p:nvPr>
            <p:ph type="sldNum" sz="quarter" idx="5"/>
          </p:nvPr>
        </p:nvSpPr>
        <p:spPr>
          <a:noFill/>
        </p:spPr>
        <p:txBody>
          <a:bodyPr/>
          <a:lstStyle>
            <a:lvl1pPr>
              <a:defRPr sz="2600">
                <a:solidFill>
                  <a:schemeClr val="tx1"/>
                </a:solidFill>
                <a:latin typeface="Arial" charset="0"/>
                <a:ea typeface="ＭＳ Ｐゴシック" charset="0"/>
                <a:cs typeface="ＭＳ Ｐゴシック" charset="0"/>
              </a:defRPr>
            </a:lvl1pPr>
            <a:lvl2pPr marL="804763" indent="-309524">
              <a:defRPr sz="2600">
                <a:solidFill>
                  <a:schemeClr val="tx1"/>
                </a:solidFill>
                <a:latin typeface="Arial" charset="0"/>
                <a:ea typeface="ＭＳ Ｐゴシック" charset="0"/>
              </a:defRPr>
            </a:lvl2pPr>
            <a:lvl3pPr marL="1238098" indent="-247620">
              <a:defRPr sz="2600">
                <a:solidFill>
                  <a:schemeClr val="tx1"/>
                </a:solidFill>
                <a:latin typeface="Arial" charset="0"/>
                <a:ea typeface="ＭＳ Ｐゴシック" charset="0"/>
              </a:defRPr>
            </a:lvl3pPr>
            <a:lvl4pPr marL="1733337" indent="-247620">
              <a:defRPr sz="2600">
                <a:solidFill>
                  <a:schemeClr val="tx1"/>
                </a:solidFill>
                <a:latin typeface="Arial" charset="0"/>
                <a:ea typeface="ＭＳ Ｐゴシック" charset="0"/>
              </a:defRPr>
            </a:lvl4pPr>
            <a:lvl5pPr marL="2228576" indent="-247620">
              <a:defRPr sz="2600">
                <a:solidFill>
                  <a:schemeClr val="tx1"/>
                </a:solidFill>
                <a:latin typeface="Arial" charset="0"/>
                <a:ea typeface="ＭＳ Ｐゴシック" charset="0"/>
              </a:defRPr>
            </a:lvl5pPr>
            <a:lvl6pPr marL="2723815" indent="-247620" eaLnBrk="0" fontAlgn="base" hangingPunct="0">
              <a:spcBef>
                <a:spcPct val="0"/>
              </a:spcBef>
              <a:spcAft>
                <a:spcPct val="0"/>
              </a:spcAft>
              <a:defRPr sz="2600">
                <a:solidFill>
                  <a:schemeClr val="tx1"/>
                </a:solidFill>
                <a:latin typeface="Arial" charset="0"/>
                <a:ea typeface="ＭＳ Ｐゴシック" charset="0"/>
              </a:defRPr>
            </a:lvl6pPr>
            <a:lvl7pPr marL="3219054" indent="-247620" eaLnBrk="0" fontAlgn="base" hangingPunct="0">
              <a:spcBef>
                <a:spcPct val="0"/>
              </a:spcBef>
              <a:spcAft>
                <a:spcPct val="0"/>
              </a:spcAft>
              <a:defRPr sz="2600">
                <a:solidFill>
                  <a:schemeClr val="tx1"/>
                </a:solidFill>
                <a:latin typeface="Arial" charset="0"/>
                <a:ea typeface="ＭＳ Ｐゴシック" charset="0"/>
              </a:defRPr>
            </a:lvl7pPr>
            <a:lvl8pPr marL="3714293" indent="-247620" eaLnBrk="0" fontAlgn="base" hangingPunct="0">
              <a:spcBef>
                <a:spcPct val="0"/>
              </a:spcBef>
              <a:spcAft>
                <a:spcPct val="0"/>
              </a:spcAft>
              <a:defRPr sz="2600">
                <a:solidFill>
                  <a:schemeClr val="tx1"/>
                </a:solidFill>
                <a:latin typeface="Arial" charset="0"/>
                <a:ea typeface="ＭＳ Ｐゴシック" charset="0"/>
              </a:defRPr>
            </a:lvl8pPr>
            <a:lvl9pPr marL="4209532" indent="-247620" eaLnBrk="0" fontAlgn="base" hangingPunct="0">
              <a:spcBef>
                <a:spcPct val="0"/>
              </a:spcBef>
              <a:spcAft>
                <a:spcPct val="0"/>
              </a:spcAft>
              <a:defRPr sz="2600">
                <a:solidFill>
                  <a:schemeClr val="tx1"/>
                </a:solidFill>
                <a:latin typeface="Arial" charset="0"/>
                <a:ea typeface="ＭＳ Ｐゴシック" charset="0"/>
              </a:defRPr>
            </a:lvl9pPr>
          </a:lstStyle>
          <a:p>
            <a:fld id="{F6137B63-778E-DB49-8633-3991B73B83A1}" type="slidenum">
              <a:rPr lang="en-US" sz="1300">
                <a:latin typeface="Calibri"/>
              </a:rPr>
              <a:pPr/>
              <a:t>15</a:t>
            </a:fld>
            <a:endParaRPr lang="en-US" sz="1300" dirty="0">
              <a:latin typeface="Calibri"/>
            </a:endParaRPr>
          </a:p>
        </p:txBody>
      </p:sp>
      <p:sp>
        <p:nvSpPr>
          <p:cNvPr id="16281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4147"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4277110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17</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18</a:t>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19</a:t>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142338" name="Notes Placeholder 2"/>
          <p:cNvSpPr>
            <a:spLocks noGrp="1"/>
          </p:cNvSpPr>
          <p:nvPr>
            <p:ph type="body" idx="1"/>
          </p:nvPr>
        </p:nvSpPr>
        <p:spPr>
          <a:noFill/>
        </p:spPr>
        <p:txBody>
          <a:bodyPr/>
          <a:lstStyle/>
          <a:p>
            <a:endParaRPr lang="en-US"/>
          </a:p>
        </p:txBody>
      </p:sp>
      <p:sp>
        <p:nvSpPr>
          <p:cNvPr id="142339" name="Slide Number Placeholder 3"/>
          <p:cNvSpPr>
            <a:spLocks noGrp="1"/>
          </p:cNvSpPr>
          <p:nvPr>
            <p:ph type="sldNum" sz="quarter" idx="5"/>
          </p:nvPr>
        </p:nvSpPr>
        <p:spPr>
          <a:noFill/>
        </p:spPr>
        <p:txBody>
          <a:bodyPr/>
          <a:lstStyle>
            <a:lvl1pPr>
              <a:defRPr sz="2600">
                <a:solidFill>
                  <a:schemeClr val="tx1"/>
                </a:solidFill>
                <a:latin typeface="Arial" charset="0"/>
                <a:ea typeface="ＭＳ Ｐゴシック" charset="0"/>
                <a:cs typeface="ＭＳ Ｐゴシック" charset="0"/>
              </a:defRPr>
            </a:lvl1pPr>
            <a:lvl2pPr marL="804763" indent="-309524">
              <a:defRPr sz="2600">
                <a:solidFill>
                  <a:schemeClr val="tx1"/>
                </a:solidFill>
                <a:latin typeface="Arial" charset="0"/>
                <a:ea typeface="ＭＳ Ｐゴシック" charset="0"/>
              </a:defRPr>
            </a:lvl2pPr>
            <a:lvl3pPr marL="1238098" indent="-247620">
              <a:defRPr sz="2600">
                <a:solidFill>
                  <a:schemeClr val="tx1"/>
                </a:solidFill>
                <a:latin typeface="Arial" charset="0"/>
                <a:ea typeface="ＭＳ Ｐゴシック" charset="0"/>
              </a:defRPr>
            </a:lvl3pPr>
            <a:lvl4pPr marL="1733337" indent="-247620">
              <a:defRPr sz="2600">
                <a:solidFill>
                  <a:schemeClr val="tx1"/>
                </a:solidFill>
                <a:latin typeface="Arial" charset="0"/>
                <a:ea typeface="ＭＳ Ｐゴシック" charset="0"/>
              </a:defRPr>
            </a:lvl4pPr>
            <a:lvl5pPr marL="2228576" indent="-247620">
              <a:defRPr sz="2600">
                <a:solidFill>
                  <a:schemeClr val="tx1"/>
                </a:solidFill>
                <a:latin typeface="Arial" charset="0"/>
                <a:ea typeface="ＭＳ Ｐゴシック" charset="0"/>
              </a:defRPr>
            </a:lvl5pPr>
            <a:lvl6pPr marL="2723815" indent="-247620" eaLnBrk="0" fontAlgn="base" hangingPunct="0">
              <a:spcBef>
                <a:spcPct val="0"/>
              </a:spcBef>
              <a:spcAft>
                <a:spcPct val="0"/>
              </a:spcAft>
              <a:defRPr sz="2600">
                <a:solidFill>
                  <a:schemeClr val="tx1"/>
                </a:solidFill>
                <a:latin typeface="Arial" charset="0"/>
                <a:ea typeface="ＭＳ Ｐゴシック" charset="0"/>
              </a:defRPr>
            </a:lvl6pPr>
            <a:lvl7pPr marL="3219054" indent="-247620" eaLnBrk="0" fontAlgn="base" hangingPunct="0">
              <a:spcBef>
                <a:spcPct val="0"/>
              </a:spcBef>
              <a:spcAft>
                <a:spcPct val="0"/>
              </a:spcAft>
              <a:defRPr sz="2600">
                <a:solidFill>
                  <a:schemeClr val="tx1"/>
                </a:solidFill>
                <a:latin typeface="Arial" charset="0"/>
                <a:ea typeface="ＭＳ Ｐゴシック" charset="0"/>
              </a:defRPr>
            </a:lvl7pPr>
            <a:lvl8pPr marL="3714293" indent="-247620" eaLnBrk="0" fontAlgn="base" hangingPunct="0">
              <a:spcBef>
                <a:spcPct val="0"/>
              </a:spcBef>
              <a:spcAft>
                <a:spcPct val="0"/>
              </a:spcAft>
              <a:defRPr sz="2600">
                <a:solidFill>
                  <a:schemeClr val="tx1"/>
                </a:solidFill>
                <a:latin typeface="Arial" charset="0"/>
                <a:ea typeface="ＭＳ Ｐゴシック" charset="0"/>
              </a:defRPr>
            </a:lvl8pPr>
            <a:lvl9pPr marL="4209532" indent="-247620" eaLnBrk="0" fontAlgn="base" hangingPunct="0">
              <a:spcBef>
                <a:spcPct val="0"/>
              </a:spcBef>
              <a:spcAft>
                <a:spcPct val="0"/>
              </a:spcAft>
              <a:defRPr sz="2600">
                <a:solidFill>
                  <a:schemeClr val="tx1"/>
                </a:solidFill>
                <a:latin typeface="Arial" charset="0"/>
                <a:ea typeface="ＭＳ Ｐゴシック" charset="0"/>
              </a:defRPr>
            </a:lvl9pPr>
          </a:lstStyle>
          <a:p>
            <a:fld id="{FFE836B8-FA2C-674B-B867-82E6723993FF}" type="slidenum">
              <a:rPr lang="en-US" sz="1300">
                <a:latin typeface="Calibri"/>
              </a:rPr>
              <a:pPr/>
              <a:t>20</a:t>
            </a:fld>
            <a:endParaRPr lang="en-US" sz="1300" dirty="0">
              <a:latin typeface="Calibri"/>
            </a:endParaRPr>
          </a:p>
        </p:txBody>
      </p:sp>
    </p:spTree>
    <p:extLst>
      <p:ext uri="{BB962C8B-B14F-4D97-AF65-F5344CB8AC3E}">
        <p14:creationId xmlns:p14="http://schemas.microsoft.com/office/powerpoint/2010/main" val="3237889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23</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24</a:t>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28</a:t>
            </a:fld>
            <a:endParaRPr lang="en-GB"/>
          </a:p>
        </p:txBody>
      </p:sp>
    </p:spTree>
    <p:extLst>
      <p:ext uri="{BB962C8B-B14F-4D97-AF65-F5344CB8AC3E}">
        <p14:creationId xmlns:p14="http://schemas.microsoft.com/office/powerpoint/2010/main" val="3294791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3216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lvl1pPr>
              <a:lnSpc>
                <a:spcPts val="3600"/>
              </a:lnSpc>
              <a:defRPr/>
            </a:lvl1pPr>
          </a:lstStyle>
          <a:p>
            <a:r>
              <a:rPr lang="en-GB" dirty="0"/>
              <a:t>Click to add text slide title</a:t>
            </a:r>
          </a:p>
        </p:txBody>
      </p:sp>
      <p:sp>
        <p:nvSpPr>
          <p:cNvPr id="3" name="Content Placeholder 2"/>
          <p:cNvSpPr>
            <a:spLocks noGrp="1"/>
          </p:cNvSpPr>
          <p:nvPr>
            <p:ph idx="1" hasCustomPrompt="1"/>
          </p:nvPr>
        </p:nvSpPr>
        <p:spPr>
          <a:xfrm>
            <a:off x="495300" y="1600200"/>
            <a:ext cx="8915400" cy="4114800"/>
          </a:xfrm>
        </p:spPr>
        <p:txBody>
          <a:bodyPr/>
          <a:lstStyle>
            <a:lvl1pPr>
              <a:defRPr b="1" cap="all" baseline="0">
                <a:solidFill>
                  <a:srgbClr val="00B0F0"/>
                </a:solidFill>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894566AE-8241-BB44-860E-CD35256A8692}" type="datetime2">
              <a:rPr lang="en-GB" smtClean="0"/>
              <a:t>Wednesday 25 September 2024</a:t>
            </a:fld>
            <a:endParaRPr lang="en-GB" dirty="0"/>
          </a:p>
        </p:txBody>
      </p:sp>
      <p:sp>
        <p:nvSpPr>
          <p:cNvPr id="11"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3" name="Slide Number Placeholder 5"/>
          <p:cNvSpPr>
            <a:spLocks noGrp="1"/>
          </p:cNvSpPr>
          <p:nvPr>
            <p:ph type="sldNum" sz="quarter" idx="4"/>
          </p:nvPr>
        </p:nvSpPr>
        <p:spPr>
          <a:xfrm>
            <a:off x="6045121"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9" name="Picture 8"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435165" y="5877272"/>
            <a:ext cx="3120347" cy="834120"/>
          </a:xfrm>
          <a:prstGeom prst="rect">
            <a:avLst/>
          </a:prstGeom>
        </p:spPr>
      </p:pic>
    </p:spTree>
    <p:extLst>
      <p:ext uri="{BB962C8B-B14F-4D97-AF65-F5344CB8AC3E}">
        <p14:creationId xmlns:p14="http://schemas.microsoft.com/office/powerpoint/2010/main" val="2329576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p>
        </p:txBody>
      </p:sp>
      <p:sp>
        <p:nvSpPr>
          <p:cNvPr id="3" name="Content Placeholder 2"/>
          <p:cNvSpPr>
            <a:spLocks noGrp="1"/>
          </p:cNvSpPr>
          <p:nvPr>
            <p:ph sz="half" idx="1"/>
          </p:nvPr>
        </p:nvSpPr>
        <p:spPr>
          <a:xfrm>
            <a:off x="495300" y="1727201"/>
            <a:ext cx="4127500" cy="4114799"/>
          </a:xfrm>
        </p:spPr>
        <p:txBody>
          <a:bodyPr/>
          <a:lstStyle>
            <a:lvl1pPr>
              <a:defRPr sz="2400"/>
            </a:lvl1pPr>
            <a:lvl2pPr>
              <a:defRPr sz="2000"/>
            </a:lvl2pPr>
            <a:lvl3pPr>
              <a:defRPr sz="2000"/>
            </a:lvl3pPr>
            <a:lvl4pPr>
              <a:defRPr sz="1600"/>
            </a:lvl4pPr>
            <a:lvl5pPr>
              <a:defRPr sz="1600"/>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Date Placeholder 3"/>
          <p:cNvSpPr>
            <a:spLocks noGrp="1"/>
          </p:cNvSpPr>
          <p:nvPr>
            <p:ph type="dt" sz="half" idx="10"/>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E6174831-FF86-8A42-B12C-77F2D23392DC}" type="datetime2">
              <a:rPr lang="en-GB" smtClean="0"/>
              <a:t>Wednesday 25 September 2024</a:t>
            </a:fld>
            <a:endParaRPr lang="en-GB" dirty="0"/>
          </a:p>
        </p:txBody>
      </p:sp>
      <p:sp>
        <p:nvSpPr>
          <p:cNvPr id="15"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6" name="Slide Number Placeholder 5"/>
          <p:cNvSpPr>
            <a:spLocks noGrp="1"/>
          </p:cNvSpPr>
          <p:nvPr>
            <p:ph type="sldNum" sz="quarter" idx="4"/>
          </p:nvPr>
        </p:nvSpPr>
        <p:spPr>
          <a:xfrm>
            <a:off x="6279147"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sp>
        <p:nvSpPr>
          <p:cNvPr id="9" name="Content Placeholder 2"/>
          <p:cNvSpPr>
            <a:spLocks noGrp="1"/>
          </p:cNvSpPr>
          <p:nvPr>
            <p:ph sz="half" idx="11"/>
          </p:nvPr>
        </p:nvSpPr>
        <p:spPr>
          <a:xfrm>
            <a:off x="4953000" y="1727201"/>
            <a:ext cx="4457700" cy="4114799"/>
          </a:xfrm>
        </p:spPr>
        <p:txBody>
          <a:bodyPr/>
          <a:lstStyle>
            <a:lvl1pPr>
              <a:defRPr sz="2400"/>
            </a:lvl1pPr>
            <a:lvl2pPr>
              <a:defRPr sz="2000"/>
            </a:lvl2pPr>
            <a:lvl3pPr>
              <a:defRPr sz="2000"/>
            </a:lvl3pPr>
            <a:lvl4pPr>
              <a:defRPr sz="1600"/>
            </a:lvl4pPr>
            <a:lvl5pPr>
              <a:defRPr sz="1600"/>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10" name="Picture 9"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13173" y="5877272"/>
            <a:ext cx="3120347" cy="834120"/>
          </a:xfrm>
          <a:prstGeom prst="rect">
            <a:avLst/>
          </a:prstGeom>
        </p:spPr>
      </p:pic>
    </p:spTree>
    <p:extLst>
      <p:ext uri="{BB962C8B-B14F-4D97-AF65-F5344CB8AC3E}">
        <p14:creationId xmlns:p14="http://schemas.microsoft.com/office/powerpoint/2010/main" val="56860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Picture landscap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lvl1pPr>
              <a:defRPr baseline="0"/>
            </a:lvl1pPr>
          </a:lstStyle>
          <a:p>
            <a:r>
              <a:rPr lang="en-GB" dirty="0"/>
              <a:t>Click to add large landscape picture title</a:t>
            </a:r>
          </a:p>
        </p:txBody>
      </p:sp>
      <p:sp>
        <p:nvSpPr>
          <p:cNvPr id="10" name="Picture Placeholder 9"/>
          <p:cNvSpPr>
            <a:spLocks noGrp="1"/>
          </p:cNvSpPr>
          <p:nvPr>
            <p:ph type="pic" sz="quarter" idx="13" hasCustomPrompt="1"/>
          </p:nvPr>
        </p:nvSpPr>
        <p:spPr>
          <a:xfrm>
            <a:off x="4292601" y="1736725"/>
            <a:ext cx="5118100" cy="4105275"/>
          </a:xfrm>
        </p:spPr>
        <p:txBody>
          <a:bodyPr lIns="108000" tIns="93600"/>
          <a:lstStyle>
            <a:lvl1pPr marL="0" indent="0">
              <a:buNone/>
              <a:defRPr sz="1000">
                <a:solidFill>
                  <a:srgbClr val="7F7F7F"/>
                </a:solidFill>
              </a:defRPr>
            </a:lvl1pPr>
          </a:lstStyle>
          <a:p>
            <a:r>
              <a:rPr lang="en-GB"/>
              <a:t>Click icon to insert large landscape picture</a:t>
            </a:r>
          </a:p>
        </p:txBody>
      </p:sp>
      <p:sp>
        <p:nvSpPr>
          <p:cNvPr id="9" name="Content Placeholder 2"/>
          <p:cNvSpPr>
            <a:spLocks noGrp="1"/>
          </p:cNvSpPr>
          <p:nvPr>
            <p:ph idx="1"/>
          </p:nvPr>
        </p:nvSpPr>
        <p:spPr>
          <a:xfrm>
            <a:off x="495300" y="1727200"/>
            <a:ext cx="3467100" cy="4114799"/>
          </a:xfrm>
        </p:spPr>
        <p:txBody>
          <a:bodyPr/>
          <a:lstStyle>
            <a:lvl1pPr marL="0" indent="0">
              <a:defRPr sz="1800"/>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3FF6E940-AE9C-AD41-871E-2263FB7B9E1C}" type="datetime2">
              <a:rPr lang="en-GB" smtClean="0"/>
              <a:t>Wednesday 25 September 2024</a:t>
            </a:fld>
            <a:endParaRPr lang="en-GB" dirty="0"/>
          </a:p>
        </p:txBody>
      </p:sp>
      <p:sp>
        <p:nvSpPr>
          <p:cNvPr id="16"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dirty="0"/>
              <a:t>View &lt;Headers and Footers&gt; to alter this text</a:t>
            </a:r>
            <a:endParaRPr lang="en-GB" dirty="0"/>
          </a:p>
        </p:txBody>
      </p:sp>
      <p:sp>
        <p:nvSpPr>
          <p:cNvPr id="18" name="Slide Number Placeholder 5"/>
          <p:cNvSpPr>
            <a:spLocks noGrp="1"/>
          </p:cNvSpPr>
          <p:nvPr>
            <p:ph type="sldNum" sz="quarter" idx="4"/>
          </p:nvPr>
        </p:nvSpPr>
        <p:spPr>
          <a:xfrm>
            <a:off x="6201139"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2" name="Picture 11"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91182" y="5949280"/>
            <a:ext cx="3120347" cy="834120"/>
          </a:xfrm>
          <a:prstGeom prst="rect">
            <a:avLst/>
          </a:prstGeom>
        </p:spPr>
      </p:pic>
    </p:spTree>
    <p:extLst>
      <p:ext uri="{BB962C8B-B14F-4D97-AF65-F5344CB8AC3E}">
        <p14:creationId xmlns:p14="http://schemas.microsoft.com/office/powerpoint/2010/main" val="333051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Picture landscape smal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small landscape picture title</a:t>
            </a:r>
          </a:p>
        </p:txBody>
      </p:sp>
      <p:sp>
        <p:nvSpPr>
          <p:cNvPr id="9" name="Picture Placeholder 9"/>
          <p:cNvSpPr>
            <a:spLocks noGrp="1"/>
          </p:cNvSpPr>
          <p:nvPr>
            <p:ph type="pic" sz="quarter" idx="13" hasCustomPrompt="1"/>
          </p:nvPr>
        </p:nvSpPr>
        <p:spPr>
          <a:xfrm>
            <a:off x="5283200" y="1736726"/>
            <a:ext cx="4127500" cy="2733675"/>
          </a:xfrm>
        </p:spPr>
        <p:txBody>
          <a:bodyPr lIns="108000" tIns="93600"/>
          <a:lstStyle>
            <a:lvl1pPr marL="0" indent="0">
              <a:buNone/>
              <a:defRPr sz="1000">
                <a:solidFill>
                  <a:srgbClr val="7F7F7F"/>
                </a:solidFill>
              </a:defRPr>
            </a:lvl1pPr>
          </a:lstStyle>
          <a:p>
            <a:r>
              <a:rPr lang="en-GB"/>
              <a:t>Click icon to insert landscape picture</a:t>
            </a:r>
          </a:p>
        </p:txBody>
      </p:sp>
      <p:sp>
        <p:nvSpPr>
          <p:cNvPr id="10" name="Content Placeholder 2"/>
          <p:cNvSpPr>
            <a:spLocks noGrp="1"/>
          </p:cNvSpPr>
          <p:nvPr>
            <p:ph idx="1"/>
          </p:nvPr>
        </p:nvSpPr>
        <p:spPr>
          <a:xfrm>
            <a:off x="495300" y="1727200"/>
            <a:ext cx="4457700" cy="4114799"/>
          </a:xfrm>
        </p:spPr>
        <p:txBody>
          <a:bodyPr/>
          <a:lstStyle>
            <a:lvl1pPr marL="0" indent="0">
              <a:defRPr sz="1800"/>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9B316AFB-DA9E-9749-A99E-9EB0A026EE1C}" type="datetime2">
              <a:rPr lang="en-GB" smtClean="0"/>
              <a:t>Wednesday 25 September 2024</a:t>
            </a:fld>
            <a:endParaRPr lang="en-GB" dirty="0"/>
          </a:p>
        </p:txBody>
      </p:sp>
      <p:sp>
        <p:nvSpPr>
          <p:cNvPr id="16"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8" name="Slide Number Placeholder 5"/>
          <p:cNvSpPr>
            <a:spLocks noGrp="1"/>
          </p:cNvSpPr>
          <p:nvPr>
            <p:ph type="sldNum" sz="quarter" idx="4"/>
          </p:nvPr>
        </p:nvSpPr>
        <p:spPr>
          <a:xfrm>
            <a:off x="6357156"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1" name="Picture 10"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669191" y="5949280"/>
            <a:ext cx="3120347" cy="834120"/>
          </a:xfrm>
          <a:prstGeom prst="rect">
            <a:avLst/>
          </a:prstGeom>
        </p:spPr>
      </p:pic>
    </p:spTree>
    <p:extLst>
      <p:ext uri="{BB962C8B-B14F-4D97-AF65-F5344CB8AC3E}">
        <p14:creationId xmlns:p14="http://schemas.microsoft.com/office/powerpoint/2010/main" val="1003310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Picture Squa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square picture title</a:t>
            </a:r>
          </a:p>
        </p:txBody>
      </p:sp>
      <p:sp>
        <p:nvSpPr>
          <p:cNvPr id="9" name="Picture Placeholder 9"/>
          <p:cNvSpPr>
            <a:spLocks noGrp="1"/>
          </p:cNvSpPr>
          <p:nvPr>
            <p:ph type="pic" sz="quarter" idx="13" hasCustomPrompt="1"/>
          </p:nvPr>
        </p:nvSpPr>
        <p:spPr>
          <a:xfrm>
            <a:off x="4953000" y="1727200"/>
            <a:ext cx="4457700" cy="4114800"/>
          </a:xfrm>
        </p:spPr>
        <p:txBody>
          <a:bodyPr lIns="108000" tIns="93600"/>
          <a:lstStyle>
            <a:lvl1pPr marL="0" indent="0">
              <a:buNone/>
              <a:defRPr sz="1000">
                <a:solidFill>
                  <a:srgbClr val="7F7F7F"/>
                </a:solidFill>
              </a:defRPr>
            </a:lvl1pPr>
          </a:lstStyle>
          <a:p>
            <a:r>
              <a:rPr lang="en-GB"/>
              <a:t>Click icon to insert square picture</a:t>
            </a:r>
          </a:p>
        </p:txBody>
      </p:sp>
      <p:sp>
        <p:nvSpPr>
          <p:cNvPr id="13" name="Content Placeholder 2"/>
          <p:cNvSpPr>
            <a:spLocks noGrp="1"/>
          </p:cNvSpPr>
          <p:nvPr>
            <p:ph idx="1"/>
          </p:nvPr>
        </p:nvSpPr>
        <p:spPr>
          <a:xfrm>
            <a:off x="495300" y="1727200"/>
            <a:ext cx="4449185" cy="4114799"/>
          </a:xfrm>
        </p:spPr>
        <p:txBody>
          <a:bodyPr/>
          <a:lstStyle>
            <a:lvl1pPr marL="0" indent="0">
              <a:defRPr sz="1800"/>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8"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B76E8DD9-6228-2049-B4E6-DF9E244A8CEA}" type="datetime2">
              <a:rPr lang="en-GB" smtClean="0"/>
              <a:t>Wednesday 25 September 2024</a:t>
            </a:fld>
            <a:endParaRPr lang="en-GB" dirty="0"/>
          </a:p>
        </p:txBody>
      </p:sp>
      <p:sp>
        <p:nvSpPr>
          <p:cNvPr id="19"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20" name="Slide Number Placeholder 5"/>
          <p:cNvSpPr>
            <a:spLocks noGrp="1"/>
          </p:cNvSpPr>
          <p:nvPr>
            <p:ph type="sldNum" sz="quarter" idx="4"/>
          </p:nvPr>
        </p:nvSpPr>
        <p:spPr>
          <a:xfrm>
            <a:off x="6201139"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0" name="Picture 9"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13173" y="5949280"/>
            <a:ext cx="3120347" cy="834120"/>
          </a:xfrm>
          <a:prstGeom prst="rect">
            <a:avLst/>
          </a:prstGeom>
        </p:spPr>
      </p:pic>
    </p:spTree>
    <p:extLst>
      <p:ext uri="{BB962C8B-B14F-4D97-AF65-F5344CB8AC3E}">
        <p14:creationId xmlns:p14="http://schemas.microsoft.com/office/powerpoint/2010/main" val="2507020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Picture Portrai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portrait picture title</a:t>
            </a:r>
          </a:p>
        </p:txBody>
      </p:sp>
      <p:sp>
        <p:nvSpPr>
          <p:cNvPr id="9" name="Picture Placeholder 9"/>
          <p:cNvSpPr>
            <a:spLocks noGrp="1"/>
          </p:cNvSpPr>
          <p:nvPr>
            <p:ph type="pic" sz="quarter" idx="13" hasCustomPrompt="1"/>
          </p:nvPr>
        </p:nvSpPr>
        <p:spPr>
          <a:xfrm>
            <a:off x="6273800" y="1727200"/>
            <a:ext cx="3136900" cy="4114800"/>
          </a:xfrm>
        </p:spPr>
        <p:txBody>
          <a:bodyPr lIns="108000" tIns="93600"/>
          <a:lstStyle>
            <a:lvl1pPr marL="0" indent="0">
              <a:buNone/>
              <a:defRPr sz="1000">
                <a:solidFill>
                  <a:srgbClr val="7F7F7F"/>
                </a:solidFill>
              </a:defRPr>
            </a:lvl1pPr>
          </a:lstStyle>
          <a:p>
            <a:r>
              <a:rPr lang="en-GB" dirty="0"/>
              <a:t>Click icon to insert portrait picture</a:t>
            </a:r>
          </a:p>
        </p:txBody>
      </p:sp>
      <p:sp>
        <p:nvSpPr>
          <p:cNvPr id="10" name="Content Placeholder 2"/>
          <p:cNvSpPr>
            <a:spLocks noGrp="1"/>
          </p:cNvSpPr>
          <p:nvPr>
            <p:ph idx="1"/>
          </p:nvPr>
        </p:nvSpPr>
        <p:spPr>
          <a:xfrm>
            <a:off x="495300" y="1727200"/>
            <a:ext cx="5448300" cy="4114799"/>
          </a:xfrm>
        </p:spPr>
        <p:txBody>
          <a:bodyPr/>
          <a:lstStyle>
            <a:lvl1pPr marL="0" indent="0">
              <a:defRPr sz="1800"/>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97270DE7-3E12-984F-B343-A439BFFC8597}" type="datetime2">
              <a:rPr lang="en-GB" smtClean="0"/>
              <a:t>Wednesday 25 September 2024</a:t>
            </a:fld>
            <a:endParaRPr lang="en-GB" dirty="0"/>
          </a:p>
        </p:txBody>
      </p:sp>
      <p:sp>
        <p:nvSpPr>
          <p:cNvPr id="17"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8" name="Slide Number Placeholder 5"/>
          <p:cNvSpPr>
            <a:spLocks noGrp="1"/>
          </p:cNvSpPr>
          <p:nvPr>
            <p:ph type="sldNum" sz="quarter" idx="4"/>
          </p:nvPr>
        </p:nvSpPr>
        <p:spPr>
          <a:xfrm>
            <a:off x="6123130"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1" name="Picture 10"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13173" y="5949280"/>
            <a:ext cx="3120347" cy="834120"/>
          </a:xfrm>
          <a:prstGeom prst="rect">
            <a:avLst/>
          </a:prstGeom>
        </p:spPr>
      </p:pic>
    </p:spTree>
    <p:extLst>
      <p:ext uri="{BB962C8B-B14F-4D97-AF65-F5344CB8AC3E}">
        <p14:creationId xmlns:p14="http://schemas.microsoft.com/office/powerpoint/2010/main" val="2932959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95300" y="508000"/>
            <a:ext cx="8915400" cy="990600"/>
          </a:xfrm>
        </p:spPr>
        <p:txBody>
          <a:bodyPr/>
          <a:lstStyle/>
          <a:p>
            <a:r>
              <a:rPr lang="en-GB" dirty="0"/>
              <a:t>Click to edit Master title style</a:t>
            </a:r>
          </a:p>
        </p:txBody>
      </p:sp>
      <p:sp>
        <p:nvSpPr>
          <p:cNvPr id="11"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CE6A9FFC-EF8E-7D4C-972F-C0BAD8D102FE}" type="datetime2">
              <a:rPr lang="en-GB" smtClean="0"/>
              <a:t>Wednesday 25 September 2024</a:t>
            </a:fld>
            <a:endParaRPr lang="en-GB" dirty="0"/>
          </a:p>
        </p:txBody>
      </p:sp>
      <p:sp>
        <p:nvSpPr>
          <p:cNvPr id="13"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4" name="Slide Number Placeholder 5"/>
          <p:cNvSpPr>
            <a:spLocks noGrp="1"/>
          </p:cNvSpPr>
          <p:nvPr>
            <p:ph type="sldNum" sz="quarter" idx="4"/>
          </p:nvPr>
        </p:nvSpPr>
        <p:spPr>
          <a:xfrm>
            <a:off x="6045121"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7" name="Picture 6"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91182" y="5877272"/>
            <a:ext cx="3120347" cy="834120"/>
          </a:xfrm>
          <a:prstGeom prst="rect">
            <a:avLst/>
          </a:prstGeom>
        </p:spPr>
      </p:pic>
    </p:spTree>
    <p:extLst>
      <p:ext uri="{BB962C8B-B14F-4D97-AF65-F5344CB8AC3E}">
        <p14:creationId xmlns:p14="http://schemas.microsoft.com/office/powerpoint/2010/main" val="2096768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7CC2B672-0C63-3540-B4F9-739D3BDDD65A}" type="datetime2">
              <a:rPr lang="en-GB" smtClean="0"/>
              <a:t>Wednesday 25 September 2024</a:t>
            </a:fld>
            <a:endParaRPr lang="en-GB" dirty="0"/>
          </a:p>
        </p:txBody>
      </p:sp>
      <p:sp>
        <p:nvSpPr>
          <p:cNvPr id="9"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0" name="Slide Number Placeholder 5"/>
          <p:cNvSpPr>
            <a:spLocks noGrp="1"/>
          </p:cNvSpPr>
          <p:nvPr>
            <p:ph type="sldNum" sz="quarter" idx="4"/>
          </p:nvPr>
        </p:nvSpPr>
        <p:spPr>
          <a:xfrm>
            <a:off x="6435164"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8" name="Picture 7"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770753" y="5949280"/>
            <a:ext cx="3120347" cy="834120"/>
          </a:xfrm>
          <a:prstGeom prst="rect">
            <a:avLst/>
          </a:prstGeom>
        </p:spPr>
      </p:pic>
    </p:spTree>
    <p:extLst>
      <p:ext uri="{BB962C8B-B14F-4D97-AF65-F5344CB8AC3E}">
        <p14:creationId xmlns:p14="http://schemas.microsoft.com/office/powerpoint/2010/main" val="1523138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2 Blank - no footer">
    <p:spTree>
      <p:nvGrpSpPr>
        <p:cNvPr id="1" name=""/>
        <p:cNvGrpSpPr/>
        <p:nvPr/>
      </p:nvGrpSpPr>
      <p:grpSpPr>
        <a:xfrm>
          <a:off x="0" y="0"/>
          <a:ext cx="0" cy="0"/>
          <a:chOff x="0" y="0"/>
          <a:chExt cx="0" cy="0"/>
        </a:xfrm>
      </p:grpSpPr>
      <p:pic>
        <p:nvPicPr>
          <p:cNvPr id="4" name="Picture 3"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763555" y="5949280"/>
            <a:ext cx="3120347" cy="834120"/>
          </a:xfrm>
          <a:prstGeom prst="rect">
            <a:avLst/>
          </a:prstGeom>
        </p:spPr>
      </p:pic>
      <p:sp>
        <p:nvSpPr>
          <p:cNvPr id="3" name="Slide Number Placeholder 5"/>
          <p:cNvSpPr>
            <a:spLocks noGrp="1"/>
          </p:cNvSpPr>
          <p:nvPr>
            <p:ph type="sldNum" sz="quarter" idx="4"/>
          </p:nvPr>
        </p:nvSpPr>
        <p:spPr>
          <a:xfrm>
            <a:off x="6513173"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spTree>
    <p:extLst>
      <p:ext uri="{BB962C8B-B14F-4D97-AF65-F5344CB8AC3E}">
        <p14:creationId xmlns:p14="http://schemas.microsoft.com/office/powerpoint/2010/main" val="168095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Small 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22112"/>
            <a:ext cx="8915400" cy="976488"/>
          </a:xfrm>
        </p:spPr>
        <p:txBody>
          <a:bodyPr/>
          <a:lstStyle/>
          <a:p>
            <a:r>
              <a:rPr lang="en-GB" dirty="0"/>
              <a:t>Click to add small chart title</a:t>
            </a:r>
          </a:p>
        </p:txBody>
      </p:sp>
      <p:sp>
        <p:nvSpPr>
          <p:cNvPr id="11" name="Chart Placeholder 10"/>
          <p:cNvSpPr>
            <a:spLocks noGrp="1"/>
          </p:cNvSpPr>
          <p:nvPr>
            <p:ph type="chart" sz="quarter" idx="13" hasCustomPrompt="1"/>
          </p:nvPr>
        </p:nvSpPr>
        <p:spPr>
          <a:xfrm>
            <a:off x="4292600" y="1727200"/>
            <a:ext cx="5118100" cy="4114800"/>
          </a:xfrm>
        </p:spPr>
        <p:txBody>
          <a:bodyPr lIns="108000" tIns="93600"/>
          <a:lstStyle>
            <a:lvl1pPr marL="0" indent="0">
              <a:buNone/>
              <a:defRPr sz="1000">
                <a:solidFill>
                  <a:schemeClr val="tx2">
                    <a:lumMod val="50000"/>
                    <a:lumOff val="50000"/>
                  </a:schemeClr>
                </a:solidFill>
              </a:defRPr>
            </a:lvl1pPr>
          </a:lstStyle>
          <a:p>
            <a:r>
              <a:rPr lang="en-GB"/>
              <a:t>Click icon to insert small chart</a:t>
            </a:r>
          </a:p>
        </p:txBody>
      </p:sp>
      <p:sp>
        <p:nvSpPr>
          <p:cNvPr id="9" name="Content Placeholder 2"/>
          <p:cNvSpPr>
            <a:spLocks noGrp="1"/>
          </p:cNvSpPr>
          <p:nvPr>
            <p:ph idx="1"/>
          </p:nvPr>
        </p:nvSpPr>
        <p:spPr>
          <a:xfrm>
            <a:off x="495300" y="1727200"/>
            <a:ext cx="3467100" cy="4114800"/>
          </a:xfrm>
        </p:spPr>
        <p:txBody>
          <a:bodyPr/>
          <a:lstStyle>
            <a:lvl1pPr marL="0" indent="0">
              <a:defRPr sz="1800">
                <a:solidFill>
                  <a:srgbClr val="211F70"/>
                </a:solidFill>
              </a:defRPr>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7"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53D4C85A-C092-C445-B3F4-CA991BDDF15D}" type="datetime2">
              <a:rPr lang="en-GB" smtClean="0"/>
              <a:t>Wednesday 25 September 2024</a:t>
            </a:fld>
            <a:endParaRPr lang="en-GB" dirty="0"/>
          </a:p>
        </p:txBody>
      </p:sp>
      <p:sp>
        <p:nvSpPr>
          <p:cNvPr id="18"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9" name="Slide Number Placeholder 5"/>
          <p:cNvSpPr>
            <a:spLocks noGrp="1"/>
          </p:cNvSpPr>
          <p:nvPr>
            <p:ph type="sldNum" sz="quarter" idx="4"/>
          </p:nvPr>
        </p:nvSpPr>
        <p:spPr>
          <a:xfrm>
            <a:off x="6123130" y="6093296"/>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0" name="Picture 9"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435165" y="5877272"/>
            <a:ext cx="3120347" cy="834120"/>
          </a:xfrm>
          <a:prstGeom prst="rect">
            <a:avLst/>
          </a:prstGeom>
        </p:spPr>
      </p:pic>
    </p:spTree>
    <p:extLst>
      <p:ext uri="{BB962C8B-B14F-4D97-AF65-F5344CB8AC3E}">
        <p14:creationId xmlns:p14="http://schemas.microsoft.com/office/powerpoint/2010/main" val="34523932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Large 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chart title</a:t>
            </a:r>
          </a:p>
        </p:txBody>
      </p:sp>
      <p:sp>
        <p:nvSpPr>
          <p:cNvPr id="11" name="Chart Placeholder 10"/>
          <p:cNvSpPr>
            <a:spLocks noGrp="1"/>
          </p:cNvSpPr>
          <p:nvPr>
            <p:ph type="chart" sz="quarter" idx="13" hasCustomPrompt="1"/>
          </p:nvPr>
        </p:nvSpPr>
        <p:spPr>
          <a:xfrm>
            <a:off x="495300" y="1727200"/>
            <a:ext cx="8915400" cy="4114800"/>
          </a:xfrm>
        </p:spPr>
        <p:txBody>
          <a:bodyPr lIns="108000" tIns="93600"/>
          <a:lstStyle>
            <a:lvl1pPr marL="0" indent="0">
              <a:buNone/>
              <a:defRPr sz="1000">
                <a:solidFill>
                  <a:schemeClr val="tx2">
                    <a:lumMod val="50000"/>
                    <a:lumOff val="50000"/>
                  </a:schemeClr>
                </a:solidFill>
              </a:defRPr>
            </a:lvl1pPr>
          </a:lstStyle>
          <a:p>
            <a:r>
              <a:rPr lang="en-GB"/>
              <a:t>Click icon to insert large chart</a:t>
            </a:r>
          </a:p>
        </p:txBody>
      </p:sp>
      <p:sp>
        <p:nvSpPr>
          <p:cNvPr id="21"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4A192F21-4BCA-1249-918B-23E38494B308}" type="datetime2">
              <a:rPr lang="en-GB" smtClean="0"/>
              <a:t>Wednesday 25 September 2024</a:t>
            </a:fld>
            <a:endParaRPr lang="en-GB" dirty="0"/>
          </a:p>
        </p:txBody>
      </p:sp>
      <p:sp>
        <p:nvSpPr>
          <p:cNvPr id="22"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23" name="Slide Number Placeholder 5"/>
          <p:cNvSpPr>
            <a:spLocks noGrp="1"/>
          </p:cNvSpPr>
          <p:nvPr>
            <p:ph type="sldNum" sz="quarter" idx="4"/>
          </p:nvPr>
        </p:nvSpPr>
        <p:spPr>
          <a:xfrm>
            <a:off x="6357156"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8" name="Picture 7"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91182" y="5877272"/>
            <a:ext cx="3120347" cy="834120"/>
          </a:xfrm>
          <a:prstGeom prst="rect">
            <a:avLst/>
          </a:prstGeom>
        </p:spPr>
      </p:pic>
    </p:spTree>
    <p:extLst>
      <p:ext uri="{BB962C8B-B14F-4D97-AF65-F5344CB8AC3E}">
        <p14:creationId xmlns:p14="http://schemas.microsoft.com/office/powerpoint/2010/main" val="42391179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Small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small table title</a:t>
            </a:r>
          </a:p>
        </p:txBody>
      </p:sp>
      <p:sp>
        <p:nvSpPr>
          <p:cNvPr id="10" name="Table Placeholder 3"/>
          <p:cNvSpPr>
            <a:spLocks noGrp="1"/>
          </p:cNvSpPr>
          <p:nvPr>
            <p:ph type="tbl" sz="quarter" idx="10" hasCustomPrompt="1"/>
          </p:nvPr>
        </p:nvSpPr>
        <p:spPr>
          <a:xfrm>
            <a:off x="4292602" y="1727201"/>
            <a:ext cx="5118099" cy="4114799"/>
          </a:xfrm>
        </p:spPr>
        <p:txBody>
          <a:bodyPr lIns="108000" tIns="93600"/>
          <a:lstStyle>
            <a:lvl1pPr marL="0" indent="0">
              <a:buNone/>
              <a:defRPr sz="1200">
                <a:solidFill>
                  <a:srgbClr val="5D5C5C"/>
                </a:solidFill>
              </a:defRPr>
            </a:lvl1pPr>
          </a:lstStyle>
          <a:p>
            <a:r>
              <a:rPr lang="en-GB"/>
              <a:t>Click icon to insert table</a:t>
            </a:r>
          </a:p>
        </p:txBody>
      </p:sp>
      <p:sp>
        <p:nvSpPr>
          <p:cNvPr id="9" name="Content Placeholder 2"/>
          <p:cNvSpPr>
            <a:spLocks noGrp="1"/>
          </p:cNvSpPr>
          <p:nvPr>
            <p:ph idx="1"/>
          </p:nvPr>
        </p:nvSpPr>
        <p:spPr>
          <a:xfrm>
            <a:off x="495300" y="1727200"/>
            <a:ext cx="3467100" cy="4114799"/>
          </a:xfrm>
        </p:spPr>
        <p:txBody>
          <a:bodyPr/>
          <a:lstStyle>
            <a:lvl1pPr marL="0" indent="0">
              <a:defRPr sz="1800">
                <a:solidFill>
                  <a:schemeClr val="tx1"/>
                </a:solidFill>
              </a:defRPr>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CD910D4F-763F-8A40-9D15-9146411978C2}" type="datetime2">
              <a:rPr lang="en-GB" smtClean="0"/>
              <a:t>Wednesday 25 September 2024</a:t>
            </a:fld>
            <a:endParaRPr lang="en-GB" dirty="0"/>
          </a:p>
        </p:txBody>
      </p:sp>
      <p:sp>
        <p:nvSpPr>
          <p:cNvPr id="17"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8" name="Slide Number Placeholder 5"/>
          <p:cNvSpPr>
            <a:spLocks noGrp="1"/>
          </p:cNvSpPr>
          <p:nvPr>
            <p:ph type="sldNum" sz="quarter" idx="4"/>
          </p:nvPr>
        </p:nvSpPr>
        <p:spPr>
          <a:xfrm>
            <a:off x="6279147" y="6309320"/>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2" name="Picture 11"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91182" y="5877272"/>
            <a:ext cx="3120347" cy="834120"/>
          </a:xfrm>
          <a:prstGeom prst="rect">
            <a:avLst/>
          </a:prstGeom>
        </p:spPr>
      </p:pic>
    </p:spTree>
    <p:extLst>
      <p:ext uri="{BB962C8B-B14F-4D97-AF65-F5344CB8AC3E}">
        <p14:creationId xmlns:p14="http://schemas.microsoft.com/office/powerpoint/2010/main" val="3496021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Large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table title</a:t>
            </a:r>
          </a:p>
        </p:txBody>
      </p:sp>
      <p:sp>
        <p:nvSpPr>
          <p:cNvPr id="4" name="Table Placeholder 3"/>
          <p:cNvSpPr>
            <a:spLocks noGrp="1"/>
          </p:cNvSpPr>
          <p:nvPr>
            <p:ph type="tbl" sz="quarter" idx="10" hasCustomPrompt="1"/>
          </p:nvPr>
        </p:nvSpPr>
        <p:spPr>
          <a:xfrm>
            <a:off x="495300" y="1727201"/>
            <a:ext cx="8915400" cy="4114799"/>
          </a:xfrm>
        </p:spPr>
        <p:txBody>
          <a:bodyPr lIns="108000" tIns="93600"/>
          <a:lstStyle>
            <a:lvl1pPr marL="0" indent="0">
              <a:buNone/>
              <a:defRPr sz="1200">
                <a:solidFill>
                  <a:srgbClr val="5D5C5C"/>
                </a:solidFill>
              </a:defRPr>
            </a:lvl1pPr>
          </a:lstStyle>
          <a:p>
            <a:r>
              <a:rPr lang="en-GB"/>
              <a:t>Click icon to insert table</a:t>
            </a:r>
          </a:p>
        </p:txBody>
      </p:sp>
      <p:sp>
        <p:nvSpPr>
          <p:cNvPr id="14"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6B5FEBA2-C68D-584B-9DC7-1703543AC65D}" type="datetime2">
              <a:rPr lang="en-GB" smtClean="0"/>
              <a:t>Wednesday 25 September 2024</a:t>
            </a:fld>
            <a:endParaRPr lang="en-GB" dirty="0"/>
          </a:p>
        </p:txBody>
      </p:sp>
      <p:sp>
        <p:nvSpPr>
          <p:cNvPr id="15"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6" name="Slide Number Placeholder 5"/>
          <p:cNvSpPr>
            <a:spLocks noGrp="1"/>
          </p:cNvSpPr>
          <p:nvPr>
            <p:ph type="sldNum" sz="quarter" idx="4"/>
          </p:nvPr>
        </p:nvSpPr>
        <p:spPr>
          <a:xfrm>
            <a:off x="6201139"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8" name="Picture 7"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13173" y="5877272"/>
            <a:ext cx="3120347" cy="834120"/>
          </a:xfrm>
          <a:prstGeom prst="rect">
            <a:avLst/>
          </a:prstGeom>
        </p:spPr>
      </p:pic>
    </p:spTree>
    <p:extLst>
      <p:ext uri="{BB962C8B-B14F-4D97-AF65-F5344CB8AC3E}">
        <p14:creationId xmlns:p14="http://schemas.microsoft.com/office/powerpoint/2010/main" val="3823715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508000"/>
            <a:ext cx="8915400" cy="990600"/>
          </a:xfrm>
          <a:prstGeom prst="rect">
            <a:avLst/>
          </a:prstGeom>
        </p:spPr>
        <p:txBody>
          <a:bodyPr vert="horz" lIns="0" tIns="0" rIns="0" bIns="0" rtlCol="0" anchor="t" anchorCtr="0">
            <a:noAutofit/>
          </a:bodyPr>
          <a:lstStyle/>
          <a:p>
            <a:r>
              <a:rPr lang="en-GB" dirty="0"/>
              <a:t>Click to edit Master title style</a:t>
            </a:r>
          </a:p>
        </p:txBody>
      </p:sp>
      <p:sp>
        <p:nvSpPr>
          <p:cNvPr id="3" name="Text Placeholder 2"/>
          <p:cNvSpPr>
            <a:spLocks noGrp="1"/>
          </p:cNvSpPr>
          <p:nvPr>
            <p:ph type="body" idx="1"/>
          </p:nvPr>
        </p:nvSpPr>
        <p:spPr>
          <a:xfrm>
            <a:off x="495300" y="1727200"/>
            <a:ext cx="8915400" cy="4114800"/>
          </a:xfrm>
          <a:prstGeom prst="rect">
            <a:avLst/>
          </a:prstGeom>
        </p:spPr>
        <p:txBody>
          <a:bodyPr vert="horz" lIns="0" tIns="0" rIns="0" bIns="0" rtlCol="0" anchor="t" anchorCtr="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3791814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65" r:id="rId4"/>
    <p:sldLayoutId id="2147483667" r:id="rId5"/>
    <p:sldLayoutId id="2147483668" r:id="rId6"/>
    <p:sldLayoutId id="2147483669" r:id="rId7"/>
    <p:sldLayoutId id="2147483654" r:id="rId8"/>
    <p:sldLayoutId id="2147483655" r:id="rId9"/>
    <p:sldLayoutId id="2147483662" r:id="rId10"/>
    <p:sldLayoutId id="2147483666" r:id="rId11"/>
    <p:sldLayoutId id="2147483670" r:id="rId12"/>
    <p:sldLayoutId id="2147483677" r:id="rId13"/>
    <p:sldLayoutId id="2147483676" r:id="rId14"/>
  </p:sldLayoutIdLst>
  <p:hf hdr="0" ftr="0" dt="0"/>
  <p:txStyles>
    <p:titleStyle>
      <a:lvl1pPr algn="l" defTabSz="457200" rtl="0" eaLnBrk="1" latinLnBrk="0" hangingPunct="1">
        <a:lnSpc>
          <a:spcPts val="3600"/>
        </a:lnSpc>
        <a:spcBef>
          <a:spcPct val="0"/>
        </a:spcBef>
        <a:buNone/>
        <a:defRPr sz="3200" b="1" kern="1200">
          <a:solidFill>
            <a:schemeClr val="tx1"/>
          </a:solidFill>
          <a:latin typeface="+mj-lt"/>
          <a:ea typeface="+mj-ea"/>
          <a:cs typeface="+mj-cs"/>
        </a:defRPr>
      </a:lvl1pPr>
    </p:titleStyle>
    <p:bodyStyle>
      <a:lvl1pPr marL="0" indent="0" algn="l" defTabSz="457200" rtl="0" eaLnBrk="1" latinLnBrk="0" hangingPunct="1">
        <a:lnSpc>
          <a:spcPct val="100000"/>
        </a:lnSpc>
        <a:spcBef>
          <a:spcPts val="0"/>
        </a:spcBef>
        <a:spcAft>
          <a:spcPts val="600"/>
        </a:spcAft>
        <a:buClr>
          <a:schemeClr val="accent1"/>
        </a:buClr>
        <a:buFontTx/>
        <a:buNone/>
        <a:defRPr sz="2400" kern="1200">
          <a:solidFill>
            <a:schemeClr val="accent2"/>
          </a:solidFill>
          <a:latin typeface="+mn-lt"/>
          <a:ea typeface="+mn-ea"/>
          <a:cs typeface="+mn-cs"/>
        </a:defRPr>
      </a:lvl1pPr>
      <a:lvl2pPr marL="628650" indent="-268288" algn="l" defTabSz="457200" rtl="0" eaLnBrk="1" latinLnBrk="0" hangingPunct="1">
        <a:lnSpc>
          <a:spcPct val="100000"/>
        </a:lnSpc>
        <a:spcBef>
          <a:spcPts val="0"/>
        </a:spcBef>
        <a:spcAft>
          <a:spcPts val="600"/>
        </a:spcAft>
        <a:buClr>
          <a:schemeClr val="accent1"/>
        </a:buClr>
        <a:buFont typeface="Arial"/>
        <a:buChar char="–"/>
        <a:defRPr sz="2400" kern="1200">
          <a:solidFill>
            <a:schemeClr val="tx1"/>
          </a:solidFill>
          <a:latin typeface="+mn-lt"/>
          <a:ea typeface="+mn-ea"/>
          <a:cs typeface="+mn-cs"/>
        </a:defRPr>
      </a:lvl2pPr>
      <a:lvl3pPr marL="895350" indent="-182563"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3pPr>
      <a:lvl4pPr marL="1163638" indent="-176213" algn="l" defTabSz="457200" rtl="0" eaLnBrk="1" latinLnBrk="0" hangingPunct="1">
        <a:lnSpc>
          <a:spcPct val="100000"/>
        </a:lnSpc>
        <a:spcBef>
          <a:spcPts val="0"/>
        </a:spcBef>
        <a:spcAft>
          <a:spcPts val="600"/>
        </a:spcAft>
        <a:buClr>
          <a:schemeClr val="accent1"/>
        </a:buClr>
        <a:buFont typeface="Arial"/>
        <a:buChar char="–"/>
        <a:defRPr sz="1800" b="1" kern="1200">
          <a:solidFill>
            <a:schemeClr val="accent1"/>
          </a:solidFill>
          <a:latin typeface="+mn-lt"/>
          <a:ea typeface="+mn-ea"/>
          <a:cs typeface="+mn-cs"/>
        </a:defRPr>
      </a:lvl4pPr>
      <a:lvl5pPr marL="1431925" indent="-184150"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tiff"/></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177/026119291304100212" TargetMode="External"/><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EDM%20Form.docx" TargetMode="External"/><Relationship Id="rId2" Type="http://schemas.openxmlformats.org/officeDocument/2006/relationships/hyperlink" Target="mailto:CRIExperimentalDesign@cruk.cam.ac.uk"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mailto:luca.porcu@cruk.cam.ac.u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RUK_C_Shot_310712.jpg"/>
          <p:cNvPicPr>
            <a:picLocks noChangeAspect="1"/>
          </p:cNvPicPr>
          <p:nvPr/>
        </p:nvPicPr>
        <p:blipFill>
          <a:blip r:embed="rId3" cstate="screen"/>
          <a:srcRect/>
          <a:stretch>
            <a:fillRect/>
          </a:stretch>
        </p:blipFill>
        <p:spPr>
          <a:xfrm>
            <a:off x="0" y="27384"/>
            <a:ext cx="8154533" cy="6858000"/>
          </a:xfrm>
          <a:prstGeom prst="rect">
            <a:avLst/>
          </a:prstGeom>
        </p:spPr>
      </p:pic>
      <p:sp>
        <p:nvSpPr>
          <p:cNvPr id="10" name="Title 1"/>
          <p:cNvSpPr txBox="1">
            <a:spLocks/>
          </p:cNvSpPr>
          <p:nvPr/>
        </p:nvSpPr>
        <p:spPr>
          <a:xfrm>
            <a:off x="3872880" y="3645024"/>
            <a:ext cx="5140722" cy="504056"/>
          </a:xfrm>
          <a:prstGeom prst="rect">
            <a:avLst/>
          </a:prstGeom>
        </p:spPr>
        <p:txBody>
          <a:bodyPr vert="horz" lIns="0" tIns="0" rIns="0" bIns="0" rtlCol="0" anchor="ctr" anchorCtr="0">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en-GB" b="1" cap="all" dirty="0">
                <a:solidFill>
                  <a:schemeClr val="tx2">
                    <a:lumMod val="50000"/>
                    <a:lumOff val="50000"/>
                  </a:schemeClr>
                </a:solidFill>
                <a:latin typeface="+mj-lt"/>
                <a:ea typeface="+mj-ea"/>
                <a:cs typeface="+mj-cs"/>
              </a:rPr>
              <a:t>16 January 2024</a:t>
            </a:r>
            <a:endParaRPr kumimoji="0" lang="en-GB" b="1" i="0" u="none" strike="noStrike" kern="1200" cap="all" spc="0" normalizeH="0" baseline="0" dirty="0">
              <a:ln>
                <a:noFill/>
              </a:ln>
              <a:solidFill>
                <a:schemeClr val="tx2">
                  <a:lumMod val="50000"/>
                  <a:lumOff val="50000"/>
                </a:schemeClr>
              </a:solidFill>
              <a:effectLst/>
              <a:uLnTx/>
              <a:uFillTx/>
              <a:latin typeface="+mj-lt"/>
              <a:ea typeface="+mj-ea"/>
              <a:cs typeface="+mj-cs"/>
            </a:endParaRPr>
          </a:p>
        </p:txBody>
      </p:sp>
      <p:sp>
        <p:nvSpPr>
          <p:cNvPr id="2" name="Title 1"/>
          <p:cNvSpPr>
            <a:spLocks noGrp="1"/>
          </p:cNvSpPr>
          <p:nvPr>
            <p:ph type="title" idx="4294967295"/>
          </p:nvPr>
        </p:nvSpPr>
        <p:spPr>
          <a:xfrm>
            <a:off x="3440832" y="2132856"/>
            <a:ext cx="6048672" cy="1440160"/>
          </a:xfrm>
        </p:spPr>
        <p:txBody>
          <a:bodyPr/>
          <a:lstStyle/>
          <a:p>
            <a:pPr algn="ctr">
              <a:lnSpc>
                <a:spcPct val="100000"/>
              </a:lnSpc>
            </a:pPr>
            <a:r>
              <a:rPr lang="en-US" dirty="0">
                <a:solidFill>
                  <a:srgbClr val="1F497D"/>
                </a:solidFill>
              </a:rPr>
              <a:t>INTRODUCTION TO EXPERIMENTAL DESIGN AT CRUK-CI</a:t>
            </a:r>
            <a:endParaRPr lang="en-US" dirty="0"/>
          </a:p>
        </p:txBody>
      </p:sp>
      <p:sp>
        <p:nvSpPr>
          <p:cNvPr id="3" name="TextBox 2">
            <a:extLst>
              <a:ext uri="{FF2B5EF4-FFF2-40B4-BE49-F238E27FC236}">
                <a16:creationId xmlns:a16="http://schemas.microsoft.com/office/drawing/2014/main" id="{C35D55FE-1AB8-4056-B21F-379C6C2334D5}"/>
              </a:ext>
            </a:extLst>
          </p:cNvPr>
          <p:cNvSpPr txBox="1"/>
          <p:nvPr/>
        </p:nvSpPr>
        <p:spPr>
          <a:xfrm>
            <a:off x="7072161" y="6381328"/>
            <a:ext cx="2800510" cy="400110"/>
          </a:xfrm>
          <a:prstGeom prst="rect">
            <a:avLst/>
          </a:prstGeom>
          <a:noFill/>
        </p:spPr>
        <p:txBody>
          <a:bodyPr wrap="none" rtlCol="0">
            <a:spAutoFit/>
          </a:bodyPr>
          <a:lstStyle/>
          <a:p>
            <a:r>
              <a:rPr lang="en-US" sz="2000" dirty="0">
                <a:solidFill>
                  <a:schemeClr val="accent1"/>
                </a:solidFill>
              </a:rPr>
              <a:t>tinyurl.com/</a:t>
            </a:r>
            <a:r>
              <a:rPr lang="en-US" sz="2000" dirty="0" err="1">
                <a:solidFill>
                  <a:schemeClr val="accent1"/>
                </a:solidFill>
              </a:rPr>
              <a:t>cruk-edesign</a:t>
            </a:r>
            <a:endParaRPr lang="en-US" sz="2000"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a:xfrm>
            <a:off x="848544" y="1078898"/>
            <a:ext cx="7878080" cy="5271102"/>
          </a:xfrm>
        </p:spPr>
        <p:txBody>
          <a:bodyPr/>
          <a:lstStyle/>
          <a:p>
            <a:r>
              <a:rPr lang="en-US" sz="1600" dirty="0"/>
              <a:t>What is an Experiment?</a:t>
            </a:r>
          </a:p>
          <a:p>
            <a:r>
              <a:rPr lang="en-US" sz="1600" dirty="0"/>
              <a:t>Why perform experiments?</a:t>
            </a:r>
          </a:p>
          <a:p>
            <a:r>
              <a:rPr lang="en-GB" sz="1600" dirty="0"/>
              <a:t>systematic vs random error</a:t>
            </a:r>
            <a:endParaRPr lang="en-US" sz="1600" dirty="0"/>
          </a:p>
          <a:p>
            <a:r>
              <a:rPr lang="en-GB" sz="1600" dirty="0"/>
              <a:t>Why Experimental Design Matters?</a:t>
            </a:r>
          </a:p>
          <a:p>
            <a:r>
              <a:rPr lang="en-US" sz="1600" dirty="0"/>
              <a:t>Classification of bias</a:t>
            </a:r>
          </a:p>
          <a:p>
            <a:pPr marL="285750" indent="-285750">
              <a:buFont typeface="Wingdings" pitchFamily="2" charset="2"/>
              <a:buChar char="è"/>
            </a:pPr>
            <a:r>
              <a:rPr lang="en-US" sz="1600" dirty="0"/>
              <a:t>selection, assessment, performance (after start of treatment)</a:t>
            </a:r>
          </a:p>
          <a:p>
            <a:r>
              <a:rPr lang="en-US" sz="1600" dirty="0"/>
              <a:t>BAD examples from literature </a:t>
            </a:r>
          </a:p>
          <a:p>
            <a:r>
              <a:rPr lang="en-US" sz="1600" dirty="0"/>
              <a:t>(END with we are not born to design exp)</a:t>
            </a:r>
          </a:p>
          <a:p>
            <a:r>
              <a:rPr lang="en-US" sz="1600" dirty="0"/>
              <a:t>Experimental design process at CRUK-CI</a:t>
            </a:r>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2</a:t>
            </a:fld>
            <a:endParaRPr lang="en-GB" dirty="0"/>
          </a:p>
        </p:txBody>
      </p:sp>
    </p:spTree>
    <p:extLst>
      <p:ext uri="{BB962C8B-B14F-4D97-AF65-F5344CB8AC3E}">
        <p14:creationId xmlns:p14="http://schemas.microsoft.com/office/powerpoint/2010/main" val="3576811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F497D"/>
                </a:solidFill>
              </a:rPr>
              <a:t>What is an Experiment?</a:t>
            </a:r>
            <a:endParaRPr lang="en-US" dirty="0"/>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3</a:t>
            </a:fld>
            <a:endParaRPr lang="en-GB" dirty="0"/>
          </a:p>
        </p:txBody>
      </p:sp>
      <p:sp>
        <p:nvSpPr>
          <p:cNvPr id="5" name="Content Placeholder 4"/>
          <p:cNvSpPr>
            <a:spLocks noGrp="1"/>
          </p:cNvSpPr>
          <p:nvPr>
            <p:ph idx="1"/>
          </p:nvPr>
        </p:nvSpPr>
        <p:spPr>
          <a:xfrm>
            <a:off x="495300" y="1199364"/>
            <a:ext cx="8915400" cy="4114800"/>
          </a:xfrm>
        </p:spPr>
        <p:txBody>
          <a:bodyPr/>
          <a:lstStyle/>
          <a:p>
            <a:pPr marL="342900" indent="-342900">
              <a:buFont typeface="Arial" panose="020B0604020202020204" pitchFamily="34" charset="0"/>
              <a:buChar char="•"/>
            </a:pPr>
            <a:r>
              <a:rPr lang="en-GB" b="0" strike="sngStrike" cap="none" dirty="0">
                <a:solidFill>
                  <a:schemeClr val="tx1"/>
                </a:solidFill>
              </a:rPr>
              <a:t>An experiment is a scientific procedure used to test a hypothesis or investigate a phenomenon.</a:t>
            </a:r>
            <a:endParaRPr lang="en-GB" b="0" strike="sngStrike" cap="none" dirty="0"/>
          </a:p>
          <a:p>
            <a:pPr marL="342900" indent="-342900">
              <a:buFont typeface="Arial" panose="020B0604020202020204" pitchFamily="34" charset="0"/>
              <a:buChar char="•"/>
            </a:pPr>
            <a:r>
              <a:rPr lang="en-GB" b="0" i="0" u="none" strike="noStrike" cap="none" dirty="0">
                <a:solidFill>
                  <a:schemeClr val="tx1"/>
                </a:solidFill>
                <a:effectLst/>
              </a:rPr>
              <a:t>To detect and estimate causal relationship (</a:t>
            </a:r>
            <a:r>
              <a:rPr lang="en-GB" i="0" u="none" strike="noStrike" cap="none" dirty="0">
                <a:solidFill>
                  <a:srgbClr val="FF0000"/>
                </a:solidFill>
                <a:effectLst/>
              </a:rPr>
              <a:t>effect</a:t>
            </a:r>
            <a:r>
              <a:rPr lang="en-GB" b="0" i="0" u="none" strike="noStrike" cap="none" dirty="0">
                <a:solidFill>
                  <a:schemeClr val="tx1"/>
                </a:solidFill>
                <a:effectLst/>
              </a:rPr>
              <a:t>) between independent variable (treatment/ exposure) and a dependent variable (outcome)</a:t>
            </a:r>
          </a:p>
          <a:p>
            <a:r>
              <a:rPr lang="en-GB" b="0" cap="none" dirty="0">
                <a:solidFill>
                  <a:schemeClr val="tx1"/>
                </a:solidFill>
              </a:rPr>
              <a:t>					A survey is not an experiment!</a:t>
            </a:r>
            <a:endParaRPr lang="en-GB" b="0" i="0" u="none" strike="noStrike" cap="none" dirty="0">
              <a:solidFill>
                <a:schemeClr val="tx1"/>
              </a:solidFill>
              <a:effectLst/>
            </a:endParaRPr>
          </a:p>
          <a:p>
            <a:pPr marL="342900" indent="-342900">
              <a:buFont typeface="Arial" panose="020B0604020202020204" pitchFamily="34" charset="0"/>
              <a:buChar char="•"/>
            </a:pPr>
            <a:r>
              <a:rPr lang="en-GB" b="0" cap="none" dirty="0">
                <a:solidFill>
                  <a:schemeClr val="tx1"/>
                </a:solidFill>
              </a:rPr>
              <a:t>The assignment of treatment/exposure is under the control of the investigator. An observational study is not an experiment because researcher does not control treatment assignment</a:t>
            </a:r>
            <a:endParaRPr lang="en-GB" b="0" i="0" u="none" strike="noStrike" cap="none" dirty="0">
              <a:solidFill>
                <a:schemeClr val="tx1"/>
              </a:solidFill>
              <a:effectLst/>
            </a:endParaRPr>
          </a:p>
          <a:p>
            <a:pPr marL="342900" indent="-342900">
              <a:buFont typeface="Arial" panose="020B0604020202020204" pitchFamily="34" charset="0"/>
              <a:buChar char="•"/>
            </a:pPr>
            <a:endParaRPr lang="en-GB" b="0" cap="none" dirty="0">
              <a:solidFill>
                <a:schemeClr val="tx1"/>
              </a:solidFill>
            </a:endParaRPr>
          </a:p>
          <a:p>
            <a:pPr marL="342900" indent="-342900">
              <a:buFont typeface="Arial" panose="020B0604020202020204" pitchFamily="34" charset="0"/>
              <a:buChar char="•"/>
            </a:pPr>
            <a:endParaRPr lang="en-GB" b="0" dirty="0"/>
          </a:p>
          <a:p>
            <a:pPr marL="342900" indent="-342900">
              <a:buFont typeface="Arial" panose="020B0604020202020204" pitchFamily="34" charset="0"/>
              <a:buChar char="•"/>
            </a:pPr>
            <a:endParaRPr lang="en-GB" b="0" dirty="0"/>
          </a:p>
          <a:p>
            <a:endParaRPr lang="en-US" dirty="0"/>
          </a:p>
        </p:txBody>
      </p:sp>
      <p:pic>
        <p:nvPicPr>
          <p:cNvPr id="3" name="Picture 2">
            <a:extLst>
              <a:ext uri="{FF2B5EF4-FFF2-40B4-BE49-F238E27FC236}">
                <a16:creationId xmlns:a16="http://schemas.microsoft.com/office/drawing/2014/main" id="{8828AA6C-4A8B-3902-C8B6-EA51F78C272A}"/>
              </a:ext>
            </a:extLst>
          </p:cNvPr>
          <p:cNvPicPr>
            <a:picLocks noChangeAspect="1"/>
          </p:cNvPicPr>
          <p:nvPr/>
        </p:nvPicPr>
        <p:blipFill>
          <a:blip r:embed="rId4"/>
          <a:stretch>
            <a:fillRect/>
          </a:stretch>
        </p:blipFill>
        <p:spPr>
          <a:xfrm>
            <a:off x="3005223" y="4797152"/>
            <a:ext cx="3071491" cy="2262220"/>
          </a:xfrm>
          <a:prstGeom prst="rect">
            <a:avLst/>
          </a:prstGeom>
        </p:spPr>
      </p:pic>
    </p:spTree>
    <p:extLst>
      <p:ext uri="{BB962C8B-B14F-4D97-AF65-F5344CB8AC3E}">
        <p14:creationId xmlns:p14="http://schemas.microsoft.com/office/powerpoint/2010/main" val="2884808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80F349-1F84-666C-DB21-F7B25B92FB52}"/>
              </a:ext>
            </a:extLst>
          </p:cNvPr>
          <p:cNvSpPr>
            <a:spLocks noGrp="1"/>
          </p:cNvSpPr>
          <p:nvPr>
            <p:ph type="sldNum" sz="quarter" idx="4"/>
          </p:nvPr>
        </p:nvSpPr>
        <p:spPr/>
        <p:txBody>
          <a:bodyPr/>
          <a:lstStyle/>
          <a:p>
            <a:fld id="{C231324C-4752-C242-8156-5E21DB4253A5}" type="slidenum">
              <a:rPr lang="en-GB" smtClean="0"/>
              <a:pPr/>
              <a:t>4</a:t>
            </a:fld>
            <a:endParaRPr lang="en-GB" dirty="0"/>
          </a:p>
        </p:txBody>
      </p:sp>
      <p:sp>
        <p:nvSpPr>
          <p:cNvPr id="5" name="Text Box 2">
            <a:extLst>
              <a:ext uri="{FF2B5EF4-FFF2-40B4-BE49-F238E27FC236}">
                <a16:creationId xmlns:a16="http://schemas.microsoft.com/office/drawing/2014/main" id="{567BF8C7-8C29-B2B9-373A-A43467CF5810}"/>
              </a:ext>
            </a:extLst>
          </p:cNvPr>
          <p:cNvSpPr txBox="1">
            <a:spLocks noChangeArrowheads="1"/>
          </p:cNvSpPr>
          <p:nvPr/>
        </p:nvSpPr>
        <p:spPr bwMode="auto">
          <a:xfrm>
            <a:off x="76200" y="76200"/>
            <a:ext cx="7696200" cy="641350"/>
          </a:xfrm>
          <a:prstGeom prst="rect">
            <a:avLst/>
          </a:prstGeom>
          <a:noFill/>
          <a:ln>
            <a:noFill/>
          </a:ln>
          <a:effec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defRPr/>
            </a:pPr>
            <a:r>
              <a:rPr lang="it-IT" altLang="it-IT" sz="3500" b="1" dirty="0" err="1">
                <a:latin typeface="+mj-lt"/>
              </a:rPr>
              <a:t>What</a:t>
            </a:r>
            <a:r>
              <a:rPr lang="it-IT" altLang="it-IT" sz="3500" b="1" dirty="0">
                <a:latin typeface="+mj-lt"/>
              </a:rPr>
              <a:t> do </a:t>
            </a:r>
            <a:r>
              <a:rPr lang="it-IT" altLang="it-IT" sz="3500" b="1" dirty="0" err="1">
                <a:latin typeface="+mj-lt"/>
              </a:rPr>
              <a:t>we</a:t>
            </a:r>
            <a:r>
              <a:rPr lang="it-IT" altLang="it-IT" sz="3500" b="1" dirty="0">
                <a:latin typeface="+mj-lt"/>
              </a:rPr>
              <a:t> </a:t>
            </a:r>
            <a:r>
              <a:rPr lang="it-IT" altLang="it-IT" sz="3500" b="1" dirty="0" err="1">
                <a:latin typeface="+mj-lt"/>
              </a:rPr>
              <a:t>mean</a:t>
            </a:r>
            <a:r>
              <a:rPr lang="it-IT" altLang="it-IT" sz="3500" b="1" dirty="0">
                <a:latin typeface="+mj-lt"/>
              </a:rPr>
              <a:t> with </a:t>
            </a:r>
            <a:r>
              <a:rPr lang="it-IT" altLang="it-IT" sz="3500" b="1" dirty="0" err="1">
                <a:latin typeface="+mj-lt"/>
              </a:rPr>
              <a:t>effect</a:t>
            </a:r>
            <a:r>
              <a:rPr lang="it-IT" altLang="it-IT" sz="3500" b="1" dirty="0">
                <a:latin typeface="+mj-lt"/>
              </a:rPr>
              <a:t>?</a:t>
            </a:r>
          </a:p>
        </p:txBody>
      </p:sp>
      <p:sp>
        <p:nvSpPr>
          <p:cNvPr id="6" name="Text Box 3">
            <a:extLst>
              <a:ext uri="{FF2B5EF4-FFF2-40B4-BE49-F238E27FC236}">
                <a16:creationId xmlns:a16="http://schemas.microsoft.com/office/drawing/2014/main" id="{886A2D1A-CB8B-A322-7952-8B1EC47560BB}"/>
              </a:ext>
            </a:extLst>
          </p:cNvPr>
          <p:cNvSpPr txBox="1">
            <a:spLocks noChangeArrowheads="1"/>
          </p:cNvSpPr>
          <p:nvPr/>
        </p:nvSpPr>
        <p:spPr bwMode="auto">
          <a:xfrm>
            <a:off x="1295400" y="3962400"/>
            <a:ext cx="441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it-IT" altLang="it-IT" sz="1800" b="1" dirty="0">
                <a:latin typeface="Garamond" panose="02020404030301010803" pitchFamily="18" charset="0"/>
              </a:rPr>
              <a:t>N° of </a:t>
            </a:r>
            <a:r>
              <a:rPr lang="it-IT" altLang="it-IT" sz="1800" b="1" dirty="0" err="1">
                <a:latin typeface="Garamond" panose="02020404030301010803" pitchFamily="18" charset="0"/>
              </a:rPr>
              <a:t>metastasis</a:t>
            </a:r>
            <a:endParaRPr lang="it-IT" altLang="it-IT" sz="1800" b="1" dirty="0">
              <a:latin typeface="Garamond" panose="02020404030301010803" pitchFamily="18" charset="0"/>
            </a:endParaRPr>
          </a:p>
        </p:txBody>
      </p:sp>
      <p:pic>
        <p:nvPicPr>
          <p:cNvPr id="7" name="Picture 4">
            <a:extLst>
              <a:ext uri="{FF2B5EF4-FFF2-40B4-BE49-F238E27FC236}">
                <a16:creationId xmlns:a16="http://schemas.microsoft.com/office/drawing/2014/main" id="{50FF2E5F-41C5-04AF-9234-D798C72E00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19200"/>
            <a:ext cx="6583363"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5">
            <a:extLst>
              <a:ext uri="{FF2B5EF4-FFF2-40B4-BE49-F238E27FC236}">
                <a16:creationId xmlns:a16="http://schemas.microsoft.com/office/drawing/2014/main" id="{F8C0D063-452F-6336-6344-D27E8D49331A}"/>
              </a:ext>
            </a:extLst>
          </p:cNvPr>
          <p:cNvSpPr txBox="1">
            <a:spLocks noChangeArrowheads="1"/>
          </p:cNvSpPr>
          <p:nvPr/>
        </p:nvSpPr>
        <p:spPr bwMode="auto">
          <a:xfrm>
            <a:off x="45466" y="4366736"/>
            <a:ext cx="986053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it-IT" altLang="it-IT" sz="2100" dirty="0" err="1"/>
              <a:t>Each</a:t>
            </a:r>
            <a:r>
              <a:rPr lang="it-IT" altLang="it-IT" sz="2100" dirty="0"/>
              <a:t> </a:t>
            </a:r>
            <a:r>
              <a:rPr lang="it-IT" altLang="it-IT" sz="2100" dirty="0" err="1"/>
              <a:t>unit</a:t>
            </a:r>
            <a:r>
              <a:rPr lang="it-IT" altLang="it-IT" sz="2100" dirty="0"/>
              <a:t> </a:t>
            </a:r>
            <a:r>
              <a:rPr lang="it-IT" altLang="it-IT" sz="2100" dirty="0" err="1"/>
              <a:t>exhibits</a:t>
            </a:r>
            <a:r>
              <a:rPr lang="it-IT" altLang="it-IT" sz="2100" dirty="0"/>
              <a:t> a </a:t>
            </a:r>
            <a:r>
              <a:rPr lang="it-IT" altLang="it-IT" sz="2100" u="sng" dirty="0" err="1"/>
              <a:t>response</a:t>
            </a:r>
            <a:r>
              <a:rPr lang="it-IT" altLang="it-IT" sz="2100" dirty="0"/>
              <a:t> </a:t>
            </a:r>
            <a:r>
              <a:rPr lang="it-IT" altLang="it-IT" sz="2100" dirty="0" err="1"/>
              <a:t>that</a:t>
            </a:r>
            <a:r>
              <a:rPr lang="it-IT" altLang="it-IT" sz="2100" dirty="0"/>
              <a:t> </a:t>
            </a:r>
            <a:r>
              <a:rPr lang="it-IT" altLang="it-IT" sz="2100" dirty="0" err="1"/>
              <a:t>is</a:t>
            </a:r>
            <a:r>
              <a:rPr lang="it-IT" altLang="it-IT" sz="2100" dirty="0"/>
              <a:t> </a:t>
            </a:r>
            <a:r>
              <a:rPr lang="it-IT" altLang="it-IT" sz="2100" dirty="0" err="1"/>
              <a:t>observed</a:t>
            </a:r>
            <a:r>
              <a:rPr lang="it-IT" altLang="it-IT" sz="2100" dirty="0"/>
              <a:t> some time after treatment/</a:t>
            </a:r>
            <a:r>
              <a:rPr lang="it-IT" altLang="it-IT" sz="2100" dirty="0" err="1"/>
              <a:t>exposure</a:t>
            </a:r>
            <a:endParaRPr lang="it-IT" altLang="it-IT" sz="2100" dirty="0"/>
          </a:p>
        </p:txBody>
      </p:sp>
      <p:sp>
        <p:nvSpPr>
          <p:cNvPr id="9" name="Text Box 6">
            <a:extLst>
              <a:ext uri="{FF2B5EF4-FFF2-40B4-BE49-F238E27FC236}">
                <a16:creationId xmlns:a16="http://schemas.microsoft.com/office/drawing/2014/main" id="{8415284B-7741-EC06-F466-8B401724B477}"/>
              </a:ext>
            </a:extLst>
          </p:cNvPr>
          <p:cNvSpPr txBox="1">
            <a:spLocks noChangeArrowheads="1"/>
          </p:cNvSpPr>
          <p:nvPr/>
        </p:nvSpPr>
        <p:spPr bwMode="auto">
          <a:xfrm>
            <a:off x="82624" y="5157192"/>
            <a:ext cx="8686800"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it-IT" altLang="it-IT" sz="2100" b="1" dirty="0"/>
              <a:t>Definition of “no </a:t>
            </a:r>
            <a:r>
              <a:rPr lang="it-IT" altLang="it-IT" sz="2100" b="1" dirty="0" err="1"/>
              <a:t>effect</a:t>
            </a:r>
            <a:r>
              <a:rPr lang="it-IT" altLang="it-IT" sz="2100" b="1" dirty="0"/>
              <a:t>”:</a:t>
            </a:r>
            <a:r>
              <a:rPr lang="it-IT" altLang="it-IT" sz="2100" dirty="0"/>
              <a:t> </a:t>
            </a:r>
            <a:r>
              <a:rPr lang="it-IT" altLang="it-IT" sz="2100" dirty="0" err="1"/>
              <a:t>each</a:t>
            </a:r>
            <a:r>
              <a:rPr lang="it-IT" altLang="it-IT" sz="2100" dirty="0"/>
              <a:t> </a:t>
            </a:r>
            <a:r>
              <a:rPr lang="it-IT" altLang="it-IT" sz="2100" dirty="0" err="1"/>
              <a:t>unit</a:t>
            </a:r>
            <a:r>
              <a:rPr lang="it-IT" altLang="it-IT" sz="2100" dirty="0"/>
              <a:t> </a:t>
            </a:r>
            <a:r>
              <a:rPr lang="it-IT" altLang="it-IT" sz="2100" dirty="0" err="1"/>
              <a:t>would</a:t>
            </a:r>
            <a:r>
              <a:rPr lang="it-IT" altLang="it-IT" sz="2100" dirty="0"/>
              <a:t> </a:t>
            </a:r>
            <a:r>
              <a:rPr lang="it-IT" altLang="it-IT" sz="2100" dirty="0" err="1"/>
              <a:t>exhibit</a:t>
            </a:r>
            <a:r>
              <a:rPr lang="it-IT" altLang="it-IT" sz="2100" dirty="0"/>
              <a:t> the </a:t>
            </a:r>
            <a:r>
              <a:rPr lang="it-IT" altLang="it-IT" sz="2100" dirty="0" err="1"/>
              <a:t>same</a:t>
            </a:r>
            <a:r>
              <a:rPr lang="it-IT" altLang="it-IT" sz="2100" dirty="0"/>
              <a:t> </a:t>
            </a:r>
            <a:r>
              <a:rPr lang="it-IT" altLang="it-IT" sz="2100" dirty="0" err="1"/>
              <a:t>value</a:t>
            </a:r>
            <a:r>
              <a:rPr lang="it-IT" altLang="it-IT" sz="2100" dirty="0"/>
              <a:t> of the </a:t>
            </a:r>
            <a:r>
              <a:rPr lang="it-IT" altLang="it-IT" sz="2100" dirty="0" err="1"/>
              <a:t>response</a:t>
            </a:r>
            <a:r>
              <a:rPr lang="it-IT" altLang="it-IT" sz="2100" dirty="0"/>
              <a:t> </a:t>
            </a:r>
            <a:r>
              <a:rPr lang="it-IT" altLang="it-IT" sz="2100" dirty="0" err="1"/>
              <a:t>whether</a:t>
            </a:r>
            <a:r>
              <a:rPr lang="it-IT" altLang="it-IT" sz="2100" dirty="0"/>
              <a:t> </a:t>
            </a:r>
            <a:r>
              <a:rPr lang="it-IT" altLang="it-IT" sz="2100" dirty="0" err="1"/>
              <a:t>assigned</a:t>
            </a:r>
            <a:r>
              <a:rPr lang="it-IT" altLang="it-IT" sz="2100" dirty="0"/>
              <a:t> to treatment or control. </a:t>
            </a:r>
            <a:r>
              <a:rPr lang="it-IT" altLang="it-IT" sz="2100" dirty="0" err="1"/>
              <a:t>If</a:t>
            </a:r>
            <a:r>
              <a:rPr lang="it-IT" altLang="it-IT" sz="2100" dirty="0"/>
              <a:t> </a:t>
            </a:r>
            <a:r>
              <a:rPr lang="it-IT" altLang="it-IT" sz="2100" dirty="0" err="1"/>
              <a:t>changing</a:t>
            </a:r>
            <a:r>
              <a:rPr lang="it-IT" altLang="it-IT" sz="2100" dirty="0"/>
              <a:t> the treatment/</a:t>
            </a:r>
            <a:r>
              <a:rPr lang="it-IT" altLang="it-IT" sz="2100" dirty="0" err="1"/>
              <a:t>exposure</a:t>
            </a:r>
            <a:r>
              <a:rPr lang="it-IT" altLang="it-IT" sz="2100" dirty="0"/>
              <a:t> </a:t>
            </a:r>
            <a:r>
              <a:rPr lang="it-IT" altLang="it-IT" sz="2100" dirty="0" err="1"/>
              <a:t>assigned</a:t>
            </a:r>
            <a:r>
              <a:rPr lang="it-IT" altLang="it-IT" sz="2100" dirty="0"/>
              <a:t> to a </a:t>
            </a:r>
            <a:r>
              <a:rPr lang="it-IT" altLang="it-IT" sz="2100" dirty="0" err="1"/>
              <a:t>unit</a:t>
            </a:r>
            <a:r>
              <a:rPr lang="it-IT" altLang="it-IT" sz="2100" dirty="0"/>
              <a:t> </a:t>
            </a:r>
            <a:r>
              <a:rPr lang="it-IT" altLang="it-IT" sz="2100" dirty="0" err="1"/>
              <a:t>changed</a:t>
            </a:r>
            <a:r>
              <a:rPr lang="it-IT" altLang="it-IT" sz="2100" dirty="0"/>
              <a:t> </a:t>
            </a:r>
            <a:r>
              <a:rPr lang="it-IT" altLang="it-IT" sz="2100" dirty="0" err="1"/>
              <a:t>that</a:t>
            </a:r>
            <a:r>
              <a:rPr lang="it-IT" altLang="it-IT" sz="2100" dirty="0"/>
              <a:t> </a:t>
            </a:r>
            <a:r>
              <a:rPr lang="it-IT" altLang="it-IT" sz="2100" dirty="0" err="1"/>
              <a:t>unit’s</a:t>
            </a:r>
            <a:r>
              <a:rPr lang="it-IT" altLang="it-IT" sz="2100" dirty="0"/>
              <a:t> </a:t>
            </a:r>
            <a:r>
              <a:rPr lang="it-IT" altLang="it-IT" sz="2100" dirty="0" err="1"/>
              <a:t>response</a:t>
            </a:r>
            <a:r>
              <a:rPr lang="it-IT" altLang="it-IT" sz="2100" dirty="0"/>
              <a:t> </a:t>
            </a:r>
            <a:r>
              <a:rPr lang="it-IT" altLang="it-IT" sz="2100" dirty="0" err="1"/>
              <a:t>then</a:t>
            </a:r>
            <a:r>
              <a:rPr lang="it-IT" altLang="it-IT" sz="2100" dirty="0"/>
              <a:t> </a:t>
            </a:r>
            <a:r>
              <a:rPr lang="it-IT" altLang="it-IT" sz="2100" dirty="0" err="1"/>
              <a:t>certainly</a:t>
            </a:r>
            <a:r>
              <a:rPr lang="it-IT" altLang="it-IT" sz="2100" dirty="0"/>
              <a:t> the treatment/</a:t>
            </a:r>
            <a:r>
              <a:rPr lang="it-IT" altLang="it-IT" sz="2100" dirty="0" err="1"/>
              <a:t>exposure</a:t>
            </a:r>
            <a:r>
              <a:rPr lang="it-IT" altLang="it-IT" sz="2100" dirty="0"/>
              <a:t> </a:t>
            </a:r>
            <a:r>
              <a:rPr lang="it-IT" altLang="it-IT" sz="2100" dirty="0" err="1"/>
              <a:t>has</a:t>
            </a:r>
            <a:r>
              <a:rPr lang="it-IT" altLang="it-IT" sz="2100" dirty="0"/>
              <a:t> </a:t>
            </a:r>
            <a:r>
              <a:rPr lang="it-IT" altLang="it-IT" sz="2100" dirty="0" err="1"/>
              <a:t>at</a:t>
            </a:r>
            <a:r>
              <a:rPr lang="it-IT" altLang="it-IT" sz="2100" dirty="0"/>
              <a:t> </a:t>
            </a:r>
            <a:r>
              <a:rPr lang="it-IT" altLang="it-IT" sz="2100" dirty="0" err="1"/>
              <a:t>least</a:t>
            </a:r>
            <a:r>
              <a:rPr lang="it-IT" altLang="it-IT" sz="2100" dirty="0"/>
              <a:t> some </a:t>
            </a:r>
            <a:r>
              <a:rPr lang="it-IT" altLang="it-IT" sz="2100" dirty="0" err="1"/>
              <a:t>effect</a:t>
            </a:r>
            <a:endParaRPr lang="it-IT" altLang="it-IT" sz="2100" dirty="0"/>
          </a:p>
        </p:txBody>
      </p:sp>
    </p:spTree>
    <p:extLst>
      <p:ext uri="{BB962C8B-B14F-4D97-AF65-F5344CB8AC3E}">
        <p14:creationId xmlns:p14="http://schemas.microsoft.com/office/powerpoint/2010/main" val="359918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F497D"/>
                </a:solidFill>
              </a:rPr>
              <a:t>Why Perform Experiments?</a:t>
            </a:r>
            <a:endParaRPr lang="en-US" dirty="0"/>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5</a:t>
            </a:fld>
            <a:endParaRPr lang="en-GB" dirty="0"/>
          </a:p>
        </p:txBody>
      </p:sp>
      <p:sp>
        <p:nvSpPr>
          <p:cNvPr id="5" name="Content Placeholder 4"/>
          <p:cNvSpPr>
            <a:spLocks noGrp="1"/>
          </p:cNvSpPr>
          <p:nvPr>
            <p:ph idx="1"/>
          </p:nvPr>
        </p:nvSpPr>
        <p:spPr>
          <a:xfrm>
            <a:off x="495300" y="1412776"/>
            <a:ext cx="8915400" cy="4114800"/>
          </a:xfrm>
        </p:spPr>
        <p:txBody>
          <a:bodyPr/>
          <a:lstStyle/>
          <a:p>
            <a:pPr marL="342900" indent="-342900">
              <a:buFont typeface="Arial" panose="020B0604020202020204" pitchFamily="34" charset="0"/>
              <a:buChar char="•"/>
            </a:pPr>
            <a:r>
              <a:rPr lang="en-GB" b="0" cap="none" dirty="0"/>
              <a:t>Exploratory experiments: </a:t>
            </a:r>
            <a:r>
              <a:rPr lang="en-GB" b="0" cap="none" dirty="0">
                <a:solidFill>
                  <a:schemeClr val="tx2"/>
                </a:solidFill>
              </a:rPr>
              <a:t>Aim to generate hypotheses.</a:t>
            </a:r>
          </a:p>
          <a:p>
            <a:r>
              <a:rPr lang="en-GB" b="0" cap="none" dirty="0">
                <a:solidFill>
                  <a:schemeClr val="tx2"/>
                </a:solidFill>
              </a:rPr>
              <a:t>     They normally involves looking for patterns in the data </a:t>
            </a:r>
          </a:p>
          <a:p>
            <a:r>
              <a:rPr lang="en-GB" b="0" cap="none" dirty="0">
                <a:solidFill>
                  <a:schemeClr val="tx2"/>
                </a:solidFill>
              </a:rPr>
              <a:t>     with less emphasis on formal testing of hypotheses. </a:t>
            </a:r>
          </a:p>
          <a:p>
            <a:endParaRPr lang="en-GB" b="0" cap="none" dirty="0"/>
          </a:p>
          <a:p>
            <a:pPr marL="342900" indent="-342900">
              <a:buFont typeface="Arial" panose="020B0604020202020204" pitchFamily="34" charset="0"/>
              <a:buChar char="•"/>
            </a:pPr>
            <a:r>
              <a:rPr lang="en-GB" b="0" cap="none" dirty="0"/>
              <a:t>Confirmatory experiments: </a:t>
            </a:r>
            <a:r>
              <a:rPr lang="en-GB" b="0" cap="none" dirty="0">
                <a:solidFill>
                  <a:schemeClr val="tx2"/>
                </a:solidFill>
              </a:rPr>
              <a:t>Aim to </a:t>
            </a:r>
            <a:r>
              <a:rPr lang="en-GB" u="sng" cap="none" dirty="0">
                <a:solidFill>
                  <a:schemeClr val="tx2"/>
                </a:solidFill>
              </a:rPr>
              <a:t>demonstrate</a:t>
            </a:r>
            <a:r>
              <a:rPr lang="en-GB" b="0" cap="none" dirty="0">
                <a:solidFill>
                  <a:schemeClr val="tx2"/>
                </a:solidFill>
              </a:rPr>
              <a:t> hypothesis.</a:t>
            </a:r>
          </a:p>
          <a:p>
            <a:pPr marL="342900" indent="-342900">
              <a:buFont typeface="Arial" panose="020B0604020202020204" pitchFamily="34" charset="0"/>
              <a:buChar char="•"/>
            </a:pPr>
            <a:endParaRPr lang="en-GB" b="0" dirty="0">
              <a:solidFill>
                <a:schemeClr val="tx2"/>
              </a:solidFill>
            </a:endParaRPr>
          </a:p>
          <a:p>
            <a:pPr marL="342900" indent="-342900">
              <a:buFont typeface="Arial" panose="020B0604020202020204" pitchFamily="34" charset="0"/>
              <a:buChar char="•"/>
            </a:pPr>
            <a:endParaRPr lang="en-GB" b="0" dirty="0">
              <a:solidFill>
                <a:schemeClr val="tx2"/>
              </a:solidFill>
            </a:endParaRPr>
          </a:p>
        </p:txBody>
      </p:sp>
    </p:spTree>
    <p:extLst>
      <p:ext uri="{BB962C8B-B14F-4D97-AF65-F5344CB8AC3E}">
        <p14:creationId xmlns:p14="http://schemas.microsoft.com/office/powerpoint/2010/main" val="1972449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7D9AC-BF4A-6078-EF1E-A7B9E20EF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60305-9469-9FD7-352A-D79488DAA04E}"/>
              </a:ext>
            </a:extLst>
          </p:cNvPr>
          <p:cNvSpPr>
            <a:spLocks noGrp="1"/>
          </p:cNvSpPr>
          <p:nvPr>
            <p:ph type="title"/>
          </p:nvPr>
        </p:nvSpPr>
        <p:spPr>
          <a:xfrm>
            <a:off x="152400" y="98897"/>
            <a:ext cx="9625136" cy="990600"/>
          </a:xfrm>
        </p:spPr>
        <p:txBody>
          <a:bodyPr/>
          <a:lstStyle/>
          <a:p>
            <a:r>
              <a:rPr lang="en-US" sz="3500" dirty="0">
                <a:solidFill>
                  <a:schemeClr val="tx2"/>
                </a:solidFill>
              </a:rPr>
              <a:t>Confirmatory experiments: the traditional scientific method of biology and medicine</a:t>
            </a:r>
          </a:p>
        </p:txBody>
      </p:sp>
      <p:pic>
        <p:nvPicPr>
          <p:cNvPr id="7" name="Picture 6" descr="uc-colour.gif">
            <a:extLst>
              <a:ext uri="{FF2B5EF4-FFF2-40B4-BE49-F238E27FC236}">
                <a16:creationId xmlns:a16="http://schemas.microsoft.com/office/drawing/2014/main" id="{EE63ED84-2027-6274-4E9E-C06816220EB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a:extLst>
              <a:ext uri="{FF2B5EF4-FFF2-40B4-BE49-F238E27FC236}">
                <a16:creationId xmlns:a16="http://schemas.microsoft.com/office/drawing/2014/main" id="{95EB0424-54EB-9CC1-4215-BC3945603F7B}"/>
              </a:ext>
            </a:extLst>
          </p:cNvPr>
          <p:cNvSpPr>
            <a:spLocks noGrp="1"/>
          </p:cNvSpPr>
          <p:nvPr>
            <p:ph type="sldNum" sz="quarter" idx="4"/>
          </p:nvPr>
        </p:nvSpPr>
        <p:spPr/>
        <p:txBody>
          <a:bodyPr/>
          <a:lstStyle/>
          <a:p>
            <a:fld id="{C231324C-4752-C242-8156-5E21DB4253A5}" type="slidenum">
              <a:rPr lang="en-GB" smtClean="0"/>
              <a:pPr/>
              <a:t>6</a:t>
            </a:fld>
            <a:endParaRPr lang="en-GB" dirty="0"/>
          </a:p>
        </p:txBody>
      </p:sp>
      <p:sp>
        <p:nvSpPr>
          <p:cNvPr id="9" name="Rettangolo 2">
            <a:extLst>
              <a:ext uri="{FF2B5EF4-FFF2-40B4-BE49-F238E27FC236}">
                <a16:creationId xmlns:a16="http://schemas.microsoft.com/office/drawing/2014/main" id="{862164BC-CBCF-CE1B-4362-6446B4B2B76B}"/>
              </a:ext>
            </a:extLst>
          </p:cNvPr>
          <p:cNvSpPr/>
          <p:nvPr/>
        </p:nvSpPr>
        <p:spPr>
          <a:xfrm>
            <a:off x="117474" y="1173522"/>
            <a:ext cx="9660061" cy="892552"/>
          </a:xfrm>
          <a:prstGeom prst="rect">
            <a:avLst/>
          </a:prstGeom>
        </p:spPr>
        <p:txBody>
          <a:bodyPr wrap="square">
            <a:spAutoFit/>
          </a:bodyPr>
          <a:lstStyle/>
          <a:p>
            <a:pPr>
              <a:defRPr/>
            </a:pPr>
            <a:r>
              <a:rPr lang="en-US" sz="2600" dirty="0">
                <a:solidFill>
                  <a:schemeClr val="tx2"/>
                </a:solidFill>
                <a:latin typeface="+mn-lt"/>
              </a:rPr>
              <a:t>Experimental research proceeds by hypotheses formulated on the basis of previous or new knowledge and then tested.</a:t>
            </a:r>
            <a:endParaRPr lang="it-IT" sz="2600" dirty="0">
              <a:solidFill>
                <a:schemeClr val="tx2"/>
              </a:solidFill>
              <a:latin typeface="+mn-lt"/>
            </a:endParaRPr>
          </a:p>
        </p:txBody>
      </p:sp>
      <p:sp>
        <p:nvSpPr>
          <p:cNvPr id="11" name="Rectangle 12">
            <a:extLst>
              <a:ext uri="{FF2B5EF4-FFF2-40B4-BE49-F238E27FC236}">
                <a16:creationId xmlns:a16="http://schemas.microsoft.com/office/drawing/2014/main" id="{AA29EB5B-7C6F-2579-50A3-1F7D7707C73D}"/>
              </a:ext>
            </a:extLst>
          </p:cNvPr>
          <p:cNvSpPr>
            <a:spLocks noChangeArrowheads="1"/>
          </p:cNvSpPr>
          <p:nvPr/>
        </p:nvSpPr>
        <p:spPr bwMode="auto">
          <a:xfrm>
            <a:off x="1600201" y="2204864"/>
            <a:ext cx="4864968"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chemeClr val="hlink"/>
              </a:buClr>
              <a:buSzPct val="70000"/>
              <a:buFont typeface="Wingdings" panose="05000000000000000000" pitchFamily="2" charset="2"/>
              <a:buNone/>
              <a:defRPr/>
            </a:pPr>
            <a:r>
              <a:rPr lang="en-US" altLang="it-IT" sz="2400" i="1" dirty="0">
                <a:solidFill>
                  <a:schemeClr val="tx2"/>
                </a:solidFill>
                <a:effectLst>
                  <a:outerShdw blurRad="38100" dist="38100" dir="2700000" algn="tl">
                    <a:srgbClr val="C0C0C0"/>
                  </a:outerShdw>
                </a:effectLst>
                <a:latin typeface="Garamond" panose="02020404030301010803" pitchFamily="18" charset="0"/>
              </a:rPr>
              <a:t>Does serotonin affect blood pressure in mice?</a:t>
            </a:r>
          </a:p>
        </p:txBody>
      </p:sp>
      <p:sp>
        <p:nvSpPr>
          <p:cNvPr id="12" name="Text Box 13">
            <a:extLst>
              <a:ext uri="{FF2B5EF4-FFF2-40B4-BE49-F238E27FC236}">
                <a16:creationId xmlns:a16="http://schemas.microsoft.com/office/drawing/2014/main" id="{0F700096-426F-F23A-604D-D1566DE4DE49}"/>
              </a:ext>
            </a:extLst>
          </p:cNvPr>
          <p:cNvSpPr txBox="1">
            <a:spLocks noChangeArrowheads="1"/>
          </p:cNvSpPr>
          <p:nvPr/>
        </p:nvSpPr>
        <p:spPr bwMode="auto">
          <a:xfrm>
            <a:off x="128464" y="2204864"/>
            <a:ext cx="3810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spcBef>
                <a:spcPct val="50000"/>
              </a:spcBef>
            </a:pPr>
            <a:r>
              <a:rPr lang="it-IT" altLang="it-IT" sz="2400" b="1" dirty="0" err="1">
                <a:solidFill>
                  <a:schemeClr val="tx2"/>
                </a:solidFill>
                <a:latin typeface="Garamond" panose="02020404030301010803" pitchFamily="18" charset="0"/>
              </a:rPr>
              <a:t>Question</a:t>
            </a:r>
            <a:r>
              <a:rPr lang="it-IT" altLang="it-IT" sz="2400" b="1" dirty="0">
                <a:solidFill>
                  <a:schemeClr val="tx2"/>
                </a:solidFill>
                <a:latin typeface="Garamond" panose="02020404030301010803" pitchFamily="18" charset="0"/>
              </a:rPr>
              <a:t>:</a:t>
            </a:r>
          </a:p>
        </p:txBody>
      </p:sp>
      <p:sp>
        <p:nvSpPr>
          <p:cNvPr id="13" name="Rettangolo arrotondato 9">
            <a:extLst>
              <a:ext uri="{FF2B5EF4-FFF2-40B4-BE49-F238E27FC236}">
                <a16:creationId xmlns:a16="http://schemas.microsoft.com/office/drawing/2014/main" id="{B729D119-3FFF-E5E0-3642-A8B231C36D2A}"/>
              </a:ext>
            </a:extLst>
          </p:cNvPr>
          <p:cNvSpPr>
            <a:spLocks noChangeArrowheads="1"/>
          </p:cNvSpPr>
          <p:nvPr/>
        </p:nvSpPr>
        <p:spPr bwMode="auto">
          <a:xfrm>
            <a:off x="2819400" y="2937347"/>
            <a:ext cx="2895600" cy="457200"/>
          </a:xfrm>
          <a:prstGeom prst="roundRect">
            <a:avLst>
              <a:gd name="adj" fmla="val 16667"/>
            </a:avLst>
          </a:prstGeom>
          <a:solidFill>
            <a:schemeClr val="bg1"/>
          </a:solidFill>
          <a:ln w="28575" algn="ctr">
            <a:solidFill>
              <a:schemeClr val="tx1"/>
            </a:solidFill>
            <a:round/>
            <a:headEnd/>
            <a:tailEnd/>
          </a:ln>
        </p:spPr>
        <p:txBody>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eaLnBrk="1" hangingPunct="1"/>
            <a:r>
              <a:rPr lang="it-IT" altLang="it-IT" sz="2400"/>
              <a:t>Trial</a:t>
            </a:r>
          </a:p>
        </p:txBody>
      </p:sp>
      <p:sp>
        <p:nvSpPr>
          <p:cNvPr id="14" name="Rettangolo 10">
            <a:extLst>
              <a:ext uri="{FF2B5EF4-FFF2-40B4-BE49-F238E27FC236}">
                <a16:creationId xmlns:a16="http://schemas.microsoft.com/office/drawing/2014/main" id="{A1C7DF41-911B-D88B-0BEF-5C2D3123DC05}"/>
              </a:ext>
            </a:extLst>
          </p:cNvPr>
          <p:cNvSpPr>
            <a:spLocks noChangeArrowheads="1"/>
          </p:cNvSpPr>
          <p:nvPr/>
        </p:nvSpPr>
        <p:spPr bwMode="auto">
          <a:xfrm>
            <a:off x="128464" y="2937347"/>
            <a:ext cx="1227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spcBef>
                <a:spcPct val="50000"/>
              </a:spcBef>
            </a:pPr>
            <a:r>
              <a:rPr lang="it-IT" altLang="it-IT" sz="2400" b="1" dirty="0" err="1">
                <a:solidFill>
                  <a:schemeClr val="tx2"/>
                </a:solidFill>
                <a:latin typeface="Garamond" panose="02020404030301010803" pitchFamily="18" charset="0"/>
              </a:rPr>
              <a:t>Answer</a:t>
            </a:r>
            <a:r>
              <a:rPr lang="it-IT" altLang="it-IT" sz="2400" b="1" dirty="0">
                <a:solidFill>
                  <a:schemeClr val="tx2"/>
                </a:solidFill>
                <a:latin typeface="Garamond" panose="02020404030301010803" pitchFamily="18" charset="0"/>
              </a:rPr>
              <a:t>:</a:t>
            </a:r>
          </a:p>
        </p:txBody>
      </p:sp>
      <p:pic>
        <p:nvPicPr>
          <p:cNvPr id="15" name="Picture 14" descr="galileo-galilei-02">
            <a:extLst>
              <a:ext uri="{FF2B5EF4-FFF2-40B4-BE49-F238E27FC236}">
                <a16:creationId xmlns:a16="http://schemas.microsoft.com/office/drawing/2014/main" id="{9B7C54DC-8B3F-07F7-4615-F944154BD6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7256" y="3573016"/>
            <a:ext cx="22161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15">
            <a:extLst>
              <a:ext uri="{FF2B5EF4-FFF2-40B4-BE49-F238E27FC236}">
                <a16:creationId xmlns:a16="http://schemas.microsoft.com/office/drawing/2014/main" id="{A7CA0023-58F7-0536-5A60-7AE7C1C69534}"/>
              </a:ext>
            </a:extLst>
          </p:cNvPr>
          <p:cNvSpPr txBox="1">
            <a:spLocks noChangeArrowheads="1"/>
          </p:cNvSpPr>
          <p:nvPr/>
        </p:nvSpPr>
        <p:spPr bwMode="auto">
          <a:xfrm>
            <a:off x="4376936" y="4275112"/>
            <a:ext cx="2819400"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defRPr/>
            </a:pPr>
            <a:r>
              <a:rPr lang="it-IT" altLang="it-IT" sz="2800" i="1" dirty="0">
                <a:effectLst>
                  <a:outerShdw blurRad="38100" dist="38100" dir="2700000" algn="tl">
                    <a:srgbClr val="C0C0C0"/>
                  </a:outerShdw>
                </a:effectLst>
                <a:latin typeface="Garamond" panose="02020404030301010803" pitchFamily="18" charset="0"/>
              </a:rPr>
              <a:t>“Sensate esperienze e certe dimostrazioni”</a:t>
            </a:r>
          </a:p>
        </p:txBody>
      </p:sp>
      <p:sp>
        <p:nvSpPr>
          <p:cNvPr id="17" name="TextBox 16">
            <a:extLst>
              <a:ext uri="{FF2B5EF4-FFF2-40B4-BE49-F238E27FC236}">
                <a16:creationId xmlns:a16="http://schemas.microsoft.com/office/drawing/2014/main" id="{C324BCA8-99D2-13F1-3064-860FE73C8CB3}"/>
              </a:ext>
            </a:extLst>
          </p:cNvPr>
          <p:cNvSpPr txBox="1"/>
          <p:nvPr/>
        </p:nvSpPr>
        <p:spPr>
          <a:xfrm>
            <a:off x="5646440" y="5379828"/>
            <a:ext cx="3987080" cy="369332"/>
          </a:xfrm>
          <a:prstGeom prst="rect">
            <a:avLst/>
          </a:prstGeom>
          <a:noFill/>
        </p:spPr>
        <p:txBody>
          <a:bodyPr wrap="square" rtlCol="0">
            <a:spAutoFit/>
          </a:bodyPr>
          <a:lstStyle/>
          <a:p>
            <a:pPr algn="ctr"/>
            <a:r>
              <a:rPr lang="en-US" dirty="0">
                <a:solidFill>
                  <a:schemeClr val="tx2"/>
                </a:solidFill>
              </a:rPr>
              <a:t>Galileo Galilei, father of modern science</a:t>
            </a:r>
          </a:p>
        </p:txBody>
      </p:sp>
      <p:sp>
        <p:nvSpPr>
          <p:cNvPr id="18" name="TextBox 17">
            <a:extLst>
              <a:ext uri="{FF2B5EF4-FFF2-40B4-BE49-F238E27FC236}">
                <a16:creationId xmlns:a16="http://schemas.microsoft.com/office/drawing/2014/main" id="{90405F12-7B32-636F-6980-00EA4C2F9B01}"/>
              </a:ext>
            </a:extLst>
          </p:cNvPr>
          <p:cNvSpPr txBox="1"/>
          <p:nvPr/>
        </p:nvSpPr>
        <p:spPr>
          <a:xfrm>
            <a:off x="3179440" y="3573016"/>
            <a:ext cx="765448" cy="369332"/>
          </a:xfrm>
          <a:prstGeom prst="rect">
            <a:avLst/>
          </a:prstGeom>
          <a:solidFill>
            <a:srgbClr val="92D050"/>
          </a:solidFill>
        </p:spPr>
        <p:txBody>
          <a:bodyPr wrap="square" rtlCol="0">
            <a:spAutoFit/>
          </a:bodyPr>
          <a:lstStyle/>
          <a:p>
            <a:pPr algn="ctr"/>
            <a:r>
              <a:rPr lang="en-US" dirty="0"/>
              <a:t>TRUE</a:t>
            </a:r>
          </a:p>
        </p:txBody>
      </p:sp>
      <p:sp>
        <p:nvSpPr>
          <p:cNvPr id="19" name="TextBox 18">
            <a:extLst>
              <a:ext uri="{FF2B5EF4-FFF2-40B4-BE49-F238E27FC236}">
                <a16:creationId xmlns:a16="http://schemas.microsoft.com/office/drawing/2014/main" id="{2E7A98D0-2B09-FBCC-D721-DE0FB6CD04D1}"/>
              </a:ext>
            </a:extLst>
          </p:cNvPr>
          <p:cNvSpPr txBox="1"/>
          <p:nvPr/>
        </p:nvSpPr>
        <p:spPr>
          <a:xfrm>
            <a:off x="4592960" y="3573016"/>
            <a:ext cx="765448" cy="369332"/>
          </a:xfrm>
          <a:prstGeom prst="rect">
            <a:avLst/>
          </a:prstGeom>
          <a:solidFill>
            <a:srgbClr val="FF0000"/>
          </a:solidFill>
        </p:spPr>
        <p:txBody>
          <a:bodyPr wrap="square" rtlCol="0">
            <a:spAutoFit/>
          </a:bodyPr>
          <a:lstStyle/>
          <a:p>
            <a:pPr algn="ctr"/>
            <a:r>
              <a:rPr lang="en-US" dirty="0"/>
              <a:t>FALSE</a:t>
            </a:r>
          </a:p>
        </p:txBody>
      </p:sp>
      <p:cxnSp>
        <p:nvCxnSpPr>
          <p:cNvPr id="21" name="Straight Arrow Connector 20">
            <a:extLst>
              <a:ext uri="{FF2B5EF4-FFF2-40B4-BE49-F238E27FC236}">
                <a16:creationId xmlns:a16="http://schemas.microsoft.com/office/drawing/2014/main" id="{A9AD3226-327C-E45B-3899-56B1B2869207}"/>
              </a:ext>
            </a:extLst>
          </p:cNvPr>
          <p:cNvCxnSpPr>
            <a:stCxn id="13" idx="2"/>
          </p:cNvCxnSpPr>
          <p:nvPr/>
        </p:nvCxnSpPr>
        <p:spPr>
          <a:xfrm flipH="1">
            <a:off x="3944888" y="3394547"/>
            <a:ext cx="322312" cy="1784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8B166986-9BEF-97B7-E622-18F5542410C9}"/>
              </a:ext>
            </a:extLst>
          </p:cNvPr>
          <p:cNvCxnSpPr>
            <a:stCxn id="13" idx="2"/>
          </p:cNvCxnSpPr>
          <p:nvPr/>
        </p:nvCxnSpPr>
        <p:spPr>
          <a:xfrm>
            <a:off x="4267200" y="3394547"/>
            <a:ext cx="325760" cy="17846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836726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6DBBC211-C1CE-F3A2-C6D5-C1C61F7339B5}"/>
              </a:ext>
            </a:extLst>
          </p:cNvPr>
          <p:cNvSpPr txBox="1">
            <a:spLocks noChangeArrowheads="1"/>
          </p:cNvSpPr>
          <p:nvPr/>
        </p:nvSpPr>
        <p:spPr bwMode="auto">
          <a:xfrm>
            <a:off x="76200" y="76200"/>
            <a:ext cx="9485312" cy="607859"/>
          </a:xfrm>
          <a:prstGeom prst="rect">
            <a:avLst/>
          </a:prstGeom>
          <a:noFill/>
          <a:ln>
            <a:noFill/>
          </a:ln>
          <a:effectLst/>
        </p:spPr>
        <p:txBody>
          <a:bodyPr wrap="square">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defRPr/>
            </a:pPr>
            <a:r>
              <a:rPr lang="it-IT" altLang="it-IT" sz="3350" b="1" dirty="0">
                <a:latin typeface="+mj-lt"/>
              </a:rPr>
              <a:t>Random vs </a:t>
            </a:r>
            <a:r>
              <a:rPr lang="it-IT" altLang="it-IT" sz="3350" b="1" dirty="0" err="1">
                <a:latin typeface="+mj-lt"/>
              </a:rPr>
              <a:t>Systematic</a:t>
            </a:r>
            <a:r>
              <a:rPr lang="it-IT" altLang="it-IT" sz="3350" b="1" dirty="0">
                <a:latin typeface="+mj-lt"/>
              </a:rPr>
              <a:t> </a:t>
            </a:r>
            <a:r>
              <a:rPr lang="it-IT" altLang="it-IT" sz="3350" b="1" dirty="0" err="1">
                <a:latin typeface="+mj-lt"/>
              </a:rPr>
              <a:t>Error</a:t>
            </a:r>
            <a:endParaRPr lang="it-IT" altLang="it-IT" sz="3350" b="1" dirty="0">
              <a:latin typeface="+mj-lt"/>
            </a:endParaRPr>
          </a:p>
        </p:txBody>
      </p:sp>
      <p:pic>
        <p:nvPicPr>
          <p:cNvPr id="3" name="Picture 3" descr="precision-and-bias">
            <a:extLst>
              <a:ext uri="{FF2B5EF4-FFF2-40B4-BE49-F238E27FC236}">
                <a16:creationId xmlns:a16="http://schemas.microsoft.com/office/drawing/2014/main" id="{F6B8F6AA-E3C3-7A61-1942-2E1DE4C1C0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4648" y="772120"/>
            <a:ext cx="4905375"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
            <a:extLst>
              <a:ext uri="{FF2B5EF4-FFF2-40B4-BE49-F238E27FC236}">
                <a16:creationId xmlns:a16="http://schemas.microsoft.com/office/drawing/2014/main" id="{683EBCAC-3072-1AF5-0DEA-90A50D65C567}"/>
              </a:ext>
            </a:extLst>
          </p:cNvPr>
          <p:cNvSpPr txBox="1">
            <a:spLocks noChangeArrowheads="1"/>
          </p:cNvSpPr>
          <p:nvPr/>
        </p:nvSpPr>
        <p:spPr bwMode="auto">
          <a:xfrm>
            <a:off x="152400" y="5816600"/>
            <a:ext cx="8915400" cy="93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lnSpc>
                <a:spcPct val="130000"/>
              </a:lnSpc>
              <a:spcBef>
                <a:spcPct val="50000"/>
              </a:spcBef>
              <a:defRPr/>
            </a:pPr>
            <a:r>
              <a:rPr lang="it-IT" altLang="it-IT" sz="2100" b="1" dirty="0" err="1">
                <a:latin typeface="+mn-lt"/>
              </a:rPr>
              <a:t>Systematic</a:t>
            </a:r>
            <a:r>
              <a:rPr lang="it-IT" altLang="it-IT" sz="2100" b="1" dirty="0">
                <a:latin typeface="+mn-lt"/>
              </a:rPr>
              <a:t> </a:t>
            </a:r>
            <a:r>
              <a:rPr lang="it-IT" altLang="it-IT" sz="2100" b="1" dirty="0" err="1">
                <a:latin typeface="+mn-lt"/>
              </a:rPr>
              <a:t>error</a:t>
            </a:r>
            <a:r>
              <a:rPr lang="it-IT" altLang="it-IT" sz="2100" b="1" dirty="0">
                <a:latin typeface="+mn-lt"/>
              </a:rPr>
              <a:t> (i.e. </a:t>
            </a:r>
            <a:r>
              <a:rPr lang="it-IT" altLang="it-IT" sz="2100" b="1" dirty="0" err="1">
                <a:latin typeface="+mn-lt"/>
              </a:rPr>
              <a:t>bias</a:t>
            </a:r>
            <a:r>
              <a:rPr lang="it-IT" altLang="it-IT" sz="2100" b="1" dirty="0">
                <a:latin typeface="+mn-lt"/>
              </a:rPr>
              <a:t>):</a:t>
            </a:r>
            <a:r>
              <a:rPr lang="it-IT" altLang="it-IT" sz="2100" dirty="0">
                <a:latin typeface="+mn-lt"/>
              </a:rPr>
              <a:t> </a:t>
            </a:r>
            <a:r>
              <a:rPr lang="it-IT" altLang="it-IT" sz="2100" dirty="0" err="1">
                <a:latin typeface="+mn-lt"/>
              </a:rPr>
              <a:t>It</a:t>
            </a:r>
            <a:r>
              <a:rPr lang="it-IT" altLang="it-IT" sz="2100" dirty="0">
                <a:latin typeface="+mn-lt"/>
              </a:rPr>
              <a:t> </a:t>
            </a:r>
            <a:r>
              <a:rPr lang="it-IT" altLang="it-IT" sz="2100" dirty="0" err="1">
                <a:latin typeface="+mn-lt"/>
              </a:rPr>
              <a:t>cannot</a:t>
            </a:r>
            <a:r>
              <a:rPr lang="it-IT" altLang="it-IT" sz="2100" dirty="0">
                <a:latin typeface="+mn-lt"/>
              </a:rPr>
              <a:t> be </a:t>
            </a:r>
            <a:r>
              <a:rPr lang="it-IT" altLang="it-IT" sz="2100" dirty="0" err="1">
                <a:latin typeface="+mn-lt"/>
              </a:rPr>
              <a:t>predicted</a:t>
            </a:r>
            <a:r>
              <a:rPr lang="it-IT" altLang="it-IT" sz="2100" dirty="0">
                <a:latin typeface="+mn-lt"/>
              </a:rPr>
              <a:t> with </a:t>
            </a:r>
            <a:r>
              <a:rPr lang="it-IT" altLang="it-IT" sz="2100" dirty="0" err="1">
                <a:latin typeface="+mn-lt"/>
              </a:rPr>
              <a:t>certainty</a:t>
            </a:r>
            <a:r>
              <a:rPr lang="it-IT" altLang="it-IT" sz="2100" dirty="0">
                <a:latin typeface="+mn-lt"/>
              </a:rPr>
              <a:t>, </a:t>
            </a:r>
            <a:r>
              <a:rPr lang="it-IT" altLang="it-IT" sz="2100" dirty="0" err="1">
                <a:latin typeface="+mn-lt"/>
              </a:rPr>
              <a:t>it</a:t>
            </a:r>
            <a:r>
              <a:rPr lang="it-IT" altLang="it-IT" sz="2100" dirty="0">
                <a:latin typeface="+mn-lt"/>
              </a:rPr>
              <a:t> </a:t>
            </a:r>
            <a:r>
              <a:rPr lang="it-IT" altLang="it-IT" sz="2100" dirty="0" err="1">
                <a:latin typeface="+mn-lt"/>
              </a:rPr>
              <a:t>could</a:t>
            </a:r>
            <a:r>
              <a:rPr lang="it-IT" altLang="it-IT" sz="2100" dirty="0">
                <a:latin typeface="+mn-lt"/>
              </a:rPr>
              <a:t> </a:t>
            </a:r>
            <a:r>
              <a:rPr lang="it-IT" altLang="it-IT" sz="2100" dirty="0" err="1">
                <a:latin typeface="+mn-lt"/>
              </a:rPr>
              <a:t>not</a:t>
            </a:r>
            <a:r>
              <a:rPr lang="it-IT" altLang="it-IT" sz="2100" dirty="0">
                <a:latin typeface="+mn-lt"/>
              </a:rPr>
              <a:t> be </a:t>
            </a:r>
            <a:r>
              <a:rPr lang="it-IT" altLang="it-IT" sz="2100" dirty="0" err="1">
                <a:latin typeface="+mn-lt"/>
              </a:rPr>
              <a:t>described</a:t>
            </a:r>
            <a:r>
              <a:rPr lang="it-IT" altLang="it-IT" sz="2100" dirty="0">
                <a:latin typeface="+mn-lt"/>
              </a:rPr>
              <a:t> </a:t>
            </a:r>
            <a:r>
              <a:rPr lang="it-IT" altLang="it-IT" sz="2100" dirty="0" err="1">
                <a:latin typeface="+mn-lt"/>
              </a:rPr>
              <a:t>probabilistically</a:t>
            </a:r>
            <a:r>
              <a:rPr lang="it-IT" altLang="it-IT" sz="2100" dirty="0">
                <a:latin typeface="+mn-lt"/>
              </a:rPr>
              <a:t> or with </a:t>
            </a:r>
            <a:r>
              <a:rPr lang="it-IT" altLang="it-IT" sz="2100" dirty="0" err="1">
                <a:latin typeface="+mn-lt"/>
              </a:rPr>
              <a:t>other</a:t>
            </a:r>
            <a:r>
              <a:rPr lang="it-IT" altLang="it-IT" sz="2100" dirty="0">
                <a:latin typeface="+mn-lt"/>
              </a:rPr>
              <a:t> </a:t>
            </a:r>
            <a:r>
              <a:rPr lang="it-IT" altLang="it-IT" sz="2100" dirty="0" err="1">
                <a:latin typeface="+mn-lt"/>
              </a:rPr>
              <a:t>mathematical</a:t>
            </a:r>
            <a:r>
              <a:rPr lang="it-IT" altLang="it-IT" sz="2100" dirty="0">
                <a:latin typeface="+mn-lt"/>
              </a:rPr>
              <a:t> tools </a:t>
            </a:r>
          </a:p>
        </p:txBody>
      </p:sp>
      <p:sp>
        <p:nvSpPr>
          <p:cNvPr id="5" name="Text Box 5">
            <a:extLst>
              <a:ext uri="{FF2B5EF4-FFF2-40B4-BE49-F238E27FC236}">
                <a16:creationId xmlns:a16="http://schemas.microsoft.com/office/drawing/2014/main" id="{1E042E08-16A9-EA3C-2139-A1C46A8409DF}"/>
              </a:ext>
            </a:extLst>
          </p:cNvPr>
          <p:cNvSpPr txBox="1">
            <a:spLocks noChangeArrowheads="1"/>
          </p:cNvSpPr>
          <p:nvPr/>
        </p:nvSpPr>
        <p:spPr bwMode="auto">
          <a:xfrm>
            <a:off x="152400" y="4800600"/>
            <a:ext cx="8991600" cy="93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lnSpc>
                <a:spcPct val="130000"/>
              </a:lnSpc>
              <a:spcBef>
                <a:spcPct val="50000"/>
              </a:spcBef>
              <a:defRPr/>
            </a:pPr>
            <a:r>
              <a:rPr lang="it-IT" altLang="it-IT" sz="2100" b="1" dirty="0">
                <a:latin typeface="+mn-lt"/>
              </a:rPr>
              <a:t>Random </a:t>
            </a:r>
            <a:r>
              <a:rPr lang="it-IT" altLang="it-IT" sz="2100" b="1" dirty="0" err="1">
                <a:latin typeface="+mn-lt"/>
              </a:rPr>
              <a:t>error</a:t>
            </a:r>
            <a:r>
              <a:rPr lang="it-IT" altLang="it-IT" sz="2100" b="1" dirty="0">
                <a:latin typeface="+mn-lt"/>
              </a:rPr>
              <a:t>:</a:t>
            </a:r>
            <a:r>
              <a:rPr lang="it-IT" altLang="it-IT" sz="2100" dirty="0">
                <a:latin typeface="+mn-lt"/>
              </a:rPr>
              <a:t> </a:t>
            </a:r>
            <a:r>
              <a:rPr lang="it-IT" altLang="it-IT" sz="2100" dirty="0" err="1">
                <a:latin typeface="+mn-lt"/>
              </a:rPr>
              <a:t>It</a:t>
            </a:r>
            <a:r>
              <a:rPr lang="it-IT" altLang="it-IT" sz="2100" dirty="0">
                <a:latin typeface="+mn-lt"/>
              </a:rPr>
              <a:t> </a:t>
            </a:r>
            <a:r>
              <a:rPr lang="it-IT" altLang="it-IT" sz="2100" dirty="0" err="1">
                <a:latin typeface="+mn-lt"/>
              </a:rPr>
              <a:t>cannot</a:t>
            </a:r>
            <a:r>
              <a:rPr lang="it-IT" altLang="it-IT" sz="2100" dirty="0">
                <a:latin typeface="+mn-lt"/>
              </a:rPr>
              <a:t> be </a:t>
            </a:r>
            <a:r>
              <a:rPr lang="it-IT" altLang="it-IT" sz="2100" dirty="0" err="1">
                <a:latin typeface="+mn-lt"/>
              </a:rPr>
              <a:t>predicted</a:t>
            </a:r>
            <a:r>
              <a:rPr lang="it-IT" altLang="it-IT" sz="2100" dirty="0">
                <a:latin typeface="+mn-lt"/>
              </a:rPr>
              <a:t> with </a:t>
            </a:r>
            <a:r>
              <a:rPr lang="it-IT" altLang="it-IT" sz="2100" dirty="0" err="1">
                <a:latin typeface="+mn-lt"/>
              </a:rPr>
              <a:t>certainty</a:t>
            </a:r>
            <a:r>
              <a:rPr lang="it-IT" altLang="it-IT" sz="2100" dirty="0">
                <a:latin typeface="+mn-lt"/>
              </a:rPr>
              <a:t> </a:t>
            </a:r>
            <a:r>
              <a:rPr lang="it-IT" altLang="it-IT" sz="2100" dirty="0" err="1">
                <a:latin typeface="+mn-lt"/>
              </a:rPr>
              <a:t>but</a:t>
            </a:r>
            <a:r>
              <a:rPr lang="it-IT" altLang="it-IT" sz="2100" dirty="0">
                <a:latin typeface="+mn-lt"/>
              </a:rPr>
              <a:t> </a:t>
            </a:r>
            <a:r>
              <a:rPr lang="it-IT" altLang="it-IT" sz="2100" dirty="0" err="1">
                <a:latin typeface="+mn-lt"/>
              </a:rPr>
              <a:t>could</a:t>
            </a:r>
            <a:r>
              <a:rPr lang="it-IT" altLang="it-IT" sz="2100" dirty="0">
                <a:latin typeface="+mn-lt"/>
              </a:rPr>
              <a:t> be </a:t>
            </a:r>
            <a:r>
              <a:rPr lang="it-IT" altLang="it-IT" sz="2100" dirty="0" err="1">
                <a:latin typeface="+mn-lt"/>
              </a:rPr>
              <a:t>described</a:t>
            </a:r>
            <a:r>
              <a:rPr lang="it-IT" altLang="it-IT" sz="2100" dirty="0">
                <a:latin typeface="+mn-lt"/>
              </a:rPr>
              <a:t> </a:t>
            </a:r>
            <a:r>
              <a:rPr lang="it-IT" altLang="it-IT" sz="2100" dirty="0" err="1">
                <a:latin typeface="+mn-lt"/>
              </a:rPr>
              <a:t>probabilistically</a:t>
            </a:r>
            <a:endParaRPr lang="it-IT" altLang="it-IT" sz="2100" dirty="0">
              <a:latin typeface="+mn-lt"/>
            </a:endParaRPr>
          </a:p>
        </p:txBody>
      </p:sp>
    </p:spTree>
    <p:extLst>
      <p:ext uri="{BB962C8B-B14F-4D97-AF65-F5344CB8AC3E}">
        <p14:creationId xmlns:p14="http://schemas.microsoft.com/office/powerpoint/2010/main" val="1543706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BC1645-CA3D-F0E1-F1A6-9B6FF91AE8C9}"/>
              </a:ext>
            </a:extLst>
          </p:cNvPr>
          <p:cNvSpPr>
            <a:spLocks noGrp="1"/>
          </p:cNvSpPr>
          <p:nvPr>
            <p:ph type="sldNum" sz="quarter" idx="4"/>
          </p:nvPr>
        </p:nvSpPr>
        <p:spPr/>
        <p:txBody>
          <a:bodyPr/>
          <a:lstStyle/>
          <a:p>
            <a:fld id="{C231324C-4752-C242-8156-5E21DB4253A5}" type="slidenum">
              <a:rPr lang="en-GB" smtClean="0"/>
              <a:pPr/>
              <a:t>8</a:t>
            </a:fld>
            <a:endParaRPr lang="en-GB" dirty="0"/>
          </a:p>
        </p:txBody>
      </p:sp>
      <p:sp>
        <p:nvSpPr>
          <p:cNvPr id="5" name="Text Box 2">
            <a:extLst>
              <a:ext uri="{FF2B5EF4-FFF2-40B4-BE49-F238E27FC236}">
                <a16:creationId xmlns:a16="http://schemas.microsoft.com/office/drawing/2014/main" id="{45910F05-CCF9-4192-14D6-3398C5F3FADE}"/>
              </a:ext>
            </a:extLst>
          </p:cNvPr>
          <p:cNvSpPr txBox="1">
            <a:spLocks noChangeArrowheads="1"/>
          </p:cNvSpPr>
          <p:nvPr/>
        </p:nvSpPr>
        <p:spPr bwMode="auto">
          <a:xfrm>
            <a:off x="228600" y="151136"/>
            <a:ext cx="9400456" cy="608013"/>
          </a:xfrm>
          <a:prstGeom prst="rect">
            <a:avLst/>
          </a:prstGeom>
          <a:noFill/>
          <a:ln>
            <a:noFill/>
          </a:ln>
          <a:effectLst/>
        </p:spPr>
        <p:txBody>
          <a:bodyPr wrap="square">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defRPr/>
            </a:pPr>
            <a:r>
              <a:rPr lang="it-IT" altLang="it-IT" sz="3350" b="1" dirty="0">
                <a:latin typeface="+mj-lt"/>
              </a:rPr>
              <a:t>An </a:t>
            </a:r>
            <a:r>
              <a:rPr lang="it-IT" altLang="it-IT" sz="3350" b="1" dirty="0" err="1">
                <a:latin typeface="+mj-lt"/>
              </a:rPr>
              <a:t>Example</a:t>
            </a:r>
            <a:r>
              <a:rPr lang="it-IT" altLang="it-IT" sz="3350" b="1" dirty="0">
                <a:latin typeface="+mj-lt"/>
              </a:rPr>
              <a:t> of </a:t>
            </a:r>
            <a:r>
              <a:rPr lang="it-IT" altLang="it-IT" sz="3350" b="1" dirty="0" err="1">
                <a:latin typeface="+mj-lt"/>
              </a:rPr>
              <a:t>Systematic</a:t>
            </a:r>
            <a:r>
              <a:rPr lang="it-IT" altLang="it-IT" sz="3350" b="1" dirty="0">
                <a:latin typeface="+mj-lt"/>
              </a:rPr>
              <a:t> </a:t>
            </a:r>
            <a:r>
              <a:rPr lang="it-IT" altLang="it-IT" sz="3350" b="1" dirty="0" err="1">
                <a:latin typeface="+mj-lt"/>
              </a:rPr>
              <a:t>Error</a:t>
            </a:r>
            <a:endParaRPr lang="it-IT" altLang="it-IT" sz="3350" b="1" dirty="0">
              <a:latin typeface="+mj-lt"/>
            </a:endParaRPr>
          </a:p>
        </p:txBody>
      </p:sp>
      <p:sp>
        <p:nvSpPr>
          <p:cNvPr id="6" name="Line 3">
            <a:extLst>
              <a:ext uri="{FF2B5EF4-FFF2-40B4-BE49-F238E27FC236}">
                <a16:creationId xmlns:a16="http://schemas.microsoft.com/office/drawing/2014/main" id="{C982ABD3-268F-90E0-E10F-7ED0CF58CF8A}"/>
              </a:ext>
            </a:extLst>
          </p:cNvPr>
          <p:cNvSpPr>
            <a:spLocks noChangeShapeType="1"/>
          </p:cNvSpPr>
          <p:nvPr/>
        </p:nvSpPr>
        <p:spPr bwMode="auto">
          <a:xfrm flipV="1">
            <a:off x="6172200" y="1981200"/>
            <a:ext cx="993775"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Text Box 4">
            <a:extLst>
              <a:ext uri="{FF2B5EF4-FFF2-40B4-BE49-F238E27FC236}">
                <a16:creationId xmlns:a16="http://schemas.microsoft.com/office/drawing/2014/main" id="{2C44D7A8-4202-3C09-6EDA-FA0DFFC08DB3}"/>
              </a:ext>
            </a:extLst>
          </p:cNvPr>
          <p:cNvSpPr txBox="1">
            <a:spLocks noChangeArrowheads="1"/>
          </p:cNvSpPr>
          <p:nvPr/>
        </p:nvSpPr>
        <p:spPr bwMode="auto">
          <a:xfrm>
            <a:off x="3962400" y="1766888"/>
            <a:ext cx="228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it-IT" altLang="it-IT" sz="2000" dirty="0" err="1">
                <a:latin typeface="+mn-lt"/>
              </a:rPr>
              <a:t>If</a:t>
            </a:r>
            <a:r>
              <a:rPr lang="it-IT" altLang="it-IT" sz="2000" dirty="0">
                <a:latin typeface="+mn-lt"/>
              </a:rPr>
              <a:t> </a:t>
            </a:r>
            <a:r>
              <a:rPr lang="it-IT" altLang="it-IT" sz="2000" dirty="0" err="1">
                <a:latin typeface="+mn-lt"/>
              </a:rPr>
              <a:t>age</a:t>
            </a:r>
            <a:r>
              <a:rPr lang="it-IT" altLang="it-IT" sz="2000" dirty="0">
                <a:latin typeface="+mn-lt"/>
              </a:rPr>
              <a:t> &gt; 8 </a:t>
            </a:r>
            <a:r>
              <a:rPr lang="it-IT" altLang="it-IT" sz="2000" dirty="0" err="1">
                <a:latin typeface="+mn-lt"/>
              </a:rPr>
              <a:t>months</a:t>
            </a:r>
            <a:endParaRPr lang="it-IT" altLang="it-IT" sz="2000" dirty="0">
              <a:latin typeface="+mn-lt"/>
            </a:endParaRPr>
          </a:p>
        </p:txBody>
      </p:sp>
      <p:sp>
        <p:nvSpPr>
          <p:cNvPr id="8" name="Text Box 5">
            <a:extLst>
              <a:ext uri="{FF2B5EF4-FFF2-40B4-BE49-F238E27FC236}">
                <a16:creationId xmlns:a16="http://schemas.microsoft.com/office/drawing/2014/main" id="{E899012C-04B5-D7CF-7E0E-CD16E6B91F76}"/>
              </a:ext>
            </a:extLst>
          </p:cNvPr>
          <p:cNvSpPr txBox="1">
            <a:spLocks noChangeArrowheads="1"/>
          </p:cNvSpPr>
          <p:nvPr/>
        </p:nvSpPr>
        <p:spPr bwMode="auto">
          <a:xfrm>
            <a:off x="3962400" y="2986088"/>
            <a:ext cx="228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it-IT" altLang="it-IT" sz="2000" dirty="0" err="1">
                <a:latin typeface="+mn-lt"/>
              </a:rPr>
              <a:t>If</a:t>
            </a:r>
            <a:r>
              <a:rPr lang="it-IT" altLang="it-IT" sz="2000" dirty="0">
                <a:latin typeface="+mn-lt"/>
              </a:rPr>
              <a:t> </a:t>
            </a:r>
            <a:r>
              <a:rPr lang="it-IT" altLang="it-IT" sz="2000" dirty="0" err="1">
                <a:latin typeface="+mn-lt"/>
              </a:rPr>
              <a:t>age</a:t>
            </a:r>
            <a:r>
              <a:rPr lang="it-IT" altLang="it-IT" sz="2000" dirty="0">
                <a:latin typeface="+mn-lt"/>
              </a:rPr>
              <a:t> &lt; 8 </a:t>
            </a:r>
            <a:r>
              <a:rPr lang="it-IT" altLang="it-IT" sz="2000" dirty="0" err="1">
                <a:latin typeface="+mn-lt"/>
              </a:rPr>
              <a:t>months</a:t>
            </a:r>
            <a:endParaRPr lang="it-IT" altLang="it-IT" sz="2000" dirty="0">
              <a:latin typeface="+mn-lt"/>
            </a:endParaRPr>
          </a:p>
        </p:txBody>
      </p:sp>
      <p:sp>
        <p:nvSpPr>
          <p:cNvPr id="9" name="AutoShape 6" descr="Risultati immagini per mouse">
            <a:extLst>
              <a:ext uri="{FF2B5EF4-FFF2-40B4-BE49-F238E27FC236}">
                <a16:creationId xmlns:a16="http://schemas.microsoft.com/office/drawing/2014/main" id="{1CC25DF8-5AFD-D985-7C2C-5390855699F1}"/>
              </a:ext>
            </a:extLst>
          </p:cNvPr>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endParaRPr lang="it-IT" altLang="it-IT"/>
          </a:p>
        </p:txBody>
      </p:sp>
      <p:pic>
        <p:nvPicPr>
          <p:cNvPr id="10" name="Picture 7" descr="360_ocd_mice_0426">
            <a:extLst>
              <a:ext uri="{FF2B5EF4-FFF2-40B4-BE49-F238E27FC236}">
                <a16:creationId xmlns:a16="http://schemas.microsoft.com/office/drawing/2014/main" id="{4368778B-9FD9-2916-D1EA-A1706B573B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38300"/>
            <a:ext cx="2743200"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8">
            <a:extLst>
              <a:ext uri="{FF2B5EF4-FFF2-40B4-BE49-F238E27FC236}">
                <a16:creationId xmlns:a16="http://schemas.microsoft.com/office/drawing/2014/main" id="{A9A809A4-BFD0-7DCA-B325-3B458B518EFA}"/>
              </a:ext>
            </a:extLst>
          </p:cNvPr>
          <p:cNvSpPr txBox="1">
            <a:spLocks noChangeArrowheads="1"/>
          </p:cNvSpPr>
          <p:nvPr/>
        </p:nvSpPr>
        <p:spPr bwMode="auto">
          <a:xfrm>
            <a:off x="7239000" y="1660525"/>
            <a:ext cx="1905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it-IT" altLang="it-IT" sz="2000" dirty="0">
                <a:latin typeface="+mn-lt"/>
              </a:rPr>
              <a:t>Active treatment</a:t>
            </a:r>
          </a:p>
        </p:txBody>
      </p:sp>
      <p:sp>
        <p:nvSpPr>
          <p:cNvPr id="12" name="Text Box 9">
            <a:extLst>
              <a:ext uri="{FF2B5EF4-FFF2-40B4-BE49-F238E27FC236}">
                <a16:creationId xmlns:a16="http://schemas.microsoft.com/office/drawing/2014/main" id="{6403BEB8-EE43-29EA-7E00-44E7CC2A0FC7}"/>
              </a:ext>
            </a:extLst>
          </p:cNvPr>
          <p:cNvSpPr txBox="1">
            <a:spLocks noChangeArrowheads="1"/>
          </p:cNvSpPr>
          <p:nvPr/>
        </p:nvSpPr>
        <p:spPr bwMode="auto">
          <a:xfrm>
            <a:off x="7239000" y="3032125"/>
            <a:ext cx="114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it-IT" altLang="it-IT" sz="2000" dirty="0" err="1">
                <a:latin typeface="+mn-lt"/>
              </a:rPr>
              <a:t>Vehicle</a:t>
            </a:r>
            <a:endParaRPr lang="it-IT" altLang="it-IT" sz="2000" dirty="0">
              <a:latin typeface="+mn-lt"/>
            </a:endParaRPr>
          </a:p>
        </p:txBody>
      </p:sp>
      <p:sp>
        <p:nvSpPr>
          <p:cNvPr id="13" name="Line 10">
            <a:extLst>
              <a:ext uri="{FF2B5EF4-FFF2-40B4-BE49-F238E27FC236}">
                <a16:creationId xmlns:a16="http://schemas.microsoft.com/office/drawing/2014/main" id="{9F6B22E4-E5F6-92FB-98C7-89FF3648BC52}"/>
              </a:ext>
            </a:extLst>
          </p:cNvPr>
          <p:cNvSpPr>
            <a:spLocks noChangeShapeType="1"/>
          </p:cNvSpPr>
          <p:nvPr/>
        </p:nvSpPr>
        <p:spPr bwMode="auto">
          <a:xfrm flipV="1">
            <a:off x="6172200" y="3246438"/>
            <a:ext cx="993775"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1">
            <a:extLst>
              <a:ext uri="{FF2B5EF4-FFF2-40B4-BE49-F238E27FC236}">
                <a16:creationId xmlns:a16="http://schemas.microsoft.com/office/drawing/2014/main" id="{D1AF3776-BEF8-F27F-1172-F4BBD3337A44}"/>
              </a:ext>
            </a:extLst>
          </p:cNvPr>
          <p:cNvSpPr>
            <a:spLocks noChangeShapeType="1"/>
          </p:cNvSpPr>
          <p:nvPr/>
        </p:nvSpPr>
        <p:spPr bwMode="auto">
          <a:xfrm flipV="1">
            <a:off x="3276600" y="2057400"/>
            <a:ext cx="685800" cy="533400"/>
          </a:xfrm>
          <a:prstGeom prst="line">
            <a:avLst/>
          </a:prstGeom>
          <a:noFill/>
          <a:ln w="38100">
            <a:solidFill>
              <a:schemeClr val="tx1"/>
            </a:solidFill>
            <a:round/>
            <a:headEnd type="diamond"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2">
            <a:extLst>
              <a:ext uri="{FF2B5EF4-FFF2-40B4-BE49-F238E27FC236}">
                <a16:creationId xmlns:a16="http://schemas.microsoft.com/office/drawing/2014/main" id="{B7CB609B-48A2-F331-A382-C62BF1FEAA1A}"/>
              </a:ext>
            </a:extLst>
          </p:cNvPr>
          <p:cNvSpPr>
            <a:spLocks noChangeShapeType="1"/>
          </p:cNvSpPr>
          <p:nvPr/>
        </p:nvSpPr>
        <p:spPr bwMode="auto">
          <a:xfrm>
            <a:off x="3276600" y="2590800"/>
            <a:ext cx="609600" cy="609600"/>
          </a:xfrm>
          <a:prstGeom prst="line">
            <a:avLst/>
          </a:prstGeom>
          <a:noFill/>
          <a:ln w="38100">
            <a:solidFill>
              <a:schemeClr val="tx1"/>
            </a:solidFill>
            <a:round/>
            <a:headEnd type="diamond"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Text Box 13">
            <a:extLst>
              <a:ext uri="{FF2B5EF4-FFF2-40B4-BE49-F238E27FC236}">
                <a16:creationId xmlns:a16="http://schemas.microsoft.com/office/drawing/2014/main" id="{B31AC8AC-FDA6-623A-4814-09EC78FB3815}"/>
              </a:ext>
            </a:extLst>
          </p:cNvPr>
          <p:cNvSpPr txBox="1">
            <a:spLocks noChangeArrowheads="1"/>
          </p:cNvSpPr>
          <p:nvPr/>
        </p:nvSpPr>
        <p:spPr bwMode="auto">
          <a:xfrm>
            <a:off x="228600" y="4038600"/>
            <a:ext cx="8610600"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just" eaLnBrk="1" hangingPunct="1">
              <a:lnSpc>
                <a:spcPct val="120000"/>
              </a:lnSpc>
              <a:spcBef>
                <a:spcPct val="50000"/>
              </a:spcBef>
              <a:defRPr/>
            </a:pPr>
            <a:r>
              <a:rPr lang="it-IT" altLang="it-IT" sz="2400" dirty="0" err="1">
                <a:latin typeface="+mn-lt"/>
              </a:rPr>
              <a:t>As</a:t>
            </a:r>
            <a:r>
              <a:rPr lang="it-IT" altLang="it-IT" sz="2400" dirty="0">
                <a:latin typeface="+mn-lt"/>
              </a:rPr>
              <a:t> a </a:t>
            </a:r>
            <a:r>
              <a:rPr lang="it-IT" altLang="it-IT" sz="2400" dirty="0" err="1">
                <a:latin typeface="+mn-lt"/>
              </a:rPr>
              <a:t>result</a:t>
            </a:r>
            <a:r>
              <a:rPr lang="it-IT" altLang="it-IT" sz="2400" dirty="0">
                <a:latin typeface="+mn-lt"/>
              </a:rPr>
              <a:t> </a:t>
            </a:r>
            <a:r>
              <a:rPr lang="it-IT" altLang="it-IT" sz="2400" dirty="0" err="1">
                <a:latin typeface="+mn-lt"/>
              </a:rPr>
              <a:t>any</a:t>
            </a:r>
            <a:r>
              <a:rPr lang="it-IT" altLang="it-IT" sz="2400" dirty="0">
                <a:latin typeface="+mn-lt"/>
              </a:rPr>
              <a:t> </a:t>
            </a:r>
            <a:r>
              <a:rPr lang="it-IT" altLang="it-IT" sz="2400" dirty="0" err="1">
                <a:latin typeface="+mn-lt"/>
              </a:rPr>
              <a:t>observed</a:t>
            </a:r>
            <a:r>
              <a:rPr lang="it-IT" altLang="it-IT" sz="2400" dirty="0">
                <a:latin typeface="+mn-lt"/>
              </a:rPr>
              <a:t> treatment </a:t>
            </a:r>
            <a:r>
              <a:rPr lang="it-IT" altLang="it-IT" sz="2400" dirty="0" err="1">
                <a:latin typeface="+mn-lt"/>
              </a:rPr>
              <a:t>effects</a:t>
            </a:r>
            <a:r>
              <a:rPr lang="it-IT" altLang="it-IT" sz="2400" dirty="0">
                <a:latin typeface="+mn-lt"/>
              </a:rPr>
              <a:t> </a:t>
            </a:r>
            <a:r>
              <a:rPr lang="it-IT" altLang="it-IT" sz="2400" dirty="0" err="1">
                <a:latin typeface="+mn-lt"/>
              </a:rPr>
              <a:t>could</a:t>
            </a:r>
            <a:r>
              <a:rPr lang="it-IT" altLang="it-IT" sz="2400" dirty="0">
                <a:latin typeface="+mn-lt"/>
              </a:rPr>
              <a:t> be due to the </a:t>
            </a:r>
            <a:r>
              <a:rPr lang="it-IT" altLang="it-IT" sz="2400" dirty="0" err="1">
                <a:latin typeface="+mn-lt"/>
              </a:rPr>
              <a:t>difference</a:t>
            </a:r>
            <a:r>
              <a:rPr lang="it-IT" altLang="it-IT" sz="2400" dirty="0">
                <a:latin typeface="+mn-lt"/>
              </a:rPr>
              <a:t> in </a:t>
            </a:r>
            <a:r>
              <a:rPr lang="it-IT" altLang="it-IT" sz="2400" dirty="0" err="1">
                <a:latin typeface="+mn-lt"/>
              </a:rPr>
              <a:t>animal</a:t>
            </a:r>
            <a:r>
              <a:rPr lang="it-IT" altLang="it-IT" sz="2400" dirty="0">
                <a:latin typeface="+mn-lt"/>
              </a:rPr>
              <a:t> </a:t>
            </a:r>
            <a:r>
              <a:rPr lang="it-IT" altLang="it-IT" sz="2400" dirty="0" err="1">
                <a:latin typeface="+mn-lt"/>
              </a:rPr>
              <a:t>ages</a:t>
            </a:r>
            <a:r>
              <a:rPr lang="it-IT" altLang="it-IT" sz="2400" dirty="0">
                <a:latin typeface="+mn-lt"/>
              </a:rPr>
              <a:t> </a:t>
            </a:r>
            <a:r>
              <a:rPr lang="it-IT" altLang="it-IT" sz="2400" dirty="0" err="1">
                <a:latin typeface="+mn-lt"/>
              </a:rPr>
              <a:t>rather</a:t>
            </a:r>
            <a:r>
              <a:rPr lang="it-IT" altLang="it-IT" sz="2400" dirty="0">
                <a:latin typeface="+mn-lt"/>
              </a:rPr>
              <a:t> </a:t>
            </a:r>
            <a:r>
              <a:rPr lang="it-IT" altLang="it-IT" sz="2400" dirty="0" err="1">
                <a:latin typeface="+mn-lt"/>
              </a:rPr>
              <a:t>than</a:t>
            </a:r>
            <a:r>
              <a:rPr lang="it-IT" altLang="it-IT" sz="2400" dirty="0">
                <a:latin typeface="+mn-lt"/>
              </a:rPr>
              <a:t> </a:t>
            </a:r>
            <a:r>
              <a:rPr lang="it-IT" altLang="it-IT" sz="2400" dirty="0" err="1">
                <a:latin typeface="+mn-lt"/>
              </a:rPr>
              <a:t>any</a:t>
            </a:r>
            <a:r>
              <a:rPr lang="it-IT" altLang="it-IT" sz="2400" dirty="0">
                <a:latin typeface="+mn-lt"/>
              </a:rPr>
              <a:t> </a:t>
            </a:r>
            <a:r>
              <a:rPr lang="it-IT" altLang="it-IT" sz="2400" dirty="0" err="1">
                <a:latin typeface="+mn-lt"/>
              </a:rPr>
              <a:t>effect</a:t>
            </a:r>
            <a:r>
              <a:rPr lang="it-IT" altLang="it-IT" sz="2400" dirty="0">
                <a:latin typeface="+mn-lt"/>
              </a:rPr>
              <a:t> of the </a:t>
            </a:r>
            <a:r>
              <a:rPr lang="it-IT" altLang="it-IT" sz="2400" dirty="0" err="1">
                <a:latin typeface="+mn-lt"/>
              </a:rPr>
              <a:t>drug</a:t>
            </a:r>
            <a:r>
              <a:rPr lang="it-IT" altLang="it-IT" sz="2400" dirty="0">
                <a:latin typeface="+mn-lt"/>
              </a:rPr>
              <a:t>. The treatment </a:t>
            </a:r>
            <a:r>
              <a:rPr lang="it-IT" altLang="it-IT" sz="2400" dirty="0" err="1">
                <a:latin typeface="+mn-lt"/>
              </a:rPr>
              <a:t>effect</a:t>
            </a:r>
            <a:r>
              <a:rPr lang="it-IT" altLang="it-IT" sz="2400" dirty="0">
                <a:latin typeface="+mn-lt"/>
              </a:rPr>
              <a:t> </a:t>
            </a:r>
            <a:r>
              <a:rPr lang="it-IT" altLang="it-IT" sz="2400" dirty="0" err="1">
                <a:latin typeface="+mn-lt"/>
              </a:rPr>
              <a:t>is</a:t>
            </a:r>
            <a:r>
              <a:rPr lang="it-IT" altLang="it-IT" sz="2400" dirty="0">
                <a:latin typeface="+mn-lt"/>
              </a:rPr>
              <a:t> </a:t>
            </a:r>
            <a:r>
              <a:rPr lang="it-IT" altLang="it-IT" sz="2400" dirty="0" err="1">
                <a:latin typeface="+mn-lt"/>
              </a:rPr>
              <a:t>said</a:t>
            </a:r>
            <a:r>
              <a:rPr lang="it-IT" altLang="it-IT" sz="2400" dirty="0">
                <a:latin typeface="+mn-lt"/>
              </a:rPr>
              <a:t> to be </a:t>
            </a:r>
            <a:r>
              <a:rPr lang="it-IT" altLang="it-IT" sz="2400" dirty="0" err="1">
                <a:latin typeface="+mn-lt"/>
              </a:rPr>
              <a:t>confounded</a:t>
            </a:r>
            <a:r>
              <a:rPr lang="it-IT" altLang="it-IT" sz="2400" dirty="0">
                <a:latin typeface="+mn-lt"/>
              </a:rPr>
              <a:t> with the </a:t>
            </a:r>
            <a:r>
              <a:rPr lang="it-IT" altLang="it-IT" sz="2400" dirty="0" err="1">
                <a:latin typeface="+mn-lt"/>
              </a:rPr>
              <a:t>effect</a:t>
            </a:r>
            <a:r>
              <a:rPr lang="it-IT" altLang="it-IT" sz="2400" dirty="0">
                <a:latin typeface="+mn-lt"/>
              </a:rPr>
              <a:t> of age and </a:t>
            </a:r>
            <a:r>
              <a:rPr lang="it-IT" altLang="it-IT" sz="2400" dirty="0" err="1">
                <a:latin typeface="+mn-lt"/>
              </a:rPr>
              <a:t>hence</a:t>
            </a:r>
            <a:r>
              <a:rPr lang="it-IT" altLang="it-IT" sz="2400" dirty="0">
                <a:latin typeface="+mn-lt"/>
              </a:rPr>
              <a:t> </a:t>
            </a:r>
            <a:r>
              <a:rPr lang="it-IT" altLang="it-IT" sz="2400" dirty="0" err="1">
                <a:latin typeface="+mn-lt"/>
              </a:rPr>
              <a:t>we</a:t>
            </a:r>
            <a:r>
              <a:rPr lang="it-IT" altLang="it-IT" sz="2400" dirty="0">
                <a:latin typeface="+mn-lt"/>
              </a:rPr>
              <a:t> </a:t>
            </a:r>
            <a:r>
              <a:rPr lang="it-IT" altLang="it-IT" sz="2400" dirty="0" err="1">
                <a:latin typeface="+mn-lt"/>
              </a:rPr>
              <a:t>cannot</a:t>
            </a:r>
            <a:r>
              <a:rPr lang="it-IT" altLang="it-IT" sz="2400" dirty="0">
                <a:latin typeface="+mn-lt"/>
              </a:rPr>
              <a:t> tell </a:t>
            </a:r>
            <a:r>
              <a:rPr lang="it-IT" altLang="it-IT" sz="2400" dirty="0" err="1">
                <a:latin typeface="+mn-lt"/>
              </a:rPr>
              <a:t>whether</a:t>
            </a:r>
            <a:r>
              <a:rPr lang="it-IT" altLang="it-IT" sz="2400" dirty="0">
                <a:latin typeface="+mn-lt"/>
              </a:rPr>
              <a:t> the </a:t>
            </a:r>
            <a:r>
              <a:rPr lang="it-IT" altLang="it-IT" sz="2400" dirty="0" err="1">
                <a:latin typeface="+mn-lt"/>
              </a:rPr>
              <a:t>effect</a:t>
            </a:r>
            <a:r>
              <a:rPr lang="it-IT" altLang="it-IT" sz="2400" dirty="0">
                <a:latin typeface="+mn-lt"/>
              </a:rPr>
              <a:t> </a:t>
            </a:r>
            <a:r>
              <a:rPr lang="it-IT" altLang="it-IT" sz="2400" dirty="0" err="1">
                <a:latin typeface="+mn-lt"/>
              </a:rPr>
              <a:t>observed</a:t>
            </a:r>
            <a:r>
              <a:rPr lang="it-IT" altLang="it-IT" sz="2400" dirty="0">
                <a:latin typeface="+mn-lt"/>
              </a:rPr>
              <a:t> </a:t>
            </a:r>
            <a:r>
              <a:rPr lang="it-IT" altLang="it-IT" sz="2400" dirty="0" err="1">
                <a:latin typeface="+mn-lt"/>
              </a:rPr>
              <a:t>is</a:t>
            </a:r>
            <a:r>
              <a:rPr lang="it-IT" altLang="it-IT" sz="2400" dirty="0">
                <a:latin typeface="+mn-lt"/>
              </a:rPr>
              <a:t> due to treatment or age.</a:t>
            </a:r>
          </a:p>
        </p:txBody>
      </p:sp>
    </p:spTree>
    <p:extLst>
      <p:ext uri="{BB962C8B-B14F-4D97-AF65-F5344CB8AC3E}">
        <p14:creationId xmlns:p14="http://schemas.microsoft.com/office/powerpoint/2010/main" val="606504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68F57-DF58-8A25-F37C-6882F04F14B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66569C-0571-E3D8-0D90-61AC20FBAF74}"/>
              </a:ext>
            </a:extLst>
          </p:cNvPr>
          <p:cNvSpPr>
            <a:spLocks noGrp="1"/>
          </p:cNvSpPr>
          <p:nvPr>
            <p:ph type="sldNum" sz="quarter" idx="4"/>
          </p:nvPr>
        </p:nvSpPr>
        <p:spPr>
          <a:xfrm>
            <a:off x="6045121" y="5784304"/>
            <a:ext cx="275167" cy="381000"/>
          </a:xfrm>
        </p:spPr>
        <p:txBody>
          <a:bodyPr/>
          <a:lstStyle/>
          <a:p>
            <a:fld id="{C231324C-4752-C242-8156-5E21DB4253A5}" type="slidenum">
              <a:rPr lang="en-GB" smtClean="0"/>
              <a:pPr/>
              <a:t>9</a:t>
            </a:fld>
            <a:endParaRPr lang="en-GB" dirty="0"/>
          </a:p>
        </p:txBody>
      </p:sp>
      <p:sp>
        <p:nvSpPr>
          <p:cNvPr id="5" name="Text Box 2">
            <a:extLst>
              <a:ext uri="{FF2B5EF4-FFF2-40B4-BE49-F238E27FC236}">
                <a16:creationId xmlns:a16="http://schemas.microsoft.com/office/drawing/2014/main" id="{C91000E9-3BEF-4B5C-643A-BF014DEE4E12}"/>
              </a:ext>
            </a:extLst>
          </p:cNvPr>
          <p:cNvSpPr txBox="1">
            <a:spLocks noChangeArrowheads="1"/>
          </p:cNvSpPr>
          <p:nvPr/>
        </p:nvSpPr>
        <p:spPr bwMode="auto">
          <a:xfrm>
            <a:off x="76200" y="76200"/>
            <a:ext cx="9629328" cy="630238"/>
          </a:xfrm>
          <a:prstGeom prst="rect">
            <a:avLst/>
          </a:prstGeom>
          <a:noFill/>
          <a:ln>
            <a:noFill/>
          </a:ln>
          <a:effectLst/>
        </p:spPr>
        <p:txBody>
          <a:bodyPr wrap="square">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defRPr/>
            </a:pPr>
            <a:r>
              <a:rPr lang="it-IT" altLang="it-IT" sz="3350" b="1" dirty="0">
                <a:latin typeface="+mj-lt"/>
              </a:rPr>
              <a:t>An </a:t>
            </a:r>
            <a:r>
              <a:rPr lang="it-IT" altLang="it-IT" sz="3350" b="1" dirty="0" err="1">
                <a:latin typeface="+mj-lt"/>
              </a:rPr>
              <a:t>Example</a:t>
            </a:r>
            <a:r>
              <a:rPr lang="it-IT" altLang="it-IT" sz="3350" b="1" dirty="0">
                <a:latin typeface="+mj-lt"/>
              </a:rPr>
              <a:t> of Random </a:t>
            </a:r>
            <a:r>
              <a:rPr lang="it-IT" altLang="it-IT" sz="3350" b="1" dirty="0" err="1">
                <a:latin typeface="+mj-lt"/>
              </a:rPr>
              <a:t>Error</a:t>
            </a:r>
            <a:endParaRPr lang="it-IT" altLang="it-IT" sz="3350" b="1" dirty="0">
              <a:latin typeface="+mj-lt"/>
            </a:endParaRPr>
          </a:p>
        </p:txBody>
      </p:sp>
      <p:sp>
        <p:nvSpPr>
          <p:cNvPr id="6" name="AutoShape 3" descr="Risultati immagini per mouse">
            <a:extLst>
              <a:ext uri="{FF2B5EF4-FFF2-40B4-BE49-F238E27FC236}">
                <a16:creationId xmlns:a16="http://schemas.microsoft.com/office/drawing/2014/main" id="{F3B78535-DA6E-16F2-D645-8EEFF8773D33}"/>
              </a:ext>
            </a:extLst>
          </p:cNvPr>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endParaRPr lang="it-IT" altLang="it-IT"/>
          </a:p>
        </p:txBody>
      </p:sp>
      <p:pic>
        <p:nvPicPr>
          <p:cNvPr id="8" name="Picture 5" descr="360_ocd_mice_0426">
            <a:extLst>
              <a:ext uri="{FF2B5EF4-FFF2-40B4-BE49-F238E27FC236}">
                <a16:creationId xmlns:a16="http://schemas.microsoft.com/office/drawing/2014/main" id="{B363EF00-F33D-C425-4DDE-426877123D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14400"/>
            <a:ext cx="2743200"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6">
            <a:extLst>
              <a:ext uri="{FF2B5EF4-FFF2-40B4-BE49-F238E27FC236}">
                <a16:creationId xmlns:a16="http://schemas.microsoft.com/office/drawing/2014/main" id="{6413942C-5654-B9BD-1B1E-24DF2D85E162}"/>
              </a:ext>
            </a:extLst>
          </p:cNvPr>
          <p:cNvSpPr txBox="1">
            <a:spLocks noChangeArrowheads="1"/>
          </p:cNvSpPr>
          <p:nvPr/>
        </p:nvSpPr>
        <p:spPr bwMode="auto">
          <a:xfrm>
            <a:off x="3124200" y="1371600"/>
            <a:ext cx="5486400" cy="11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el-GR" altLang="it-IT" sz="2200" b="1" dirty="0">
                <a:latin typeface="+mn-lt"/>
              </a:rPr>
              <a:t>Θ</a:t>
            </a:r>
            <a:r>
              <a:rPr lang="it-IT" altLang="it-IT" sz="2200" b="1" dirty="0">
                <a:latin typeface="+mn-lt"/>
              </a:rPr>
              <a:t>:</a:t>
            </a:r>
            <a:r>
              <a:rPr lang="it-IT" altLang="it-IT" sz="2200" dirty="0">
                <a:latin typeface="+mn-lt"/>
              </a:rPr>
              <a:t> </a:t>
            </a:r>
            <a:r>
              <a:rPr lang="it-IT" altLang="it-IT" sz="2200" dirty="0" err="1">
                <a:latin typeface="+mn-lt"/>
              </a:rPr>
              <a:t>Probability</a:t>
            </a:r>
            <a:r>
              <a:rPr lang="it-IT" altLang="it-IT" sz="2200" dirty="0">
                <a:latin typeface="+mn-lt"/>
              </a:rPr>
              <a:t> of </a:t>
            </a:r>
            <a:r>
              <a:rPr lang="it-IT" altLang="it-IT" sz="2200" dirty="0" err="1">
                <a:latin typeface="+mn-lt"/>
              </a:rPr>
              <a:t>tumour</a:t>
            </a:r>
            <a:r>
              <a:rPr lang="it-IT" altLang="it-IT" sz="2200" dirty="0">
                <a:latin typeface="+mn-lt"/>
              </a:rPr>
              <a:t> </a:t>
            </a:r>
            <a:r>
              <a:rPr lang="it-IT" altLang="it-IT" sz="2200" dirty="0" err="1">
                <a:latin typeface="+mn-lt"/>
              </a:rPr>
              <a:t>shrinkage</a:t>
            </a:r>
            <a:r>
              <a:rPr lang="it-IT" altLang="it-IT" sz="2200" dirty="0">
                <a:latin typeface="+mn-lt"/>
              </a:rPr>
              <a:t> due to an </a:t>
            </a:r>
            <a:r>
              <a:rPr lang="it-IT" altLang="it-IT" sz="2200" dirty="0" err="1">
                <a:latin typeface="+mn-lt"/>
              </a:rPr>
              <a:t>antitumor</a:t>
            </a:r>
            <a:r>
              <a:rPr lang="it-IT" altLang="it-IT" sz="2200" dirty="0">
                <a:latin typeface="+mn-lt"/>
              </a:rPr>
              <a:t> compound in a </a:t>
            </a:r>
            <a:r>
              <a:rPr lang="it-IT" altLang="it-IT" sz="2200" dirty="0" err="1">
                <a:latin typeface="+mn-lt"/>
              </a:rPr>
              <a:t>population</a:t>
            </a:r>
            <a:r>
              <a:rPr lang="it-IT" altLang="it-IT" sz="2200" dirty="0">
                <a:latin typeface="+mn-lt"/>
              </a:rPr>
              <a:t> of </a:t>
            </a:r>
            <a:r>
              <a:rPr lang="it-IT" altLang="it-IT" sz="2200" dirty="0" err="1">
                <a:latin typeface="+mn-lt"/>
              </a:rPr>
              <a:t>female</a:t>
            </a:r>
            <a:r>
              <a:rPr lang="it-IT" altLang="it-IT" sz="2200" dirty="0">
                <a:latin typeface="+mn-lt"/>
              </a:rPr>
              <a:t> lab </a:t>
            </a:r>
            <a:r>
              <a:rPr lang="it-IT" altLang="it-IT" sz="2200" dirty="0" err="1">
                <a:latin typeface="+mn-lt"/>
              </a:rPr>
              <a:t>rats</a:t>
            </a:r>
            <a:r>
              <a:rPr lang="it-IT" altLang="it-IT" sz="2200" dirty="0">
                <a:latin typeface="+mn-lt"/>
              </a:rPr>
              <a:t> of </a:t>
            </a:r>
            <a:r>
              <a:rPr lang="it-IT" altLang="it-IT" sz="2200" dirty="0" err="1">
                <a:latin typeface="+mn-lt"/>
              </a:rPr>
              <a:t>type</a:t>
            </a:r>
            <a:r>
              <a:rPr lang="it-IT" altLang="it-IT" sz="2200" dirty="0">
                <a:latin typeface="+mn-lt"/>
              </a:rPr>
              <a:t> F344</a:t>
            </a:r>
          </a:p>
        </p:txBody>
      </p:sp>
      <p:sp>
        <p:nvSpPr>
          <p:cNvPr id="10" name="Line 7">
            <a:extLst>
              <a:ext uri="{FF2B5EF4-FFF2-40B4-BE49-F238E27FC236}">
                <a16:creationId xmlns:a16="http://schemas.microsoft.com/office/drawing/2014/main" id="{6D806B71-2A65-1418-0A95-A21461C2D761}"/>
              </a:ext>
            </a:extLst>
          </p:cNvPr>
          <p:cNvSpPr>
            <a:spLocks noChangeShapeType="1"/>
          </p:cNvSpPr>
          <p:nvPr/>
        </p:nvSpPr>
        <p:spPr bwMode="auto">
          <a:xfrm flipH="1">
            <a:off x="3352800" y="3124200"/>
            <a:ext cx="2743200" cy="838200"/>
          </a:xfrm>
          <a:prstGeom prst="line">
            <a:avLst/>
          </a:prstGeom>
          <a:noFill/>
          <a:ln w="38100">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8">
            <a:extLst>
              <a:ext uri="{FF2B5EF4-FFF2-40B4-BE49-F238E27FC236}">
                <a16:creationId xmlns:a16="http://schemas.microsoft.com/office/drawing/2014/main" id="{FE948F67-B192-86DF-F248-F4426CA63618}"/>
              </a:ext>
            </a:extLst>
          </p:cNvPr>
          <p:cNvSpPr>
            <a:spLocks noChangeShapeType="1"/>
          </p:cNvSpPr>
          <p:nvPr/>
        </p:nvSpPr>
        <p:spPr bwMode="auto">
          <a:xfrm>
            <a:off x="6096000" y="3124200"/>
            <a:ext cx="609600" cy="838200"/>
          </a:xfrm>
          <a:prstGeom prst="line">
            <a:avLst/>
          </a:prstGeom>
          <a:noFill/>
          <a:ln w="38100">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Text Box 9">
            <a:extLst>
              <a:ext uri="{FF2B5EF4-FFF2-40B4-BE49-F238E27FC236}">
                <a16:creationId xmlns:a16="http://schemas.microsoft.com/office/drawing/2014/main" id="{30DC3DB1-98D6-B894-255E-29D10D50BB58}"/>
              </a:ext>
            </a:extLst>
          </p:cNvPr>
          <p:cNvSpPr txBox="1">
            <a:spLocks noChangeArrowheads="1"/>
          </p:cNvSpPr>
          <p:nvPr/>
        </p:nvSpPr>
        <p:spPr bwMode="auto">
          <a:xfrm>
            <a:off x="5257800" y="2667000"/>
            <a:ext cx="182880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defRPr/>
            </a:pPr>
            <a:r>
              <a:rPr lang="el-GR" altLang="it-IT" sz="2200" b="1" dirty="0">
                <a:latin typeface="+mn-lt"/>
              </a:rPr>
              <a:t>Θ</a:t>
            </a:r>
            <a:r>
              <a:rPr lang="it-IT" altLang="it-IT" sz="2200" b="1" dirty="0">
                <a:latin typeface="+mn-lt"/>
              </a:rPr>
              <a:t>: 35%</a:t>
            </a:r>
          </a:p>
        </p:txBody>
      </p:sp>
      <p:sp>
        <p:nvSpPr>
          <p:cNvPr id="13" name="Text Box 10">
            <a:extLst>
              <a:ext uri="{FF2B5EF4-FFF2-40B4-BE49-F238E27FC236}">
                <a16:creationId xmlns:a16="http://schemas.microsoft.com/office/drawing/2014/main" id="{74BA204C-2345-4782-0DFB-E8247827DAF8}"/>
              </a:ext>
            </a:extLst>
          </p:cNvPr>
          <p:cNvSpPr txBox="1">
            <a:spLocks noChangeArrowheads="1"/>
          </p:cNvSpPr>
          <p:nvPr/>
        </p:nvSpPr>
        <p:spPr bwMode="auto">
          <a:xfrm>
            <a:off x="2057400" y="3352800"/>
            <a:ext cx="21336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it-IT" altLang="it-IT" sz="1800" b="1" dirty="0" err="1">
                <a:latin typeface="+mn-lt"/>
              </a:rPr>
              <a:t>Cohort</a:t>
            </a:r>
            <a:r>
              <a:rPr lang="it-IT" altLang="it-IT" sz="1800" b="1" dirty="0">
                <a:latin typeface="+mn-lt"/>
              </a:rPr>
              <a:t> of 10 </a:t>
            </a:r>
            <a:r>
              <a:rPr lang="it-IT" altLang="it-IT" sz="1800" b="1" dirty="0" err="1">
                <a:latin typeface="+mn-lt"/>
              </a:rPr>
              <a:t>rats</a:t>
            </a:r>
            <a:endParaRPr lang="it-IT" altLang="it-IT" sz="1800" b="1" dirty="0">
              <a:latin typeface="+mn-lt"/>
            </a:endParaRPr>
          </a:p>
        </p:txBody>
      </p:sp>
      <p:sp>
        <p:nvSpPr>
          <p:cNvPr id="14" name="Text Box 11">
            <a:extLst>
              <a:ext uri="{FF2B5EF4-FFF2-40B4-BE49-F238E27FC236}">
                <a16:creationId xmlns:a16="http://schemas.microsoft.com/office/drawing/2014/main" id="{E0A2C437-1613-9006-FD9D-DFEF726993A7}"/>
              </a:ext>
            </a:extLst>
          </p:cNvPr>
          <p:cNvSpPr txBox="1">
            <a:spLocks noChangeArrowheads="1"/>
          </p:cNvSpPr>
          <p:nvPr/>
        </p:nvSpPr>
        <p:spPr bwMode="auto">
          <a:xfrm>
            <a:off x="6477000" y="3276600"/>
            <a:ext cx="22860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it-IT" altLang="it-IT" sz="1800" b="1" dirty="0" err="1">
                <a:latin typeface="+mn-lt"/>
              </a:rPr>
              <a:t>Cohort</a:t>
            </a:r>
            <a:r>
              <a:rPr lang="it-IT" altLang="it-IT" sz="1800" b="1" dirty="0">
                <a:latin typeface="+mn-lt"/>
              </a:rPr>
              <a:t> of 50 </a:t>
            </a:r>
            <a:r>
              <a:rPr lang="it-IT" altLang="it-IT" sz="1800" b="1" dirty="0" err="1">
                <a:latin typeface="+mn-lt"/>
              </a:rPr>
              <a:t>rats</a:t>
            </a:r>
            <a:endParaRPr lang="it-IT" altLang="it-IT" sz="1800" b="1" dirty="0">
              <a:latin typeface="+mn-lt"/>
            </a:endParaRPr>
          </a:p>
        </p:txBody>
      </p:sp>
      <p:pic>
        <p:nvPicPr>
          <p:cNvPr id="15" name="Picture 12">
            <a:extLst>
              <a:ext uri="{FF2B5EF4-FFF2-40B4-BE49-F238E27FC236}">
                <a16:creationId xmlns:a16="http://schemas.microsoft.com/office/drawing/2014/main" id="{C3BC4345-0389-A6A0-C830-A7079A7E4F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4191000"/>
            <a:ext cx="2590800" cy="168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3">
            <a:extLst>
              <a:ext uri="{FF2B5EF4-FFF2-40B4-BE49-F238E27FC236}">
                <a16:creationId xmlns:a16="http://schemas.microsoft.com/office/drawing/2014/main" id="{1A6CE1CF-4621-C55D-FBD8-F935222360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4114800"/>
            <a:ext cx="2743200"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2266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92A3C-E963-B52A-32FF-2EA27FB18654}"/>
              </a:ext>
            </a:extLst>
          </p:cNvPr>
          <p:cNvSpPr>
            <a:spLocks noGrp="1"/>
          </p:cNvSpPr>
          <p:nvPr>
            <p:ph type="title"/>
          </p:nvPr>
        </p:nvSpPr>
        <p:spPr>
          <a:xfrm>
            <a:off x="87055" y="140953"/>
            <a:ext cx="8706172" cy="677737"/>
          </a:xfrm>
        </p:spPr>
        <p:txBody>
          <a:bodyPr/>
          <a:lstStyle/>
          <a:p>
            <a:r>
              <a:rPr lang="en-GB" sz="4000" dirty="0">
                <a:solidFill>
                  <a:schemeClr val="tx2"/>
                </a:solidFill>
              </a:rPr>
              <a:t>Why Experimental Design Matters?</a:t>
            </a:r>
            <a:endParaRPr lang="en-US" sz="4000" dirty="0">
              <a:solidFill>
                <a:schemeClr val="tx2"/>
              </a:solidFill>
            </a:endParaRPr>
          </a:p>
        </p:txBody>
      </p:sp>
      <p:sp>
        <p:nvSpPr>
          <p:cNvPr id="3" name="Content Placeholder 2">
            <a:extLst>
              <a:ext uri="{FF2B5EF4-FFF2-40B4-BE49-F238E27FC236}">
                <a16:creationId xmlns:a16="http://schemas.microsoft.com/office/drawing/2014/main" id="{641A814F-7C8D-26B4-FC93-5AC6B1653BE1}"/>
              </a:ext>
            </a:extLst>
          </p:cNvPr>
          <p:cNvSpPr>
            <a:spLocks noGrp="1"/>
          </p:cNvSpPr>
          <p:nvPr>
            <p:ph idx="1"/>
          </p:nvPr>
        </p:nvSpPr>
        <p:spPr/>
        <p:txBody>
          <a:bodyPr/>
          <a:lstStyle/>
          <a:p>
            <a:pPr indent="457200"/>
            <a:r>
              <a:rPr lang="en-GB" sz="1800" i="0" u="none" strike="noStrike" dirty="0">
                <a:solidFill>
                  <a:srgbClr val="212121"/>
                </a:solidFill>
                <a:effectLst/>
                <a:latin typeface="Aptos" panose="020B0004020202020204" pitchFamily="34" charset="0"/>
              </a:rPr>
              <a:t>						</a:t>
            </a:r>
          </a:p>
          <a:p>
            <a:pPr indent="457200" algn="ctr"/>
            <a:endParaRPr lang="en-GB" sz="1800" b="0" dirty="0">
              <a:solidFill>
                <a:srgbClr val="212121"/>
              </a:solidFill>
              <a:latin typeface="Aptos" panose="020B0004020202020204" pitchFamily="34" charset="0"/>
            </a:endParaRPr>
          </a:p>
          <a:p>
            <a:pPr indent="457200"/>
            <a:endParaRPr lang="en-GB" sz="1800" b="0" i="0" u="none" strike="noStrike" dirty="0">
              <a:solidFill>
                <a:srgbClr val="212121"/>
              </a:solidFill>
              <a:effectLst/>
              <a:latin typeface="Aptos" panose="020B0004020202020204" pitchFamily="34" charset="0"/>
            </a:endParaRPr>
          </a:p>
          <a:p>
            <a:endParaRPr lang="en-US" dirty="0"/>
          </a:p>
        </p:txBody>
      </p:sp>
      <p:sp>
        <p:nvSpPr>
          <p:cNvPr id="4" name="Slide Number Placeholder 3">
            <a:extLst>
              <a:ext uri="{FF2B5EF4-FFF2-40B4-BE49-F238E27FC236}">
                <a16:creationId xmlns:a16="http://schemas.microsoft.com/office/drawing/2014/main" id="{B6033A79-7E13-E7EC-F428-ADFBF811D277}"/>
              </a:ext>
            </a:extLst>
          </p:cNvPr>
          <p:cNvSpPr>
            <a:spLocks noGrp="1"/>
          </p:cNvSpPr>
          <p:nvPr>
            <p:ph type="sldNum" sz="quarter" idx="4"/>
          </p:nvPr>
        </p:nvSpPr>
        <p:spPr/>
        <p:txBody>
          <a:bodyPr/>
          <a:lstStyle/>
          <a:p>
            <a:fld id="{C231324C-4752-C242-8156-5E21DB4253A5}" type="slidenum">
              <a:rPr lang="en-GB" smtClean="0"/>
              <a:pPr/>
              <a:t>10</a:t>
            </a:fld>
            <a:endParaRPr lang="en-GB" dirty="0"/>
          </a:p>
        </p:txBody>
      </p:sp>
      <p:sp>
        <p:nvSpPr>
          <p:cNvPr id="5" name="Frame 4">
            <a:extLst>
              <a:ext uri="{FF2B5EF4-FFF2-40B4-BE49-F238E27FC236}">
                <a16:creationId xmlns:a16="http://schemas.microsoft.com/office/drawing/2014/main" id="{F4A32E70-73DF-EEF4-A49F-9A3DB2B6045A}"/>
              </a:ext>
            </a:extLst>
          </p:cNvPr>
          <p:cNvSpPr/>
          <p:nvPr/>
        </p:nvSpPr>
        <p:spPr>
          <a:xfrm>
            <a:off x="5285526" y="1993486"/>
            <a:ext cx="2664296" cy="792088"/>
          </a:xfrm>
          <a:prstGeom prst="fram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6" name="Frame 5">
            <a:extLst>
              <a:ext uri="{FF2B5EF4-FFF2-40B4-BE49-F238E27FC236}">
                <a16:creationId xmlns:a16="http://schemas.microsoft.com/office/drawing/2014/main" id="{8B0ADB75-1626-DCE4-B47C-2414FAF8931F}"/>
              </a:ext>
            </a:extLst>
          </p:cNvPr>
          <p:cNvSpPr/>
          <p:nvPr/>
        </p:nvSpPr>
        <p:spPr>
          <a:xfrm>
            <a:off x="5285526" y="3567481"/>
            <a:ext cx="2664296" cy="792088"/>
          </a:xfrm>
          <a:prstGeom prst="fram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n w="0"/>
              <a:solidFill>
                <a:srgbClr val="FF0000"/>
              </a:solidFill>
              <a:effectLst>
                <a:outerShdw blurRad="38100" dist="19050" dir="2700000" algn="tl" rotWithShape="0">
                  <a:schemeClr val="dk1">
                    <a:alpha val="40000"/>
                  </a:schemeClr>
                </a:outerShdw>
              </a:effectLst>
            </a:endParaRPr>
          </a:p>
        </p:txBody>
      </p:sp>
      <p:sp>
        <p:nvSpPr>
          <p:cNvPr id="7" name="TextBox 6">
            <a:extLst>
              <a:ext uri="{FF2B5EF4-FFF2-40B4-BE49-F238E27FC236}">
                <a16:creationId xmlns:a16="http://schemas.microsoft.com/office/drawing/2014/main" id="{3780FEA5-363F-7ADC-6FD7-E3F0E104D126}"/>
              </a:ext>
            </a:extLst>
          </p:cNvPr>
          <p:cNvSpPr txBox="1"/>
          <p:nvPr/>
        </p:nvSpPr>
        <p:spPr>
          <a:xfrm>
            <a:off x="5821203" y="2216653"/>
            <a:ext cx="1594154" cy="369332"/>
          </a:xfrm>
          <a:prstGeom prst="rect">
            <a:avLst/>
          </a:prstGeom>
          <a:noFill/>
        </p:spPr>
        <p:txBody>
          <a:bodyPr wrap="none" rtlCol="0">
            <a:spAutoFit/>
          </a:bodyPr>
          <a:lstStyle/>
          <a:p>
            <a:r>
              <a:rPr lang="en-US" dirty="0"/>
              <a:t>ACTIVE GROUP</a:t>
            </a:r>
          </a:p>
        </p:txBody>
      </p:sp>
      <p:sp>
        <p:nvSpPr>
          <p:cNvPr id="8" name="TextBox 7">
            <a:extLst>
              <a:ext uri="{FF2B5EF4-FFF2-40B4-BE49-F238E27FC236}">
                <a16:creationId xmlns:a16="http://schemas.microsoft.com/office/drawing/2014/main" id="{1A824253-FB3B-F3C0-FF58-70B13EE3BBA5}"/>
              </a:ext>
            </a:extLst>
          </p:cNvPr>
          <p:cNvSpPr txBox="1"/>
          <p:nvPr/>
        </p:nvSpPr>
        <p:spPr>
          <a:xfrm>
            <a:off x="5800641" y="3782695"/>
            <a:ext cx="1832425" cy="369332"/>
          </a:xfrm>
          <a:prstGeom prst="rect">
            <a:avLst/>
          </a:prstGeom>
          <a:noFill/>
        </p:spPr>
        <p:txBody>
          <a:bodyPr wrap="none" rtlCol="0">
            <a:spAutoFit/>
          </a:bodyPr>
          <a:lstStyle/>
          <a:p>
            <a:r>
              <a:rPr lang="en-US" dirty="0"/>
              <a:t>CONTROL GROUP</a:t>
            </a:r>
          </a:p>
        </p:txBody>
      </p:sp>
      <p:cxnSp>
        <p:nvCxnSpPr>
          <p:cNvPr id="10" name="Straight Arrow Connector 9">
            <a:extLst>
              <a:ext uri="{FF2B5EF4-FFF2-40B4-BE49-F238E27FC236}">
                <a16:creationId xmlns:a16="http://schemas.microsoft.com/office/drawing/2014/main" id="{A7A8DBC5-A8E6-042E-8E25-8C1084945B34}"/>
              </a:ext>
            </a:extLst>
          </p:cNvPr>
          <p:cNvCxnSpPr/>
          <p:nvPr/>
        </p:nvCxnSpPr>
        <p:spPr>
          <a:xfrm>
            <a:off x="3296816" y="2600908"/>
            <a:ext cx="16561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8A1B5BD-C2E6-6573-11B7-3D3D8BA598BF}"/>
              </a:ext>
            </a:extLst>
          </p:cNvPr>
          <p:cNvCxnSpPr/>
          <p:nvPr/>
        </p:nvCxnSpPr>
        <p:spPr>
          <a:xfrm>
            <a:off x="3365195" y="3992920"/>
            <a:ext cx="16561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11751EEC-F6D1-3605-11F0-33961473DA4A}"/>
              </a:ext>
            </a:extLst>
          </p:cNvPr>
          <p:cNvSpPr txBox="1"/>
          <p:nvPr/>
        </p:nvSpPr>
        <p:spPr>
          <a:xfrm>
            <a:off x="3401270" y="2216653"/>
            <a:ext cx="1156983" cy="369332"/>
          </a:xfrm>
          <a:prstGeom prst="rect">
            <a:avLst/>
          </a:prstGeom>
          <a:noFill/>
        </p:spPr>
        <p:txBody>
          <a:bodyPr wrap="none" rtlCol="0">
            <a:spAutoFit/>
          </a:bodyPr>
          <a:lstStyle/>
          <a:p>
            <a:r>
              <a:rPr lang="en-US" dirty="0"/>
              <a:t>Treatment</a:t>
            </a:r>
          </a:p>
        </p:txBody>
      </p:sp>
      <p:sp>
        <p:nvSpPr>
          <p:cNvPr id="16" name="TextBox 15">
            <a:extLst>
              <a:ext uri="{FF2B5EF4-FFF2-40B4-BE49-F238E27FC236}">
                <a16:creationId xmlns:a16="http://schemas.microsoft.com/office/drawing/2014/main" id="{77E5034D-B0D2-FD55-D0EC-C67C0A1B40B9}"/>
              </a:ext>
            </a:extLst>
          </p:cNvPr>
          <p:cNvSpPr txBox="1"/>
          <p:nvPr/>
        </p:nvSpPr>
        <p:spPr>
          <a:xfrm>
            <a:off x="3350334" y="4053006"/>
            <a:ext cx="1662011" cy="369332"/>
          </a:xfrm>
          <a:prstGeom prst="rect">
            <a:avLst/>
          </a:prstGeom>
          <a:noFill/>
        </p:spPr>
        <p:txBody>
          <a:bodyPr wrap="square" rtlCol="0">
            <a:spAutoFit/>
          </a:bodyPr>
          <a:lstStyle/>
          <a:p>
            <a:r>
              <a:rPr lang="en-US" dirty="0"/>
              <a:t>No Treatment</a:t>
            </a:r>
          </a:p>
        </p:txBody>
      </p:sp>
      <p:sp>
        <p:nvSpPr>
          <p:cNvPr id="17" name="Rounded Rectangle 16">
            <a:extLst>
              <a:ext uri="{FF2B5EF4-FFF2-40B4-BE49-F238E27FC236}">
                <a16:creationId xmlns:a16="http://schemas.microsoft.com/office/drawing/2014/main" id="{D69574EB-3DE5-0B43-C087-7B67D9B8EDDA}"/>
              </a:ext>
            </a:extLst>
          </p:cNvPr>
          <p:cNvSpPr/>
          <p:nvPr/>
        </p:nvSpPr>
        <p:spPr>
          <a:xfrm>
            <a:off x="991249" y="2202236"/>
            <a:ext cx="1944216" cy="2304253"/>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D39A37F2-15B0-9391-C235-8EF0A707E2F9}"/>
              </a:ext>
            </a:extLst>
          </p:cNvPr>
          <p:cNvSpPr txBox="1"/>
          <p:nvPr/>
        </p:nvSpPr>
        <p:spPr>
          <a:xfrm>
            <a:off x="1221587" y="2448496"/>
            <a:ext cx="1654872" cy="1354217"/>
          </a:xfrm>
          <a:prstGeom prst="rect">
            <a:avLst/>
          </a:prstGeom>
          <a:noFill/>
        </p:spPr>
        <p:txBody>
          <a:bodyPr wrap="square" rtlCol="0">
            <a:spAutoFit/>
          </a:bodyPr>
          <a:lstStyle/>
          <a:p>
            <a:r>
              <a:rPr lang="en-US" sz="2800" dirty="0"/>
              <a:t>Subjects</a:t>
            </a:r>
          </a:p>
          <a:p>
            <a:endParaRPr lang="en-US" dirty="0"/>
          </a:p>
          <a:p>
            <a:r>
              <a:rPr lang="en-US" dirty="0"/>
              <a:t>  </a:t>
            </a:r>
            <a:r>
              <a:rPr lang="en-US" i="1" dirty="0"/>
              <a:t>Randomly </a:t>
            </a:r>
          </a:p>
          <a:p>
            <a:r>
              <a:rPr lang="en-US" i="1" dirty="0"/>
              <a:t>   Assigned</a:t>
            </a:r>
          </a:p>
        </p:txBody>
      </p:sp>
      <p:sp>
        <p:nvSpPr>
          <p:cNvPr id="20" name="TextBox 19">
            <a:extLst>
              <a:ext uri="{FF2B5EF4-FFF2-40B4-BE49-F238E27FC236}">
                <a16:creationId xmlns:a16="http://schemas.microsoft.com/office/drawing/2014/main" id="{ED9FE1B9-BECD-9B84-12B4-E31E19610088}"/>
              </a:ext>
            </a:extLst>
          </p:cNvPr>
          <p:cNvSpPr txBox="1"/>
          <p:nvPr/>
        </p:nvSpPr>
        <p:spPr>
          <a:xfrm>
            <a:off x="37656" y="5869721"/>
            <a:ext cx="6499520" cy="1015663"/>
          </a:xfrm>
          <a:prstGeom prst="rect">
            <a:avLst/>
          </a:prstGeom>
          <a:solidFill>
            <a:schemeClr val="accent5">
              <a:lumMod val="20000"/>
              <a:lumOff val="80000"/>
            </a:schemeClr>
          </a:solidFill>
        </p:spPr>
        <p:txBody>
          <a:bodyPr wrap="square" rtlCol="0">
            <a:spAutoFit/>
          </a:bodyPr>
          <a:lstStyle/>
          <a:p>
            <a:pPr marL="34290" algn="ctr"/>
            <a:r>
              <a:rPr lang="en-GB" sz="2000" b="0" i="0" u="none" strike="noStrike" dirty="0">
                <a:solidFill>
                  <a:srgbClr val="212121"/>
                </a:solidFill>
                <a:effectLst/>
                <a:latin typeface="Aptos" panose="020B0004020202020204" pitchFamily="34" charset="0"/>
              </a:rPr>
              <a:t>“</a:t>
            </a:r>
            <a:r>
              <a:rPr lang="en-GB" sz="2000" b="1" i="1" u="none" strike="noStrike" dirty="0">
                <a:solidFill>
                  <a:srgbClr val="212121"/>
                </a:solidFill>
                <a:effectLst/>
                <a:latin typeface="Aptos" panose="020B0004020202020204" pitchFamily="34" charset="0"/>
              </a:rPr>
              <a:t>In a perfect experiment all the variability should be random  excluding that caused by the treatment/exposure (systematic error)</a:t>
            </a:r>
            <a:r>
              <a:rPr lang="en-GB" sz="2000" b="1" i="0" u="none" strike="noStrike" dirty="0">
                <a:solidFill>
                  <a:srgbClr val="212121"/>
                </a:solidFill>
                <a:effectLst/>
                <a:latin typeface="Aptos" panose="020B0004020202020204" pitchFamily="34" charset="0"/>
              </a:rPr>
              <a:t>”</a:t>
            </a:r>
            <a:endParaRPr lang="en-GB" sz="2000" b="0" i="0" u="none" strike="noStrike" dirty="0">
              <a:solidFill>
                <a:srgbClr val="212121"/>
              </a:solidFill>
              <a:effectLst/>
              <a:latin typeface="Aptos" panose="020B0004020202020204" pitchFamily="34" charset="0"/>
            </a:endParaRPr>
          </a:p>
        </p:txBody>
      </p:sp>
      <p:sp>
        <p:nvSpPr>
          <p:cNvPr id="9" name="TextBox 8">
            <a:extLst>
              <a:ext uri="{FF2B5EF4-FFF2-40B4-BE49-F238E27FC236}">
                <a16:creationId xmlns:a16="http://schemas.microsoft.com/office/drawing/2014/main" id="{9667667C-18A4-D567-8D10-C45F12B8C97A}"/>
              </a:ext>
            </a:extLst>
          </p:cNvPr>
          <p:cNvSpPr txBox="1"/>
          <p:nvPr/>
        </p:nvSpPr>
        <p:spPr>
          <a:xfrm>
            <a:off x="3193227" y="2871598"/>
            <a:ext cx="4929437" cy="646331"/>
          </a:xfrm>
          <a:prstGeom prst="rect">
            <a:avLst/>
          </a:prstGeom>
          <a:noFill/>
          <a:ln>
            <a:solidFill>
              <a:srgbClr val="FF0000"/>
            </a:solidFill>
          </a:ln>
        </p:spPr>
        <p:txBody>
          <a:bodyPr wrap="square" rtlCol="0">
            <a:spAutoFit/>
          </a:bodyPr>
          <a:lstStyle/>
          <a:p>
            <a:r>
              <a:rPr lang="en-GB" sz="1800" i="0" u="none" strike="noStrike" dirty="0">
                <a:solidFill>
                  <a:srgbClr val="212121"/>
                </a:solidFill>
                <a:effectLst/>
                <a:latin typeface="Aptos" panose="020B0004020202020204" pitchFamily="34" charset="0"/>
              </a:rPr>
              <a:t>Systematic error due to treatment. </a:t>
            </a:r>
            <a:r>
              <a:rPr lang="en-GB" dirty="0">
                <a:solidFill>
                  <a:srgbClr val="212121"/>
                </a:solidFill>
                <a:latin typeface="Aptos" panose="020B0004020202020204" pitchFamily="34" charset="0"/>
              </a:rPr>
              <a:t>The</a:t>
            </a:r>
            <a:r>
              <a:rPr lang="en-GB" sz="1800" i="0" u="none" strike="noStrike" dirty="0">
                <a:solidFill>
                  <a:srgbClr val="212121"/>
                </a:solidFill>
                <a:effectLst/>
                <a:latin typeface="Aptos" panose="020B0004020202020204" pitchFamily="34" charset="0"/>
              </a:rPr>
              <a:t> goal is to detect and estimate this systematic error!!!</a:t>
            </a:r>
            <a:endParaRPr lang="en-US" dirty="0"/>
          </a:p>
        </p:txBody>
      </p:sp>
      <p:cxnSp>
        <p:nvCxnSpPr>
          <p:cNvPr id="12" name="Curved Connector 11">
            <a:extLst>
              <a:ext uri="{FF2B5EF4-FFF2-40B4-BE49-F238E27FC236}">
                <a16:creationId xmlns:a16="http://schemas.microsoft.com/office/drawing/2014/main" id="{379155B7-13DE-37E1-1FB8-15EC91BAEE1F}"/>
              </a:ext>
            </a:extLst>
          </p:cNvPr>
          <p:cNvCxnSpPr>
            <a:cxnSpLocks/>
          </p:cNvCxnSpPr>
          <p:nvPr/>
        </p:nvCxnSpPr>
        <p:spPr>
          <a:xfrm rot="10800000" flipV="1">
            <a:off x="8122664" y="1496385"/>
            <a:ext cx="920281" cy="900223"/>
          </a:xfrm>
          <a:prstGeom prst="curvedConnector3">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urved Connector 18">
            <a:extLst>
              <a:ext uri="{FF2B5EF4-FFF2-40B4-BE49-F238E27FC236}">
                <a16:creationId xmlns:a16="http://schemas.microsoft.com/office/drawing/2014/main" id="{76C41551-DEB1-5150-9AD7-5FE39CCD9957}"/>
              </a:ext>
            </a:extLst>
          </p:cNvPr>
          <p:cNvCxnSpPr>
            <a:cxnSpLocks/>
          </p:cNvCxnSpPr>
          <p:nvPr/>
        </p:nvCxnSpPr>
        <p:spPr>
          <a:xfrm rot="16200000" flipH="1">
            <a:off x="3314202" y="1500226"/>
            <a:ext cx="670738" cy="614777"/>
          </a:xfrm>
          <a:prstGeom prst="curvedConnector3">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06CBF569-241C-9300-1F86-1D5284B4BEC6}"/>
              </a:ext>
            </a:extLst>
          </p:cNvPr>
          <p:cNvSpPr txBox="1"/>
          <p:nvPr/>
        </p:nvSpPr>
        <p:spPr>
          <a:xfrm>
            <a:off x="2576736" y="1075146"/>
            <a:ext cx="1584176" cy="369332"/>
          </a:xfrm>
          <a:prstGeom prst="rect">
            <a:avLst/>
          </a:prstGeom>
          <a:noFill/>
          <a:ln w="25400">
            <a:solidFill>
              <a:srgbClr val="92D050"/>
            </a:solidFill>
          </a:ln>
        </p:spPr>
        <p:txBody>
          <a:bodyPr wrap="square" rtlCol="0">
            <a:spAutoFit/>
          </a:bodyPr>
          <a:lstStyle/>
          <a:p>
            <a:pPr algn="ctr"/>
            <a:r>
              <a:rPr lang="en-US" dirty="0"/>
              <a:t>Random error</a:t>
            </a:r>
          </a:p>
        </p:txBody>
      </p:sp>
      <p:sp>
        <p:nvSpPr>
          <p:cNvPr id="22" name="TextBox 21">
            <a:extLst>
              <a:ext uri="{FF2B5EF4-FFF2-40B4-BE49-F238E27FC236}">
                <a16:creationId xmlns:a16="http://schemas.microsoft.com/office/drawing/2014/main" id="{A26C3892-DA3D-29A4-59C8-E8EBB13F7987}"/>
              </a:ext>
            </a:extLst>
          </p:cNvPr>
          <p:cNvSpPr txBox="1"/>
          <p:nvPr/>
        </p:nvSpPr>
        <p:spPr>
          <a:xfrm>
            <a:off x="8265368" y="980728"/>
            <a:ext cx="1584176" cy="369332"/>
          </a:xfrm>
          <a:prstGeom prst="rect">
            <a:avLst/>
          </a:prstGeom>
          <a:noFill/>
          <a:ln w="25400">
            <a:solidFill>
              <a:srgbClr val="92D050"/>
            </a:solidFill>
          </a:ln>
        </p:spPr>
        <p:txBody>
          <a:bodyPr wrap="square" rtlCol="0">
            <a:spAutoFit/>
          </a:bodyPr>
          <a:lstStyle/>
          <a:p>
            <a:r>
              <a:rPr lang="en-US" dirty="0"/>
              <a:t>Random error</a:t>
            </a:r>
          </a:p>
        </p:txBody>
      </p:sp>
      <p:sp>
        <p:nvSpPr>
          <p:cNvPr id="11" name="TextBox 10">
            <a:extLst>
              <a:ext uri="{FF2B5EF4-FFF2-40B4-BE49-F238E27FC236}">
                <a16:creationId xmlns:a16="http://schemas.microsoft.com/office/drawing/2014/main" id="{D8D2A786-9253-2B28-CBCA-513F22E50925}"/>
              </a:ext>
            </a:extLst>
          </p:cNvPr>
          <p:cNvSpPr txBox="1"/>
          <p:nvPr/>
        </p:nvSpPr>
        <p:spPr>
          <a:xfrm>
            <a:off x="2942658" y="5075892"/>
            <a:ext cx="1722310" cy="369332"/>
          </a:xfrm>
          <a:prstGeom prst="rect">
            <a:avLst/>
          </a:prstGeom>
          <a:noFill/>
          <a:ln w="25400">
            <a:solidFill>
              <a:srgbClr val="92D050"/>
            </a:solidFill>
          </a:ln>
        </p:spPr>
        <p:txBody>
          <a:bodyPr wrap="square" rtlCol="0">
            <a:spAutoFit/>
          </a:bodyPr>
          <a:lstStyle/>
          <a:p>
            <a:pPr algn="ctr"/>
            <a:r>
              <a:rPr lang="en-US" dirty="0"/>
              <a:t>Random error</a:t>
            </a:r>
          </a:p>
        </p:txBody>
      </p:sp>
      <p:sp>
        <p:nvSpPr>
          <p:cNvPr id="13" name="TextBox 12">
            <a:extLst>
              <a:ext uri="{FF2B5EF4-FFF2-40B4-BE49-F238E27FC236}">
                <a16:creationId xmlns:a16="http://schemas.microsoft.com/office/drawing/2014/main" id="{F365B75D-86AD-E5E7-A3DC-40A01B094B10}"/>
              </a:ext>
            </a:extLst>
          </p:cNvPr>
          <p:cNvSpPr txBox="1"/>
          <p:nvPr/>
        </p:nvSpPr>
        <p:spPr>
          <a:xfrm>
            <a:off x="8265368" y="4715852"/>
            <a:ext cx="1525897" cy="369332"/>
          </a:xfrm>
          <a:prstGeom prst="rect">
            <a:avLst/>
          </a:prstGeom>
          <a:noFill/>
          <a:ln w="25400">
            <a:solidFill>
              <a:srgbClr val="92D050"/>
            </a:solidFill>
          </a:ln>
        </p:spPr>
        <p:txBody>
          <a:bodyPr wrap="square" rtlCol="0">
            <a:spAutoFit/>
          </a:bodyPr>
          <a:lstStyle/>
          <a:p>
            <a:pPr algn="just"/>
            <a:r>
              <a:rPr lang="en-US" dirty="0"/>
              <a:t>Random error</a:t>
            </a:r>
          </a:p>
        </p:txBody>
      </p:sp>
      <p:cxnSp>
        <p:nvCxnSpPr>
          <p:cNvPr id="24" name="Curved Connector 23">
            <a:extLst>
              <a:ext uri="{FF2B5EF4-FFF2-40B4-BE49-F238E27FC236}">
                <a16:creationId xmlns:a16="http://schemas.microsoft.com/office/drawing/2014/main" id="{16D02E07-F653-5091-D69C-9394EF2A2CA7}"/>
              </a:ext>
            </a:extLst>
          </p:cNvPr>
          <p:cNvCxnSpPr>
            <a:cxnSpLocks/>
          </p:cNvCxnSpPr>
          <p:nvPr/>
        </p:nvCxnSpPr>
        <p:spPr>
          <a:xfrm rot="10800000">
            <a:off x="8081942" y="3992920"/>
            <a:ext cx="759492" cy="570448"/>
          </a:xfrm>
          <a:prstGeom prst="curvedConnector3">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urved Connector 25">
            <a:extLst>
              <a:ext uri="{FF2B5EF4-FFF2-40B4-BE49-F238E27FC236}">
                <a16:creationId xmlns:a16="http://schemas.microsoft.com/office/drawing/2014/main" id="{35E17A62-EA00-E7A4-68AA-1F7B0F2000BA}"/>
              </a:ext>
            </a:extLst>
          </p:cNvPr>
          <p:cNvCxnSpPr>
            <a:cxnSpLocks/>
          </p:cNvCxnSpPr>
          <p:nvPr/>
        </p:nvCxnSpPr>
        <p:spPr>
          <a:xfrm rot="5400000" flipH="1" flipV="1">
            <a:off x="3652906" y="4619543"/>
            <a:ext cx="450393" cy="203322"/>
          </a:xfrm>
          <a:prstGeom prst="curvedConnector3">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90BFAA86-0BC7-B1D0-BAE9-242132FDACD3}"/>
              </a:ext>
            </a:extLst>
          </p:cNvPr>
          <p:cNvSpPr txBox="1"/>
          <p:nvPr/>
        </p:nvSpPr>
        <p:spPr>
          <a:xfrm>
            <a:off x="1208584" y="3923764"/>
            <a:ext cx="1584176" cy="369332"/>
          </a:xfrm>
          <a:prstGeom prst="rect">
            <a:avLst/>
          </a:prstGeom>
          <a:noFill/>
          <a:ln w="25400">
            <a:solidFill>
              <a:srgbClr val="92D050"/>
            </a:solidFill>
          </a:ln>
        </p:spPr>
        <p:txBody>
          <a:bodyPr wrap="square" rtlCol="0">
            <a:spAutoFit/>
          </a:bodyPr>
          <a:lstStyle/>
          <a:p>
            <a:pPr algn="ctr"/>
            <a:r>
              <a:rPr lang="en-US" dirty="0"/>
              <a:t>Random error</a:t>
            </a:r>
          </a:p>
        </p:txBody>
      </p:sp>
    </p:spTree>
    <p:extLst>
      <p:ext uri="{BB962C8B-B14F-4D97-AF65-F5344CB8AC3E}">
        <p14:creationId xmlns:p14="http://schemas.microsoft.com/office/powerpoint/2010/main" val="2457638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B38020-253B-1104-A3E2-703F70BBD9E5}"/>
              </a:ext>
            </a:extLst>
          </p:cNvPr>
          <p:cNvSpPr>
            <a:spLocks noGrp="1"/>
          </p:cNvSpPr>
          <p:nvPr>
            <p:ph type="sldNum" sz="quarter" idx="4"/>
          </p:nvPr>
        </p:nvSpPr>
        <p:spPr/>
        <p:txBody>
          <a:bodyPr/>
          <a:lstStyle/>
          <a:p>
            <a:fld id="{C231324C-4752-C242-8156-5E21DB4253A5}" type="slidenum">
              <a:rPr lang="en-GB" smtClean="0"/>
              <a:pPr/>
              <a:t>11</a:t>
            </a:fld>
            <a:endParaRPr lang="en-GB" dirty="0"/>
          </a:p>
        </p:txBody>
      </p:sp>
      <p:sp>
        <p:nvSpPr>
          <p:cNvPr id="5" name="Rectangle 9">
            <a:extLst>
              <a:ext uri="{FF2B5EF4-FFF2-40B4-BE49-F238E27FC236}">
                <a16:creationId xmlns:a16="http://schemas.microsoft.com/office/drawing/2014/main" id="{38E81EEB-EB01-B831-3242-ABCDAFD23F18}"/>
              </a:ext>
            </a:extLst>
          </p:cNvPr>
          <p:cNvSpPr>
            <a:spLocks noGrp="1" noRot="1" noChangeArrowheads="1"/>
          </p:cNvSpPr>
          <p:nvPr>
            <p:ph type="title"/>
          </p:nvPr>
        </p:nvSpPr>
        <p:spPr>
          <a:xfrm>
            <a:off x="76200" y="76200"/>
            <a:ext cx="9625136" cy="609600"/>
          </a:xfrm>
          <a:noFill/>
          <a:ln>
            <a:noFill/>
          </a:ln>
        </p:spPr>
        <p:txBody>
          <a:bodyPr anchor="ctr"/>
          <a:lstStyle/>
          <a:p>
            <a:pPr algn="ctr" eaLnBrk="1" hangingPunct="1"/>
            <a:r>
              <a:rPr lang="it-IT" altLang="it-IT" sz="3500" dirty="0">
                <a:solidFill>
                  <a:schemeClr val="tx2"/>
                </a:solidFill>
              </a:rPr>
              <a:t>Definition of </a:t>
            </a:r>
            <a:r>
              <a:rPr lang="it-IT" altLang="it-IT" sz="3500" dirty="0" err="1">
                <a:solidFill>
                  <a:schemeClr val="tx2"/>
                </a:solidFill>
              </a:rPr>
              <a:t>internal</a:t>
            </a:r>
            <a:r>
              <a:rPr lang="it-IT" altLang="it-IT" sz="3500" dirty="0">
                <a:solidFill>
                  <a:schemeClr val="tx2"/>
                </a:solidFill>
              </a:rPr>
              <a:t> </a:t>
            </a:r>
            <a:r>
              <a:rPr lang="it-IT" altLang="it-IT" sz="3500" dirty="0" err="1">
                <a:solidFill>
                  <a:schemeClr val="tx2"/>
                </a:solidFill>
              </a:rPr>
              <a:t>validity</a:t>
            </a:r>
            <a:r>
              <a:rPr lang="it-IT" altLang="it-IT" sz="3500" dirty="0">
                <a:solidFill>
                  <a:schemeClr val="tx2"/>
                </a:solidFill>
              </a:rPr>
              <a:t> for an </a:t>
            </a:r>
            <a:r>
              <a:rPr lang="it-IT" altLang="it-IT" sz="3500" dirty="0" err="1">
                <a:solidFill>
                  <a:schemeClr val="tx2"/>
                </a:solidFill>
              </a:rPr>
              <a:t>experiment</a:t>
            </a:r>
            <a:endParaRPr lang="it-IT" altLang="it-IT" sz="3500" dirty="0">
              <a:solidFill>
                <a:schemeClr val="tx2"/>
              </a:solidFill>
            </a:endParaRPr>
          </a:p>
        </p:txBody>
      </p:sp>
      <p:sp>
        <p:nvSpPr>
          <p:cNvPr id="6" name="Rectangle 10">
            <a:extLst>
              <a:ext uri="{FF2B5EF4-FFF2-40B4-BE49-F238E27FC236}">
                <a16:creationId xmlns:a16="http://schemas.microsoft.com/office/drawing/2014/main" id="{569CF256-EABD-33AA-507A-0AAE6C056BEE}"/>
              </a:ext>
            </a:extLst>
          </p:cNvPr>
          <p:cNvSpPr>
            <a:spLocks noChangeArrowheads="1"/>
          </p:cNvSpPr>
          <p:nvPr/>
        </p:nvSpPr>
        <p:spPr bwMode="auto">
          <a:xfrm>
            <a:off x="152400" y="914400"/>
            <a:ext cx="9625136" cy="1569660"/>
          </a:xfrm>
          <a:prstGeom prst="rect">
            <a:avLst/>
          </a:prstGeom>
          <a:noFill/>
          <a:ln w="9525">
            <a:solidFill>
              <a:schemeClr val="bg1"/>
            </a:solidFill>
            <a:miter lim="800000"/>
            <a:headEnd/>
            <a:tailEnd/>
          </a:ln>
          <a:effectLst/>
        </p:spPr>
        <p:txBody>
          <a:bodyPr wrap="square">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r>
              <a:rPr lang="it-IT" altLang="it-IT" sz="2400" dirty="0">
                <a:solidFill>
                  <a:schemeClr val="tx2"/>
                </a:solidFill>
              </a:rPr>
              <a:t>The </a:t>
            </a:r>
            <a:r>
              <a:rPr lang="it-IT" altLang="it-IT" sz="2400" dirty="0" err="1">
                <a:solidFill>
                  <a:schemeClr val="tx2"/>
                </a:solidFill>
              </a:rPr>
              <a:t>differences</a:t>
            </a:r>
            <a:r>
              <a:rPr lang="it-IT" altLang="it-IT" sz="2400" dirty="0">
                <a:solidFill>
                  <a:schemeClr val="tx2"/>
                </a:solidFill>
              </a:rPr>
              <a:t> </a:t>
            </a:r>
            <a:r>
              <a:rPr lang="it-IT" altLang="it-IT" sz="2400" dirty="0" err="1">
                <a:solidFill>
                  <a:schemeClr val="tx2"/>
                </a:solidFill>
              </a:rPr>
              <a:t>observed</a:t>
            </a:r>
            <a:r>
              <a:rPr lang="it-IT" altLang="it-IT" sz="2400" dirty="0">
                <a:solidFill>
                  <a:schemeClr val="tx2"/>
                </a:solidFill>
              </a:rPr>
              <a:t> </a:t>
            </a:r>
            <a:r>
              <a:rPr lang="it-IT" altLang="it-IT" sz="2400" dirty="0" err="1">
                <a:solidFill>
                  <a:schemeClr val="tx2"/>
                </a:solidFill>
              </a:rPr>
              <a:t>between</a:t>
            </a:r>
            <a:r>
              <a:rPr lang="it-IT" altLang="it-IT" sz="2400" dirty="0">
                <a:solidFill>
                  <a:schemeClr val="tx2"/>
                </a:solidFill>
              </a:rPr>
              <a:t> </a:t>
            </a:r>
            <a:r>
              <a:rPr lang="it-IT" altLang="it-IT" sz="2400" dirty="0" err="1">
                <a:solidFill>
                  <a:schemeClr val="tx2"/>
                </a:solidFill>
              </a:rPr>
              <a:t>experimental</a:t>
            </a:r>
            <a:r>
              <a:rPr lang="it-IT" altLang="it-IT" sz="2400" dirty="0">
                <a:solidFill>
                  <a:schemeClr val="tx2"/>
                </a:solidFill>
              </a:rPr>
              <a:t> groups </a:t>
            </a:r>
            <a:r>
              <a:rPr lang="it-IT" altLang="it-IT" sz="2400" dirty="0" err="1">
                <a:solidFill>
                  <a:schemeClr val="tx2"/>
                </a:solidFill>
              </a:rPr>
              <a:t>allocated</a:t>
            </a:r>
            <a:r>
              <a:rPr lang="it-IT" altLang="it-IT" sz="2400" dirty="0">
                <a:solidFill>
                  <a:schemeClr val="tx2"/>
                </a:solidFill>
              </a:rPr>
              <a:t> to </a:t>
            </a:r>
            <a:r>
              <a:rPr lang="it-IT" altLang="it-IT" sz="2400" dirty="0" err="1">
                <a:solidFill>
                  <a:schemeClr val="tx2"/>
                </a:solidFill>
              </a:rPr>
              <a:t>different</a:t>
            </a:r>
            <a:r>
              <a:rPr lang="it-IT" altLang="it-IT" sz="2400" dirty="0">
                <a:solidFill>
                  <a:schemeClr val="tx2"/>
                </a:solidFill>
              </a:rPr>
              <a:t> </a:t>
            </a:r>
            <a:r>
              <a:rPr lang="it-IT" altLang="it-IT" sz="2400" dirty="0" err="1">
                <a:solidFill>
                  <a:schemeClr val="tx2"/>
                </a:solidFill>
              </a:rPr>
              <a:t>interventions</a:t>
            </a:r>
            <a:r>
              <a:rPr lang="it-IT" altLang="it-IT" sz="2400" dirty="0">
                <a:solidFill>
                  <a:schemeClr val="tx2"/>
                </a:solidFill>
              </a:rPr>
              <a:t> </a:t>
            </a:r>
            <a:r>
              <a:rPr lang="it-IT" altLang="it-IT" sz="2400" dirty="0" err="1">
                <a:solidFill>
                  <a:schemeClr val="tx2"/>
                </a:solidFill>
              </a:rPr>
              <a:t>may</a:t>
            </a:r>
            <a:r>
              <a:rPr lang="it-IT" altLang="it-IT" sz="2400" dirty="0">
                <a:solidFill>
                  <a:schemeClr val="tx2"/>
                </a:solidFill>
              </a:rPr>
              <a:t>, </a:t>
            </a:r>
            <a:r>
              <a:rPr lang="it-IT" altLang="it-IT" sz="2400" b="1" dirty="0" err="1">
                <a:solidFill>
                  <a:schemeClr val="tx2"/>
                </a:solidFill>
              </a:rPr>
              <a:t>apart</a:t>
            </a:r>
            <a:r>
              <a:rPr lang="it-IT" altLang="it-IT" sz="2400" b="1" dirty="0">
                <a:solidFill>
                  <a:schemeClr val="tx2"/>
                </a:solidFill>
              </a:rPr>
              <a:t> from random </a:t>
            </a:r>
            <a:r>
              <a:rPr lang="it-IT" altLang="it-IT" sz="2400" b="1" dirty="0" err="1">
                <a:solidFill>
                  <a:schemeClr val="tx2"/>
                </a:solidFill>
              </a:rPr>
              <a:t>error</a:t>
            </a:r>
            <a:r>
              <a:rPr lang="it-IT" altLang="it-IT" sz="2400" dirty="0">
                <a:solidFill>
                  <a:schemeClr val="tx2"/>
                </a:solidFill>
              </a:rPr>
              <a:t>, be </a:t>
            </a:r>
            <a:r>
              <a:rPr lang="it-IT" altLang="it-IT" sz="2400" dirty="0" err="1">
                <a:solidFill>
                  <a:schemeClr val="tx2"/>
                </a:solidFill>
              </a:rPr>
              <a:t>attributed</a:t>
            </a:r>
            <a:r>
              <a:rPr lang="it-IT" altLang="it-IT" sz="2400" dirty="0">
                <a:solidFill>
                  <a:schemeClr val="tx2"/>
                </a:solidFill>
              </a:rPr>
              <a:t> to the treatment/</a:t>
            </a:r>
            <a:r>
              <a:rPr lang="it-IT" altLang="it-IT" sz="2400" dirty="0" err="1">
                <a:solidFill>
                  <a:schemeClr val="tx2"/>
                </a:solidFill>
              </a:rPr>
              <a:t>exposure</a:t>
            </a:r>
            <a:r>
              <a:rPr lang="it-IT" altLang="it-IT" sz="2400" dirty="0">
                <a:solidFill>
                  <a:schemeClr val="tx2"/>
                </a:solidFill>
              </a:rPr>
              <a:t> </a:t>
            </a:r>
            <a:r>
              <a:rPr lang="it-IT" altLang="it-IT" sz="2400" b="1" dirty="0">
                <a:solidFill>
                  <a:schemeClr val="tx2"/>
                </a:solidFill>
              </a:rPr>
              <a:t>(i.e. treatment/</a:t>
            </a:r>
            <a:r>
              <a:rPr lang="it-IT" altLang="it-IT" sz="2400" b="1" dirty="0" err="1">
                <a:solidFill>
                  <a:schemeClr val="tx2"/>
                </a:solidFill>
              </a:rPr>
              <a:t>exposure</a:t>
            </a:r>
            <a:r>
              <a:rPr lang="it-IT" altLang="it-IT" sz="2400" b="1" dirty="0">
                <a:solidFill>
                  <a:schemeClr val="tx2"/>
                </a:solidFill>
              </a:rPr>
              <a:t> </a:t>
            </a:r>
            <a:r>
              <a:rPr lang="it-IT" altLang="it-IT" sz="2400" b="1" dirty="0" err="1">
                <a:solidFill>
                  <a:schemeClr val="tx2"/>
                </a:solidFill>
              </a:rPr>
              <a:t>effect</a:t>
            </a:r>
            <a:r>
              <a:rPr lang="it-IT" altLang="it-IT" sz="2400" b="1" dirty="0">
                <a:solidFill>
                  <a:schemeClr val="tx2"/>
                </a:solidFill>
              </a:rPr>
              <a:t>)</a:t>
            </a:r>
            <a:r>
              <a:rPr lang="it-IT" altLang="it-IT" sz="2400" dirty="0">
                <a:solidFill>
                  <a:schemeClr val="tx2"/>
                </a:solidFill>
              </a:rPr>
              <a:t> under </a:t>
            </a:r>
            <a:r>
              <a:rPr lang="it-IT" altLang="it-IT" sz="2400" dirty="0" err="1">
                <a:solidFill>
                  <a:schemeClr val="tx2"/>
                </a:solidFill>
              </a:rPr>
              <a:t>investigation</a:t>
            </a:r>
            <a:endParaRPr lang="it-IT" altLang="it-IT" sz="2400" dirty="0">
              <a:solidFill>
                <a:schemeClr val="tx2"/>
              </a:solidFill>
            </a:endParaRPr>
          </a:p>
        </p:txBody>
      </p:sp>
      <p:sp>
        <p:nvSpPr>
          <p:cNvPr id="7" name="Rectangle 11">
            <a:extLst>
              <a:ext uri="{FF2B5EF4-FFF2-40B4-BE49-F238E27FC236}">
                <a16:creationId xmlns:a16="http://schemas.microsoft.com/office/drawing/2014/main" id="{DDD27510-953C-4DF3-DCCF-6CE9C5330834}"/>
              </a:ext>
            </a:extLst>
          </p:cNvPr>
          <p:cNvSpPr>
            <a:spLocks noChangeArrowheads="1"/>
          </p:cNvSpPr>
          <p:nvPr/>
        </p:nvSpPr>
        <p:spPr bwMode="auto">
          <a:xfrm>
            <a:off x="76200" y="6264275"/>
            <a:ext cx="8915400" cy="523220"/>
          </a:xfrm>
          <a:prstGeom prst="rect">
            <a:avLst/>
          </a:prstGeom>
          <a:noFill/>
          <a:ln w="9525">
            <a:noFill/>
            <a:miter lim="800000"/>
            <a:headEnd/>
            <a:tailEnd/>
          </a:ln>
          <a:effec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r>
              <a:rPr lang="it-IT" altLang="it-IT" sz="1400" dirty="0">
                <a:solidFill>
                  <a:schemeClr val="tx2"/>
                </a:solidFill>
              </a:rPr>
              <a:t>van </a:t>
            </a:r>
            <a:r>
              <a:rPr lang="it-IT" altLang="it-IT" sz="1400" dirty="0" err="1">
                <a:solidFill>
                  <a:schemeClr val="tx2"/>
                </a:solidFill>
              </a:rPr>
              <a:t>der</a:t>
            </a:r>
            <a:r>
              <a:rPr lang="it-IT" altLang="it-IT" sz="1400" dirty="0">
                <a:solidFill>
                  <a:schemeClr val="tx2"/>
                </a:solidFill>
              </a:rPr>
              <a:t> </a:t>
            </a:r>
            <a:r>
              <a:rPr lang="it-IT" altLang="it-IT" sz="1400" dirty="0" err="1">
                <a:solidFill>
                  <a:schemeClr val="tx2"/>
                </a:solidFill>
              </a:rPr>
              <a:t>Worp</a:t>
            </a:r>
            <a:r>
              <a:rPr lang="it-IT" altLang="it-IT" sz="1400" dirty="0">
                <a:solidFill>
                  <a:schemeClr val="tx2"/>
                </a:solidFill>
              </a:rPr>
              <a:t> HB, Howells DW, Sena ES, </a:t>
            </a:r>
            <a:r>
              <a:rPr lang="it-IT" altLang="it-IT" sz="1400" dirty="0" err="1">
                <a:solidFill>
                  <a:schemeClr val="tx2"/>
                </a:solidFill>
              </a:rPr>
              <a:t>Porritt</a:t>
            </a:r>
            <a:r>
              <a:rPr lang="it-IT" altLang="it-IT" sz="1400" dirty="0">
                <a:solidFill>
                  <a:schemeClr val="tx2"/>
                </a:solidFill>
              </a:rPr>
              <a:t> MJ, </a:t>
            </a:r>
            <a:r>
              <a:rPr lang="it-IT" altLang="it-IT" sz="1400" dirty="0" err="1">
                <a:solidFill>
                  <a:schemeClr val="tx2"/>
                </a:solidFill>
              </a:rPr>
              <a:t>Rewell</a:t>
            </a:r>
            <a:r>
              <a:rPr lang="it-IT" altLang="it-IT" sz="1400" dirty="0">
                <a:solidFill>
                  <a:schemeClr val="tx2"/>
                </a:solidFill>
              </a:rPr>
              <a:t> </a:t>
            </a:r>
            <a:r>
              <a:rPr lang="it-IT" altLang="it-IT" sz="1400" dirty="0" err="1">
                <a:solidFill>
                  <a:schemeClr val="tx2"/>
                </a:solidFill>
              </a:rPr>
              <a:t>S</a:t>
            </a:r>
            <a:r>
              <a:rPr lang="it-IT" altLang="it-IT" sz="1400" dirty="0">
                <a:solidFill>
                  <a:schemeClr val="tx2"/>
                </a:solidFill>
              </a:rPr>
              <a:t>, et al. (2010) Can Animal Models of </a:t>
            </a:r>
            <a:r>
              <a:rPr lang="it-IT" altLang="it-IT" sz="1400" dirty="0" err="1">
                <a:solidFill>
                  <a:schemeClr val="tx2"/>
                </a:solidFill>
              </a:rPr>
              <a:t>Disease</a:t>
            </a:r>
            <a:r>
              <a:rPr lang="it-IT" altLang="it-IT" sz="1400" dirty="0">
                <a:solidFill>
                  <a:schemeClr val="tx2"/>
                </a:solidFill>
              </a:rPr>
              <a:t> </a:t>
            </a:r>
            <a:r>
              <a:rPr lang="it-IT" altLang="it-IT" sz="1400" dirty="0" err="1">
                <a:solidFill>
                  <a:schemeClr val="tx2"/>
                </a:solidFill>
              </a:rPr>
              <a:t>Reliably</a:t>
            </a:r>
            <a:r>
              <a:rPr lang="it-IT" altLang="it-IT" sz="1400" dirty="0">
                <a:solidFill>
                  <a:schemeClr val="tx2"/>
                </a:solidFill>
              </a:rPr>
              <a:t> </a:t>
            </a:r>
            <a:r>
              <a:rPr lang="it-IT" altLang="it-IT" sz="1400" dirty="0" err="1">
                <a:solidFill>
                  <a:schemeClr val="tx2"/>
                </a:solidFill>
              </a:rPr>
              <a:t>Inform</a:t>
            </a:r>
            <a:r>
              <a:rPr lang="it-IT" altLang="it-IT" sz="1400" dirty="0">
                <a:solidFill>
                  <a:schemeClr val="tx2"/>
                </a:solidFill>
              </a:rPr>
              <a:t> Human Studies? PLoS </a:t>
            </a:r>
            <a:r>
              <a:rPr lang="it-IT" altLang="it-IT" sz="1400" dirty="0" err="1">
                <a:solidFill>
                  <a:schemeClr val="tx2"/>
                </a:solidFill>
              </a:rPr>
              <a:t>Med</a:t>
            </a:r>
            <a:r>
              <a:rPr lang="it-IT" altLang="it-IT" sz="1400" dirty="0">
                <a:solidFill>
                  <a:schemeClr val="tx2"/>
                </a:solidFill>
              </a:rPr>
              <a:t> 7(3): e1000245. doi:10.1371/journal.pmed.1000245</a:t>
            </a:r>
          </a:p>
        </p:txBody>
      </p:sp>
      <p:sp>
        <p:nvSpPr>
          <p:cNvPr id="8" name="TextBox 7">
            <a:extLst>
              <a:ext uri="{FF2B5EF4-FFF2-40B4-BE49-F238E27FC236}">
                <a16:creationId xmlns:a16="http://schemas.microsoft.com/office/drawing/2014/main" id="{F4C7B2DC-E732-7067-6071-F89B7EBC6CFB}"/>
              </a:ext>
            </a:extLst>
          </p:cNvPr>
          <p:cNvSpPr txBox="1"/>
          <p:nvPr/>
        </p:nvSpPr>
        <p:spPr>
          <a:xfrm>
            <a:off x="2000672" y="4713025"/>
            <a:ext cx="7128792" cy="369332"/>
          </a:xfrm>
          <a:prstGeom prst="rect">
            <a:avLst/>
          </a:prstGeom>
          <a:noFill/>
        </p:spPr>
        <p:txBody>
          <a:bodyPr wrap="square" rtlCol="0">
            <a:spAutoFit/>
          </a:bodyPr>
          <a:lstStyle/>
          <a:p>
            <a:r>
              <a:rPr lang="en-US" dirty="0">
                <a:solidFill>
                  <a:schemeClr val="tx2"/>
                </a:solidFill>
              </a:rPr>
              <a:t>What Fisher taught us about lack of internal validity</a:t>
            </a:r>
          </a:p>
        </p:txBody>
      </p:sp>
      <p:pic>
        <p:nvPicPr>
          <p:cNvPr id="9" name="Picture 3" descr="R._A._Fischer.jpg">
            <a:extLst>
              <a:ext uri="{FF2B5EF4-FFF2-40B4-BE49-F238E27FC236}">
                <a16:creationId xmlns:a16="http://schemas.microsoft.com/office/drawing/2014/main" id="{29F2BB3F-352D-D7C3-227D-17950EFFF839}"/>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4488" y="4043442"/>
            <a:ext cx="1479550" cy="180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Right Arrow 9">
            <a:extLst>
              <a:ext uri="{FF2B5EF4-FFF2-40B4-BE49-F238E27FC236}">
                <a16:creationId xmlns:a16="http://schemas.microsoft.com/office/drawing/2014/main" id="{61A496D6-8D61-D427-1B35-CB048477AF0B}"/>
              </a:ext>
            </a:extLst>
          </p:cNvPr>
          <p:cNvSpPr/>
          <p:nvPr/>
        </p:nvSpPr>
        <p:spPr>
          <a:xfrm>
            <a:off x="7261448" y="4713025"/>
            <a:ext cx="2300064" cy="398304"/>
          </a:xfrm>
          <a:prstGeom prst="rightArrow">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solidFill>
                  <a:sysClr val="windowText" lastClr="000000"/>
                </a:solidFill>
              </a:ln>
              <a:solidFill>
                <a:sysClr val="windowText" lastClr="000000"/>
              </a:solidFill>
            </a:endParaRPr>
          </a:p>
        </p:txBody>
      </p:sp>
    </p:spTree>
    <p:extLst>
      <p:ext uri="{BB962C8B-B14F-4D97-AF65-F5344CB8AC3E}">
        <p14:creationId xmlns:p14="http://schemas.microsoft.com/office/powerpoint/2010/main" val="978056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charset="0"/>
                <a:cs typeface="ＭＳ Ｐゴシック" charset="0"/>
              </a:rPr>
              <a:t>Ronald A. Fisher(1890-1962)</a:t>
            </a:r>
            <a:endParaRPr lang="en-US" dirty="0"/>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12</a:t>
            </a:fld>
            <a:endParaRPr lang="en-GB" dirty="0"/>
          </a:p>
        </p:txBody>
      </p:sp>
      <p:sp>
        <p:nvSpPr>
          <p:cNvPr id="8" name="Content Placeholder 2"/>
          <p:cNvSpPr txBox="1">
            <a:spLocks/>
          </p:cNvSpPr>
          <p:nvPr/>
        </p:nvSpPr>
        <p:spPr>
          <a:xfrm>
            <a:off x="17610" y="1340768"/>
            <a:ext cx="9615910" cy="3160639"/>
          </a:xfrm>
          <a:prstGeom prst="rect">
            <a:avLst/>
          </a:prstGeom>
        </p:spPr>
        <p:txBody>
          <a:bodyPr vert="horz" lIns="0" tIns="0" rIns="0" bIns="0" rtlCol="0" anchor="t" anchorCtr="0">
            <a:normAutofit/>
          </a:bodyPr>
          <a:lstStyle>
            <a:lvl1pPr marL="0" indent="0" algn="l" defTabSz="457200" rtl="0" eaLnBrk="1" latinLnBrk="0" hangingPunct="1">
              <a:lnSpc>
                <a:spcPct val="100000"/>
              </a:lnSpc>
              <a:spcBef>
                <a:spcPts val="0"/>
              </a:spcBef>
              <a:spcAft>
                <a:spcPts val="600"/>
              </a:spcAft>
              <a:buClr>
                <a:schemeClr val="accent1"/>
              </a:buClr>
              <a:buFontTx/>
              <a:buNone/>
              <a:defRPr sz="2400" b="1" kern="1200" cap="all" baseline="0">
                <a:solidFill>
                  <a:srgbClr val="00B0F0"/>
                </a:solidFill>
                <a:latin typeface="+mn-lt"/>
                <a:ea typeface="+mn-ea"/>
                <a:cs typeface="+mn-cs"/>
              </a:defRPr>
            </a:lvl1pPr>
            <a:lvl2pPr marL="628650" indent="-268288" algn="l" defTabSz="457200" rtl="0" eaLnBrk="1" latinLnBrk="0" hangingPunct="1">
              <a:lnSpc>
                <a:spcPct val="100000"/>
              </a:lnSpc>
              <a:spcBef>
                <a:spcPts val="0"/>
              </a:spcBef>
              <a:spcAft>
                <a:spcPts val="600"/>
              </a:spcAft>
              <a:buClr>
                <a:schemeClr val="accent1"/>
              </a:buClr>
              <a:buFont typeface="Arial"/>
              <a:buChar char="–"/>
              <a:defRPr sz="2400" kern="1200">
                <a:solidFill>
                  <a:schemeClr val="tx1"/>
                </a:solidFill>
                <a:latin typeface="+mn-lt"/>
                <a:ea typeface="+mn-ea"/>
                <a:cs typeface="+mn-cs"/>
              </a:defRPr>
            </a:lvl2pPr>
            <a:lvl3pPr marL="895350" indent="-182563"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3pPr>
            <a:lvl4pPr marL="1163638" indent="-176213" algn="l" defTabSz="457200" rtl="0" eaLnBrk="1" latinLnBrk="0" hangingPunct="1">
              <a:lnSpc>
                <a:spcPct val="100000"/>
              </a:lnSpc>
              <a:spcBef>
                <a:spcPts val="0"/>
              </a:spcBef>
              <a:spcAft>
                <a:spcPts val="600"/>
              </a:spcAft>
              <a:buClr>
                <a:schemeClr val="accent1"/>
              </a:buClr>
              <a:buFont typeface="Arial"/>
              <a:buChar char="–"/>
              <a:defRPr sz="1800" b="1" kern="1200">
                <a:solidFill>
                  <a:schemeClr val="accent1"/>
                </a:solidFill>
                <a:latin typeface="+mn-lt"/>
                <a:ea typeface="+mn-ea"/>
                <a:cs typeface="+mn-cs"/>
              </a:defRPr>
            </a:lvl4pPr>
            <a:lvl5pPr marL="1431925" indent="-184150"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endParaRPr lang="en-US" sz="2000" dirty="0"/>
          </a:p>
          <a:p>
            <a:pPr algn="ctr">
              <a:defRPr/>
            </a:pPr>
            <a:endParaRPr lang="en-US" dirty="0"/>
          </a:p>
          <a:p>
            <a:pPr algn="ctr">
              <a:lnSpc>
                <a:spcPct val="110000"/>
              </a:lnSpc>
              <a:defRPr/>
            </a:pPr>
            <a:r>
              <a:rPr lang="en-US" i="1" dirty="0"/>
              <a:t>“To consult the statistician after an experiment is finished is often merely to ask him to conduct a post mortem examination. He can perhaps say what the experiment died of.”</a:t>
            </a:r>
          </a:p>
        </p:txBody>
      </p:sp>
      <p:pic>
        <p:nvPicPr>
          <p:cNvPr id="9" name="Picture 3" descr="R._A._Fischer.jpg"/>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257256" y="188640"/>
            <a:ext cx="1479550" cy="180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44498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763370-5342-4E57-C6E1-257F425B4E9E}"/>
              </a:ext>
            </a:extLst>
          </p:cNvPr>
          <p:cNvSpPr>
            <a:spLocks noGrp="1"/>
          </p:cNvSpPr>
          <p:nvPr>
            <p:ph type="sldNum" sz="quarter" idx="4"/>
          </p:nvPr>
        </p:nvSpPr>
        <p:spPr/>
        <p:txBody>
          <a:bodyPr/>
          <a:lstStyle/>
          <a:p>
            <a:fld id="{C231324C-4752-C242-8156-5E21DB4253A5}" type="slidenum">
              <a:rPr lang="en-GB" smtClean="0"/>
              <a:pPr/>
              <a:t>13</a:t>
            </a:fld>
            <a:endParaRPr lang="en-GB" dirty="0"/>
          </a:p>
        </p:txBody>
      </p:sp>
      <p:pic>
        <p:nvPicPr>
          <p:cNvPr id="9" name="Immagine 1">
            <a:extLst>
              <a:ext uri="{FF2B5EF4-FFF2-40B4-BE49-F238E27FC236}">
                <a16:creationId xmlns:a16="http://schemas.microsoft.com/office/drawing/2014/main" id="{598127EC-D4A1-41BD-487D-80D86C71132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765300"/>
            <a:ext cx="8567738"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asellaDiTesto 11">
            <a:extLst>
              <a:ext uri="{FF2B5EF4-FFF2-40B4-BE49-F238E27FC236}">
                <a16:creationId xmlns:a16="http://schemas.microsoft.com/office/drawing/2014/main" id="{1913AD31-7875-C333-A879-D0D18EDAC2B3}"/>
              </a:ext>
            </a:extLst>
          </p:cNvPr>
          <p:cNvSpPr txBox="1">
            <a:spLocks noChangeArrowheads="1"/>
          </p:cNvSpPr>
          <p:nvPr/>
        </p:nvSpPr>
        <p:spPr bwMode="auto">
          <a:xfrm>
            <a:off x="3200400" y="1306513"/>
            <a:ext cx="3276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a:r>
              <a:rPr lang="it-IT" altLang="it-IT" sz="1800" b="1" dirty="0" err="1"/>
              <a:t>Blinding</a:t>
            </a:r>
            <a:r>
              <a:rPr lang="it-IT" altLang="it-IT" sz="1800" b="1" dirty="0"/>
              <a:t> and </a:t>
            </a:r>
            <a:r>
              <a:rPr lang="it-IT" altLang="it-IT" sz="1800" b="1" dirty="0" err="1"/>
              <a:t>randomization</a:t>
            </a:r>
            <a:endParaRPr lang="it-IT" altLang="it-IT" sz="1800" b="1" dirty="0"/>
          </a:p>
        </p:txBody>
      </p:sp>
      <p:sp>
        <p:nvSpPr>
          <p:cNvPr id="11" name="CasellaDiTesto 1">
            <a:extLst>
              <a:ext uri="{FF2B5EF4-FFF2-40B4-BE49-F238E27FC236}">
                <a16:creationId xmlns:a16="http://schemas.microsoft.com/office/drawing/2014/main" id="{F9B05FCE-5E17-918A-CEAF-F8A3D522E3FB}"/>
              </a:ext>
            </a:extLst>
          </p:cNvPr>
          <p:cNvSpPr txBox="1">
            <a:spLocks noChangeArrowheads="1"/>
          </p:cNvSpPr>
          <p:nvPr/>
        </p:nvSpPr>
        <p:spPr bwMode="auto">
          <a:xfrm>
            <a:off x="6859588" y="2895600"/>
            <a:ext cx="228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a:r>
              <a:rPr lang="it-IT" altLang="it-IT" sz="1800" b="1" dirty="0" err="1"/>
              <a:t>Randomization</a:t>
            </a:r>
            <a:endParaRPr lang="it-IT" altLang="it-IT" sz="1800" b="1" dirty="0"/>
          </a:p>
        </p:txBody>
      </p:sp>
      <p:cxnSp>
        <p:nvCxnSpPr>
          <p:cNvPr id="12" name="Connettore 2 5">
            <a:extLst>
              <a:ext uri="{FF2B5EF4-FFF2-40B4-BE49-F238E27FC236}">
                <a16:creationId xmlns:a16="http://schemas.microsoft.com/office/drawing/2014/main" id="{B13BCE25-831D-278E-49FE-5C2B2C618BDF}"/>
              </a:ext>
            </a:extLst>
          </p:cNvPr>
          <p:cNvCxnSpPr/>
          <p:nvPr/>
        </p:nvCxnSpPr>
        <p:spPr>
          <a:xfrm rot="10800000" flipH="1">
            <a:off x="8001000" y="3281363"/>
            <a:ext cx="0" cy="22383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ttore diritto 7">
            <a:extLst>
              <a:ext uri="{FF2B5EF4-FFF2-40B4-BE49-F238E27FC236}">
                <a16:creationId xmlns:a16="http://schemas.microsoft.com/office/drawing/2014/main" id="{4F8438E8-12FD-CDF6-C309-6F622EAB78A0}"/>
              </a:ext>
            </a:extLst>
          </p:cNvPr>
          <p:cNvCxnSpPr/>
          <p:nvPr/>
        </p:nvCxnSpPr>
        <p:spPr>
          <a:xfrm>
            <a:off x="7315200" y="3505200"/>
            <a:ext cx="685800" cy="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4" name="Connettore 2 19">
            <a:extLst>
              <a:ext uri="{FF2B5EF4-FFF2-40B4-BE49-F238E27FC236}">
                <a16:creationId xmlns:a16="http://schemas.microsoft.com/office/drawing/2014/main" id="{FF99050C-1850-9117-798B-3AED5EB13ADB}"/>
              </a:ext>
            </a:extLst>
          </p:cNvPr>
          <p:cNvCxnSpPr/>
          <p:nvPr/>
        </p:nvCxnSpPr>
        <p:spPr>
          <a:xfrm rot="10800000" flipH="1">
            <a:off x="4800600" y="1681163"/>
            <a:ext cx="0" cy="22383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ttore diritto 20">
            <a:extLst>
              <a:ext uri="{FF2B5EF4-FFF2-40B4-BE49-F238E27FC236}">
                <a16:creationId xmlns:a16="http://schemas.microsoft.com/office/drawing/2014/main" id="{42971C1F-6771-2BB2-2597-229AD46471A9}"/>
              </a:ext>
            </a:extLst>
          </p:cNvPr>
          <p:cNvCxnSpPr/>
          <p:nvPr/>
        </p:nvCxnSpPr>
        <p:spPr>
          <a:xfrm>
            <a:off x="3733800" y="1905000"/>
            <a:ext cx="2232025" cy="0"/>
          </a:xfrm>
          <a:prstGeom prst="line">
            <a:avLst/>
          </a:prstGeom>
          <a:ln w="25400">
            <a:solidFill>
              <a:schemeClr val="tx1"/>
            </a:solidFill>
            <a:headEnd type="none"/>
          </a:ln>
        </p:spPr>
        <p:style>
          <a:lnRef idx="1">
            <a:schemeClr val="accent1"/>
          </a:lnRef>
          <a:fillRef idx="0">
            <a:schemeClr val="accent1"/>
          </a:fillRef>
          <a:effectRef idx="0">
            <a:schemeClr val="accent1"/>
          </a:effectRef>
          <a:fontRef idx="minor">
            <a:schemeClr val="tx1"/>
          </a:fontRef>
        </p:style>
      </p:cxnSp>
      <p:cxnSp>
        <p:nvCxnSpPr>
          <p:cNvPr id="16" name="Connettore diritto 14">
            <a:extLst>
              <a:ext uri="{FF2B5EF4-FFF2-40B4-BE49-F238E27FC236}">
                <a16:creationId xmlns:a16="http://schemas.microsoft.com/office/drawing/2014/main" id="{C3E7CF4B-AFB1-4FC8-4783-0E14E8EF34F2}"/>
              </a:ext>
            </a:extLst>
          </p:cNvPr>
          <p:cNvCxnSpPr/>
          <p:nvPr/>
        </p:nvCxnSpPr>
        <p:spPr>
          <a:xfrm>
            <a:off x="3733800" y="1905000"/>
            <a:ext cx="0" cy="431800"/>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7" name="Connettore diritto 23">
            <a:extLst>
              <a:ext uri="{FF2B5EF4-FFF2-40B4-BE49-F238E27FC236}">
                <a16:creationId xmlns:a16="http://schemas.microsoft.com/office/drawing/2014/main" id="{86140286-AB4E-D556-A7BB-13BDED78F28C}"/>
              </a:ext>
            </a:extLst>
          </p:cNvPr>
          <p:cNvCxnSpPr/>
          <p:nvPr/>
        </p:nvCxnSpPr>
        <p:spPr>
          <a:xfrm>
            <a:off x="5943600" y="1905000"/>
            <a:ext cx="0" cy="1008063"/>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8" name="Connettore diritto 24">
            <a:extLst>
              <a:ext uri="{FF2B5EF4-FFF2-40B4-BE49-F238E27FC236}">
                <a16:creationId xmlns:a16="http://schemas.microsoft.com/office/drawing/2014/main" id="{7C387623-78DC-39E6-C856-C2CB759A88DE}"/>
              </a:ext>
            </a:extLst>
          </p:cNvPr>
          <p:cNvCxnSpPr/>
          <p:nvPr/>
        </p:nvCxnSpPr>
        <p:spPr>
          <a:xfrm>
            <a:off x="4800600" y="1905000"/>
            <a:ext cx="0" cy="755650"/>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19" name="Text Box 2">
            <a:extLst>
              <a:ext uri="{FF2B5EF4-FFF2-40B4-BE49-F238E27FC236}">
                <a16:creationId xmlns:a16="http://schemas.microsoft.com/office/drawing/2014/main" id="{7A42634C-F6BF-7D6D-EECA-AE7387E9BED7}"/>
              </a:ext>
            </a:extLst>
          </p:cNvPr>
          <p:cNvSpPr txBox="1">
            <a:spLocks noChangeArrowheads="1"/>
          </p:cNvSpPr>
          <p:nvPr/>
        </p:nvSpPr>
        <p:spPr bwMode="auto">
          <a:xfrm>
            <a:off x="304800" y="163512"/>
            <a:ext cx="9040688" cy="608013"/>
          </a:xfrm>
          <a:prstGeom prst="rect">
            <a:avLst/>
          </a:prstGeom>
          <a:noFill/>
          <a:ln>
            <a:noFill/>
          </a:ln>
          <a:effectLst/>
        </p:spPr>
        <p:txBody>
          <a:bodyPr wrap="square">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defRPr/>
            </a:pPr>
            <a:r>
              <a:rPr lang="it-IT" altLang="it-IT" sz="3350" b="1" dirty="0" err="1">
                <a:latin typeface="+mj-lt"/>
              </a:rPr>
              <a:t>Classification</a:t>
            </a:r>
            <a:r>
              <a:rPr lang="it-IT" altLang="it-IT" sz="3350" b="1" dirty="0">
                <a:latin typeface="+mj-lt"/>
              </a:rPr>
              <a:t> of </a:t>
            </a:r>
            <a:r>
              <a:rPr lang="it-IT" altLang="it-IT" sz="3350" b="1" dirty="0" err="1">
                <a:latin typeface="+mj-lt"/>
              </a:rPr>
              <a:t>Biases</a:t>
            </a:r>
            <a:r>
              <a:rPr lang="it-IT" altLang="it-IT" sz="3350" b="1" dirty="0">
                <a:latin typeface="+mj-lt"/>
              </a:rPr>
              <a:t> and Solutions</a:t>
            </a:r>
          </a:p>
        </p:txBody>
      </p:sp>
      <p:sp>
        <p:nvSpPr>
          <p:cNvPr id="20" name="Rectangle 11">
            <a:extLst>
              <a:ext uri="{FF2B5EF4-FFF2-40B4-BE49-F238E27FC236}">
                <a16:creationId xmlns:a16="http://schemas.microsoft.com/office/drawing/2014/main" id="{6EB13425-00E5-9EAD-28C1-F5F932777C05}"/>
              </a:ext>
            </a:extLst>
          </p:cNvPr>
          <p:cNvSpPr>
            <a:spLocks noChangeArrowheads="1"/>
          </p:cNvSpPr>
          <p:nvPr/>
        </p:nvSpPr>
        <p:spPr bwMode="auto">
          <a:xfrm>
            <a:off x="0" y="6553200"/>
            <a:ext cx="91440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eaLnBrk="1" hangingPunct="1"/>
            <a:r>
              <a:rPr lang="it-IT" altLang="it-IT" sz="1500" i="1" dirty="0">
                <a:latin typeface="Arial Narrow" panose="020B0604020202020204" pitchFamily="34" charset="0"/>
              </a:rPr>
              <a:t>Peter </a:t>
            </a:r>
            <a:r>
              <a:rPr lang="it-IT" altLang="it-IT" sz="1500" i="1" dirty="0" err="1">
                <a:latin typeface="Arial Narrow" panose="020B0604020202020204" pitchFamily="34" charset="0"/>
              </a:rPr>
              <a:t>Jüni</a:t>
            </a:r>
            <a:r>
              <a:rPr lang="it-IT" altLang="it-IT" sz="1500" i="1" dirty="0">
                <a:latin typeface="Arial Narrow" panose="020B0604020202020204" pitchFamily="34" charset="0"/>
              </a:rPr>
              <a:t>, Douglas G Altman, Matthias Egger, </a:t>
            </a:r>
            <a:r>
              <a:rPr lang="en-US" altLang="it-IT" sz="1500" i="1" dirty="0">
                <a:latin typeface="Arial Narrow" panose="020B0604020202020204" pitchFamily="34" charset="0"/>
              </a:rPr>
              <a:t>Assessing the quality of controlled clinical trials, </a:t>
            </a:r>
            <a:r>
              <a:rPr lang="it-IT" altLang="it-IT" sz="1500" i="1" dirty="0">
                <a:latin typeface="Arial Narrow" panose="020B0604020202020204" pitchFamily="34" charset="0"/>
              </a:rPr>
              <a:t>BMJ 2001;323:42–6</a:t>
            </a:r>
          </a:p>
        </p:txBody>
      </p:sp>
    </p:spTree>
    <p:extLst>
      <p:ext uri="{BB962C8B-B14F-4D97-AF65-F5344CB8AC3E}">
        <p14:creationId xmlns:p14="http://schemas.microsoft.com/office/powerpoint/2010/main" val="1916144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8063F-FEC1-8DA2-B52F-299EEED6D059}"/>
              </a:ext>
            </a:extLst>
          </p:cNvPr>
          <p:cNvSpPr>
            <a:spLocks noGrp="1"/>
          </p:cNvSpPr>
          <p:nvPr>
            <p:ph type="title"/>
          </p:nvPr>
        </p:nvSpPr>
        <p:spPr>
          <a:xfrm>
            <a:off x="495300" y="508000"/>
            <a:ext cx="8915400" cy="990600"/>
          </a:xfrm>
        </p:spPr>
        <p:txBody>
          <a:bodyPr anchor="t">
            <a:normAutofit/>
          </a:bodyPr>
          <a:lstStyle/>
          <a:p>
            <a:pPr algn="ctr"/>
            <a:r>
              <a:rPr lang="en-US" dirty="0"/>
              <a:t>SELECTION BIAS</a:t>
            </a:r>
          </a:p>
        </p:txBody>
      </p:sp>
      <p:sp>
        <p:nvSpPr>
          <p:cNvPr id="4" name="Slide Number Placeholder 3">
            <a:extLst>
              <a:ext uri="{FF2B5EF4-FFF2-40B4-BE49-F238E27FC236}">
                <a16:creationId xmlns:a16="http://schemas.microsoft.com/office/drawing/2014/main" id="{C64982C8-8974-8BC1-39A7-1CE52AAD3330}"/>
              </a:ext>
            </a:extLst>
          </p:cNvPr>
          <p:cNvSpPr>
            <a:spLocks noGrp="1"/>
          </p:cNvSpPr>
          <p:nvPr>
            <p:ph type="sldNum" sz="quarter" idx="4"/>
          </p:nvPr>
        </p:nvSpPr>
        <p:spPr>
          <a:xfrm>
            <a:off x="6045121" y="6165304"/>
            <a:ext cx="275167" cy="381000"/>
          </a:xfrm>
        </p:spPr>
        <p:txBody>
          <a:bodyPr anchor="t">
            <a:normAutofit/>
          </a:bodyPr>
          <a:lstStyle/>
          <a:p>
            <a:pPr>
              <a:spcAft>
                <a:spcPts val="600"/>
              </a:spcAft>
            </a:pPr>
            <a:fld id="{C231324C-4752-C242-8156-5E21DB4253A5}" type="slidenum">
              <a:rPr lang="en-GB" smtClean="0"/>
              <a:pPr>
                <a:spcAft>
                  <a:spcPts val="600"/>
                </a:spcAft>
              </a:pPr>
              <a:t>14</a:t>
            </a:fld>
            <a:endParaRPr lang="en-GB"/>
          </a:p>
        </p:txBody>
      </p:sp>
      <p:sp>
        <p:nvSpPr>
          <p:cNvPr id="3" name="Line 3">
            <a:extLst>
              <a:ext uri="{FF2B5EF4-FFF2-40B4-BE49-F238E27FC236}">
                <a16:creationId xmlns:a16="http://schemas.microsoft.com/office/drawing/2014/main" id="{48A1B2B1-40CA-184E-7695-744AA777BF94}"/>
              </a:ext>
            </a:extLst>
          </p:cNvPr>
          <p:cNvSpPr>
            <a:spLocks noChangeShapeType="1"/>
          </p:cNvSpPr>
          <p:nvPr/>
        </p:nvSpPr>
        <p:spPr bwMode="auto">
          <a:xfrm flipV="1">
            <a:off x="6172200" y="2908920"/>
            <a:ext cx="993775"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Text Box 4">
            <a:extLst>
              <a:ext uri="{FF2B5EF4-FFF2-40B4-BE49-F238E27FC236}">
                <a16:creationId xmlns:a16="http://schemas.microsoft.com/office/drawing/2014/main" id="{B1E328D8-1F2E-6830-7094-6C7E5ED240AC}"/>
              </a:ext>
            </a:extLst>
          </p:cNvPr>
          <p:cNvSpPr txBox="1">
            <a:spLocks noChangeArrowheads="1"/>
          </p:cNvSpPr>
          <p:nvPr/>
        </p:nvSpPr>
        <p:spPr bwMode="auto">
          <a:xfrm>
            <a:off x="3962400" y="2694608"/>
            <a:ext cx="228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it-IT" altLang="it-IT" sz="2000" dirty="0" err="1">
                <a:latin typeface="+mn-lt"/>
              </a:rPr>
              <a:t>If</a:t>
            </a:r>
            <a:r>
              <a:rPr lang="it-IT" altLang="it-IT" sz="2000" dirty="0">
                <a:latin typeface="+mn-lt"/>
              </a:rPr>
              <a:t> </a:t>
            </a:r>
            <a:r>
              <a:rPr lang="it-IT" altLang="it-IT" sz="2000" dirty="0" err="1">
                <a:latin typeface="+mn-lt"/>
              </a:rPr>
              <a:t>age</a:t>
            </a:r>
            <a:r>
              <a:rPr lang="it-IT" altLang="it-IT" sz="2000" dirty="0">
                <a:latin typeface="+mn-lt"/>
              </a:rPr>
              <a:t> &gt; 8 </a:t>
            </a:r>
            <a:r>
              <a:rPr lang="it-IT" altLang="it-IT" sz="2000" dirty="0" err="1">
                <a:latin typeface="+mn-lt"/>
              </a:rPr>
              <a:t>months</a:t>
            </a:r>
            <a:endParaRPr lang="it-IT" altLang="it-IT" sz="2000" dirty="0">
              <a:latin typeface="+mn-lt"/>
            </a:endParaRPr>
          </a:p>
        </p:txBody>
      </p:sp>
      <p:sp>
        <p:nvSpPr>
          <p:cNvPr id="7" name="Text Box 5">
            <a:extLst>
              <a:ext uri="{FF2B5EF4-FFF2-40B4-BE49-F238E27FC236}">
                <a16:creationId xmlns:a16="http://schemas.microsoft.com/office/drawing/2014/main" id="{D221B7D5-3ADC-2A1C-37DE-018DA647C97B}"/>
              </a:ext>
            </a:extLst>
          </p:cNvPr>
          <p:cNvSpPr txBox="1">
            <a:spLocks noChangeArrowheads="1"/>
          </p:cNvSpPr>
          <p:nvPr/>
        </p:nvSpPr>
        <p:spPr bwMode="auto">
          <a:xfrm>
            <a:off x="3962400" y="3913808"/>
            <a:ext cx="228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it-IT" altLang="it-IT" sz="2000" dirty="0" err="1">
                <a:latin typeface="+mn-lt"/>
              </a:rPr>
              <a:t>If</a:t>
            </a:r>
            <a:r>
              <a:rPr lang="it-IT" altLang="it-IT" sz="2000" dirty="0">
                <a:latin typeface="+mn-lt"/>
              </a:rPr>
              <a:t> </a:t>
            </a:r>
            <a:r>
              <a:rPr lang="it-IT" altLang="it-IT" sz="2000" dirty="0" err="1">
                <a:latin typeface="+mn-lt"/>
              </a:rPr>
              <a:t>age</a:t>
            </a:r>
            <a:r>
              <a:rPr lang="it-IT" altLang="it-IT" sz="2000" dirty="0">
                <a:latin typeface="+mn-lt"/>
              </a:rPr>
              <a:t> &lt; 8 </a:t>
            </a:r>
            <a:r>
              <a:rPr lang="it-IT" altLang="it-IT" sz="2000" dirty="0" err="1">
                <a:latin typeface="+mn-lt"/>
              </a:rPr>
              <a:t>months</a:t>
            </a:r>
            <a:endParaRPr lang="it-IT" altLang="it-IT" sz="2000" dirty="0">
              <a:latin typeface="+mn-lt"/>
            </a:endParaRPr>
          </a:p>
        </p:txBody>
      </p:sp>
      <p:sp>
        <p:nvSpPr>
          <p:cNvPr id="8" name="AutoShape 6" descr="Risultati immagini per mouse">
            <a:extLst>
              <a:ext uri="{FF2B5EF4-FFF2-40B4-BE49-F238E27FC236}">
                <a16:creationId xmlns:a16="http://schemas.microsoft.com/office/drawing/2014/main" id="{6FF116B1-7309-CFC0-F5B7-621D8CA3338B}"/>
              </a:ext>
            </a:extLst>
          </p:cNvPr>
          <p:cNvSpPr>
            <a:spLocks noChangeAspect="1" noChangeArrowheads="1"/>
          </p:cNvSpPr>
          <p:nvPr/>
        </p:nvSpPr>
        <p:spPr bwMode="auto">
          <a:xfrm>
            <a:off x="4419600" y="420432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endParaRPr lang="it-IT" altLang="it-IT"/>
          </a:p>
        </p:txBody>
      </p:sp>
      <p:pic>
        <p:nvPicPr>
          <p:cNvPr id="9" name="Picture 7" descr="360_ocd_mice_0426">
            <a:extLst>
              <a:ext uri="{FF2B5EF4-FFF2-40B4-BE49-F238E27FC236}">
                <a16:creationId xmlns:a16="http://schemas.microsoft.com/office/drawing/2014/main" id="{7AF07ADC-3B38-D8BE-20B2-47A5043142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636912"/>
            <a:ext cx="2743200"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8">
            <a:extLst>
              <a:ext uri="{FF2B5EF4-FFF2-40B4-BE49-F238E27FC236}">
                <a16:creationId xmlns:a16="http://schemas.microsoft.com/office/drawing/2014/main" id="{E095F5AD-649F-5535-362D-6AC446A1D72F}"/>
              </a:ext>
            </a:extLst>
          </p:cNvPr>
          <p:cNvSpPr txBox="1">
            <a:spLocks noChangeArrowheads="1"/>
          </p:cNvSpPr>
          <p:nvPr/>
        </p:nvSpPr>
        <p:spPr bwMode="auto">
          <a:xfrm>
            <a:off x="7239000" y="2583309"/>
            <a:ext cx="1905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it-IT" altLang="it-IT" sz="2000" dirty="0">
                <a:latin typeface="+mn-lt"/>
              </a:rPr>
              <a:t>Active treatment</a:t>
            </a:r>
          </a:p>
        </p:txBody>
      </p:sp>
      <p:sp>
        <p:nvSpPr>
          <p:cNvPr id="11" name="Text Box 9">
            <a:extLst>
              <a:ext uri="{FF2B5EF4-FFF2-40B4-BE49-F238E27FC236}">
                <a16:creationId xmlns:a16="http://schemas.microsoft.com/office/drawing/2014/main" id="{DBCC42DA-0806-7798-786D-8CE013D7971C}"/>
              </a:ext>
            </a:extLst>
          </p:cNvPr>
          <p:cNvSpPr txBox="1">
            <a:spLocks noChangeArrowheads="1"/>
          </p:cNvSpPr>
          <p:nvPr/>
        </p:nvSpPr>
        <p:spPr bwMode="auto">
          <a:xfrm>
            <a:off x="7239000" y="3959845"/>
            <a:ext cx="114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it-IT" altLang="it-IT" sz="2000" dirty="0" err="1">
                <a:latin typeface="+mn-lt"/>
              </a:rPr>
              <a:t>Vehicle</a:t>
            </a:r>
            <a:endParaRPr lang="it-IT" altLang="it-IT" sz="2000" dirty="0">
              <a:latin typeface="+mn-lt"/>
            </a:endParaRPr>
          </a:p>
        </p:txBody>
      </p:sp>
      <p:sp>
        <p:nvSpPr>
          <p:cNvPr id="12" name="Line 10">
            <a:extLst>
              <a:ext uri="{FF2B5EF4-FFF2-40B4-BE49-F238E27FC236}">
                <a16:creationId xmlns:a16="http://schemas.microsoft.com/office/drawing/2014/main" id="{2A13FC8C-BAA9-C63E-A64C-529A5588DF28}"/>
              </a:ext>
            </a:extLst>
          </p:cNvPr>
          <p:cNvSpPr>
            <a:spLocks noChangeShapeType="1"/>
          </p:cNvSpPr>
          <p:nvPr/>
        </p:nvSpPr>
        <p:spPr bwMode="auto">
          <a:xfrm flipV="1">
            <a:off x="6172200" y="4174158"/>
            <a:ext cx="993775"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1">
            <a:extLst>
              <a:ext uri="{FF2B5EF4-FFF2-40B4-BE49-F238E27FC236}">
                <a16:creationId xmlns:a16="http://schemas.microsoft.com/office/drawing/2014/main" id="{31E83156-6C18-A031-965E-EB46688B628F}"/>
              </a:ext>
            </a:extLst>
          </p:cNvPr>
          <p:cNvSpPr>
            <a:spLocks noChangeShapeType="1"/>
          </p:cNvSpPr>
          <p:nvPr/>
        </p:nvSpPr>
        <p:spPr bwMode="auto">
          <a:xfrm flipV="1">
            <a:off x="3276600" y="2985120"/>
            <a:ext cx="685800" cy="533400"/>
          </a:xfrm>
          <a:prstGeom prst="line">
            <a:avLst/>
          </a:prstGeom>
          <a:noFill/>
          <a:ln w="38100">
            <a:solidFill>
              <a:schemeClr val="tx1"/>
            </a:solidFill>
            <a:round/>
            <a:headEnd type="diamond"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2">
            <a:extLst>
              <a:ext uri="{FF2B5EF4-FFF2-40B4-BE49-F238E27FC236}">
                <a16:creationId xmlns:a16="http://schemas.microsoft.com/office/drawing/2014/main" id="{69E33AF4-C0DA-0F2E-7F35-9B4412B28C73}"/>
              </a:ext>
            </a:extLst>
          </p:cNvPr>
          <p:cNvSpPr>
            <a:spLocks noChangeShapeType="1"/>
          </p:cNvSpPr>
          <p:nvPr/>
        </p:nvSpPr>
        <p:spPr bwMode="auto">
          <a:xfrm>
            <a:off x="3276600" y="3518520"/>
            <a:ext cx="609600" cy="609600"/>
          </a:xfrm>
          <a:prstGeom prst="line">
            <a:avLst/>
          </a:prstGeom>
          <a:noFill/>
          <a:ln w="38100">
            <a:solidFill>
              <a:schemeClr val="tx1"/>
            </a:solidFill>
            <a:round/>
            <a:headEnd type="diamond"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48516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p:cNvSpPr>
            <a:spLocks noGrp="1" noChangeArrowheads="1"/>
          </p:cNvSpPr>
          <p:nvPr>
            <p:ph type="title"/>
          </p:nvPr>
        </p:nvSpPr>
        <p:spPr/>
        <p:txBody>
          <a:bodyPr>
            <a:normAutofit/>
          </a:bodyPr>
          <a:lstStyle/>
          <a:p>
            <a:pPr algn="ctr" eaLnBrk="1" hangingPunct="1"/>
            <a:r>
              <a:rPr lang="en-US" dirty="0"/>
              <a:t>PERFORMANCE BIAS</a:t>
            </a:r>
            <a:endParaRPr lang="en-US" dirty="0">
              <a:solidFill>
                <a:srgbClr val="1F497D"/>
              </a:solidFill>
              <a:latin typeface="Calibri"/>
              <a:ea typeface="ＭＳ Ｐゴシック" charset="0"/>
              <a:cs typeface="ＭＳ Ｐゴシック" charset="0"/>
            </a:endParaRPr>
          </a:p>
        </p:txBody>
      </p:sp>
      <p:pic>
        <p:nvPicPr>
          <p:cNvPr id="133122" name="Picture 5" descr="plate"/>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908050" y="3122686"/>
            <a:ext cx="2228850" cy="1430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123" name="Text Box 6"/>
          <p:cNvSpPr txBox="1">
            <a:spLocks noChangeArrowheads="1"/>
          </p:cNvSpPr>
          <p:nvPr/>
        </p:nvSpPr>
        <p:spPr bwMode="auto">
          <a:xfrm>
            <a:off x="975123" y="2657897"/>
            <a:ext cx="1821983" cy="41969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solidFill>
                  <a:srgbClr val="FF0912"/>
                </a:solidFill>
                <a:latin typeface="Calibri"/>
              </a:rPr>
              <a:t>Day1, Plate 1</a:t>
            </a:r>
          </a:p>
        </p:txBody>
      </p:sp>
      <p:pic>
        <p:nvPicPr>
          <p:cNvPr id="133124" name="Picture 7" descr="plate"/>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879850" y="3122686"/>
            <a:ext cx="2228850" cy="1430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125" name="Text Box 8"/>
          <p:cNvSpPr txBox="1">
            <a:spLocks noChangeArrowheads="1"/>
          </p:cNvSpPr>
          <p:nvPr/>
        </p:nvSpPr>
        <p:spPr bwMode="auto">
          <a:xfrm>
            <a:off x="3938323" y="2636912"/>
            <a:ext cx="1821983" cy="4616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solidFill>
                  <a:srgbClr val="FF0912"/>
                </a:solidFill>
                <a:latin typeface="Calibri"/>
              </a:rPr>
              <a:t>Day2, Plate 2</a:t>
            </a:r>
          </a:p>
        </p:txBody>
      </p:sp>
      <p:pic>
        <p:nvPicPr>
          <p:cNvPr id="133126" name="Picture 9" descr="plate"/>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851650" y="3122686"/>
            <a:ext cx="2228850" cy="1430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127" name="Text Box 10"/>
          <p:cNvSpPr txBox="1">
            <a:spLocks noChangeArrowheads="1"/>
          </p:cNvSpPr>
          <p:nvPr/>
        </p:nvSpPr>
        <p:spPr bwMode="auto">
          <a:xfrm>
            <a:off x="6980635" y="2636912"/>
            <a:ext cx="1821983" cy="4616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solidFill>
                  <a:srgbClr val="FF0912"/>
                </a:solidFill>
                <a:latin typeface="Calibri"/>
              </a:rPr>
              <a:t>Day3, Plate 3</a:t>
            </a:r>
          </a:p>
        </p:txBody>
      </p:sp>
      <p:sp>
        <p:nvSpPr>
          <p:cNvPr id="133128" name="Text Box 12"/>
          <p:cNvSpPr txBox="1">
            <a:spLocks noChangeArrowheads="1"/>
          </p:cNvSpPr>
          <p:nvPr/>
        </p:nvSpPr>
        <p:spPr bwMode="auto">
          <a:xfrm>
            <a:off x="1403351" y="4725144"/>
            <a:ext cx="1116111" cy="4616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latin typeface="Calibri"/>
              </a:rPr>
              <a:t>Control</a:t>
            </a:r>
          </a:p>
        </p:txBody>
      </p:sp>
      <p:sp>
        <p:nvSpPr>
          <p:cNvPr id="133129" name="Text Box 13"/>
          <p:cNvSpPr txBox="1">
            <a:spLocks noChangeArrowheads="1"/>
          </p:cNvSpPr>
          <p:nvPr/>
        </p:nvSpPr>
        <p:spPr bwMode="auto">
          <a:xfrm>
            <a:off x="4044950" y="4725144"/>
            <a:ext cx="1734970" cy="4616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latin typeface="Calibri"/>
              </a:rPr>
              <a:t>Treatment 1</a:t>
            </a:r>
          </a:p>
        </p:txBody>
      </p:sp>
      <p:sp>
        <p:nvSpPr>
          <p:cNvPr id="133130" name="Text Box 14"/>
          <p:cNvSpPr txBox="1">
            <a:spLocks noChangeArrowheads="1"/>
          </p:cNvSpPr>
          <p:nvPr/>
        </p:nvSpPr>
        <p:spPr bwMode="auto">
          <a:xfrm>
            <a:off x="7016750" y="4725144"/>
            <a:ext cx="1734970" cy="4616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latin typeface="Calibri"/>
              </a:rPr>
              <a:t>Treatment 2</a:t>
            </a:r>
          </a:p>
        </p:txBody>
      </p:sp>
      <p:sp>
        <p:nvSpPr>
          <p:cNvPr id="133131" name="Text Box 15"/>
          <p:cNvSpPr txBox="1">
            <a:spLocks noChangeArrowheads="1"/>
          </p:cNvSpPr>
          <p:nvPr/>
        </p:nvSpPr>
        <p:spPr bwMode="auto">
          <a:xfrm>
            <a:off x="3714751" y="1700808"/>
            <a:ext cx="2065139" cy="4616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solidFill>
                  <a:srgbClr val="FF0912"/>
                </a:solidFill>
                <a:latin typeface="Calibri"/>
              </a:rPr>
              <a:t>RNA Extraction</a:t>
            </a:r>
            <a:endParaRPr lang="en-US" dirty="0">
              <a:latin typeface="Calibri"/>
            </a:endParaRPr>
          </a:p>
        </p:txBody>
      </p:sp>
      <p:sp>
        <p:nvSpPr>
          <p:cNvPr id="133132" name="Text Box 16"/>
          <p:cNvSpPr txBox="1">
            <a:spLocks noChangeArrowheads="1"/>
          </p:cNvSpPr>
          <p:nvPr/>
        </p:nvSpPr>
        <p:spPr bwMode="auto">
          <a:xfrm>
            <a:off x="2285342" y="5229200"/>
            <a:ext cx="5335315" cy="70788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r>
              <a:rPr lang="en-US" sz="2000" dirty="0">
                <a:latin typeface="Calibri"/>
              </a:rPr>
              <a:t>The difference between Control, Treatment 1 </a:t>
            </a:r>
          </a:p>
          <a:p>
            <a:pPr algn="ctr"/>
            <a:r>
              <a:rPr lang="en-US" sz="2000" dirty="0">
                <a:latin typeface="Calibri"/>
              </a:rPr>
              <a:t>and Treatment 2 is confounded by </a:t>
            </a:r>
            <a:r>
              <a:rPr lang="en-US" sz="2000" b="1" dirty="0">
                <a:latin typeface="Calibri"/>
              </a:rPr>
              <a:t>day </a:t>
            </a:r>
            <a:r>
              <a:rPr lang="en-US" sz="2000" dirty="0">
                <a:latin typeface="Calibri"/>
              </a:rPr>
              <a:t>and</a:t>
            </a:r>
            <a:r>
              <a:rPr lang="en-US" sz="2000" b="1" dirty="0">
                <a:latin typeface="Calibri"/>
              </a:rPr>
              <a:t> plate.</a:t>
            </a:r>
          </a:p>
        </p:txBody>
      </p:sp>
      <p:pic>
        <p:nvPicPr>
          <p:cNvPr id="133133" name="Picture 18" descr="rna"/>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403350" y="1196752"/>
            <a:ext cx="1981200" cy="1317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701896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8063F-FEC1-8DA2-B52F-299EEED6D059}"/>
              </a:ext>
            </a:extLst>
          </p:cNvPr>
          <p:cNvSpPr>
            <a:spLocks noGrp="1"/>
          </p:cNvSpPr>
          <p:nvPr>
            <p:ph type="title"/>
          </p:nvPr>
        </p:nvSpPr>
        <p:spPr>
          <a:xfrm>
            <a:off x="495300" y="508000"/>
            <a:ext cx="8915400" cy="990600"/>
          </a:xfrm>
        </p:spPr>
        <p:txBody>
          <a:bodyPr anchor="t">
            <a:normAutofit/>
          </a:bodyPr>
          <a:lstStyle/>
          <a:p>
            <a:pPr algn="ctr"/>
            <a:r>
              <a:rPr lang="en-US" dirty="0"/>
              <a:t>DETECTION BIAS</a:t>
            </a:r>
          </a:p>
        </p:txBody>
      </p:sp>
      <p:sp>
        <p:nvSpPr>
          <p:cNvPr id="4" name="Slide Number Placeholder 3">
            <a:extLst>
              <a:ext uri="{FF2B5EF4-FFF2-40B4-BE49-F238E27FC236}">
                <a16:creationId xmlns:a16="http://schemas.microsoft.com/office/drawing/2014/main" id="{C64982C8-8974-8BC1-39A7-1CE52AAD3330}"/>
              </a:ext>
            </a:extLst>
          </p:cNvPr>
          <p:cNvSpPr>
            <a:spLocks noGrp="1"/>
          </p:cNvSpPr>
          <p:nvPr>
            <p:ph type="sldNum" sz="quarter" idx="4"/>
          </p:nvPr>
        </p:nvSpPr>
        <p:spPr>
          <a:xfrm>
            <a:off x="6045121" y="6165304"/>
            <a:ext cx="275167" cy="381000"/>
          </a:xfrm>
        </p:spPr>
        <p:txBody>
          <a:bodyPr anchor="t">
            <a:normAutofit/>
          </a:bodyPr>
          <a:lstStyle/>
          <a:p>
            <a:pPr>
              <a:spcAft>
                <a:spcPts val="600"/>
              </a:spcAft>
            </a:pPr>
            <a:fld id="{C231324C-4752-C242-8156-5E21DB4253A5}" type="slidenum">
              <a:rPr lang="en-GB" smtClean="0"/>
              <a:pPr>
                <a:spcAft>
                  <a:spcPts val="600"/>
                </a:spcAft>
              </a:pPr>
              <a:t>16</a:t>
            </a:fld>
            <a:endParaRPr lang="en-GB"/>
          </a:p>
        </p:txBody>
      </p:sp>
      <p:sp>
        <p:nvSpPr>
          <p:cNvPr id="3" name="Line 3">
            <a:extLst>
              <a:ext uri="{FF2B5EF4-FFF2-40B4-BE49-F238E27FC236}">
                <a16:creationId xmlns:a16="http://schemas.microsoft.com/office/drawing/2014/main" id="{48A1B2B1-40CA-184E-7695-744AA777BF94}"/>
              </a:ext>
            </a:extLst>
          </p:cNvPr>
          <p:cNvSpPr>
            <a:spLocks noChangeShapeType="1"/>
          </p:cNvSpPr>
          <p:nvPr/>
        </p:nvSpPr>
        <p:spPr bwMode="auto">
          <a:xfrm flipV="1">
            <a:off x="6105128" y="2636912"/>
            <a:ext cx="993775"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AutoShape 6" descr="Risultati immagini per mouse">
            <a:extLst>
              <a:ext uri="{FF2B5EF4-FFF2-40B4-BE49-F238E27FC236}">
                <a16:creationId xmlns:a16="http://schemas.microsoft.com/office/drawing/2014/main" id="{6FF116B1-7309-CFC0-F5B7-621D8CA3338B}"/>
              </a:ext>
            </a:extLst>
          </p:cNvPr>
          <p:cNvSpPr>
            <a:spLocks noChangeAspect="1" noChangeArrowheads="1"/>
          </p:cNvSpPr>
          <p:nvPr/>
        </p:nvSpPr>
        <p:spPr bwMode="auto">
          <a:xfrm>
            <a:off x="4419600" y="420432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endParaRPr lang="it-IT" altLang="it-IT"/>
          </a:p>
        </p:txBody>
      </p:sp>
      <p:pic>
        <p:nvPicPr>
          <p:cNvPr id="9" name="Picture 7" descr="360_ocd_mice_0426">
            <a:extLst>
              <a:ext uri="{FF2B5EF4-FFF2-40B4-BE49-F238E27FC236}">
                <a16:creationId xmlns:a16="http://schemas.microsoft.com/office/drawing/2014/main" id="{7AF07ADC-3B38-D8BE-20B2-47A5043142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636912"/>
            <a:ext cx="2743200"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8">
            <a:extLst>
              <a:ext uri="{FF2B5EF4-FFF2-40B4-BE49-F238E27FC236}">
                <a16:creationId xmlns:a16="http://schemas.microsoft.com/office/drawing/2014/main" id="{E095F5AD-649F-5535-362D-6AC446A1D72F}"/>
              </a:ext>
            </a:extLst>
          </p:cNvPr>
          <p:cNvSpPr txBox="1">
            <a:spLocks noChangeArrowheads="1"/>
          </p:cNvSpPr>
          <p:nvPr/>
        </p:nvSpPr>
        <p:spPr bwMode="auto">
          <a:xfrm>
            <a:off x="7239000" y="2204864"/>
            <a:ext cx="1905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it-IT" altLang="it-IT" sz="2000" dirty="0">
                <a:latin typeface="+mn-lt"/>
              </a:rPr>
              <a:t>Active treatment</a:t>
            </a:r>
          </a:p>
        </p:txBody>
      </p:sp>
      <p:sp>
        <p:nvSpPr>
          <p:cNvPr id="11" name="Text Box 9">
            <a:extLst>
              <a:ext uri="{FF2B5EF4-FFF2-40B4-BE49-F238E27FC236}">
                <a16:creationId xmlns:a16="http://schemas.microsoft.com/office/drawing/2014/main" id="{DBCC42DA-0806-7798-786D-8CE013D7971C}"/>
              </a:ext>
            </a:extLst>
          </p:cNvPr>
          <p:cNvSpPr txBox="1">
            <a:spLocks noChangeArrowheads="1"/>
          </p:cNvSpPr>
          <p:nvPr/>
        </p:nvSpPr>
        <p:spPr bwMode="auto">
          <a:xfrm>
            <a:off x="7239000" y="4544293"/>
            <a:ext cx="114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it-IT" altLang="it-IT" sz="2000" dirty="0" err="1">
                <a:latin typeface="+mn-lt"/>
              </a:rPr>
              <a:t>Vehicle</a:t>
            </a:r>
            <a:endParaRPr lang="it-IT" altLang="it-IT" sz="2000" dirty="0">
              <a:latin typeface="+mn-lt"/>
            </a:endParaRPr>
          </a:p>
        </p:txBody>
      </p:sp>
      <p:sp>
        <p:nvSpPr>
          <p:cNvPr id="12" name="Line 10">
            <a:extLst>
              <a:ext uri="{FF2B5EF4-FFF2-40B4-BE49-F238E27FC236}">
                <a16:creationId xmlns:a16="http://schemas.microsoft.com/office/drawing/2014/main" id="{2A13FC8C-BAA9-C63E-A64C-529A5588DF28}"/>
              </a:ext>
            </a:extLst>
          </p:cNvPr>
          <p:cNvSpPr>
            <a:spLocks noChangeShapeType="1"/>
          </p:cNvSpPr>
          <p:nvPr/>
        </p:nvSpPr>
        <p:spPr bwMode="auto">
          <a:xfrm flipV="1">
            <a:off x="6172200" y="4725144"/>
            <a:ext cx="993775"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1">
            <a:extLst>
              <a:ext uri="{FF2B5EF4-FFF2-40B4-BE49-F238E27FC236}">
                <a16:creationId xmlns:a16="http://schemas.microsoft.com/office/drawing/2014/main" id="{31E83156-6C18-A031-965E-EB46688B628F}"/>
              </a:ext>
            </a:extLst>
          </p:cNvPr>
          <p:cNvSpPr>
            <a:spLocks noChangeShapeType="1"/>
          </p:cNvSpPr>
          <p:nvPr/>
        </p:nvSpPr>
        <p:spPr bwMode="auto">
          <a:xfrm flipV="1">
            <a:off x="3276600" y="2985120"/>
            <a:ext cx="685800" cy="533400"/>
          </a:xfrm>
          <a:prstGeom prst="line">
            <a:avLst/>
          </a:prstGeom>
          <a:noFill/>
          <a:ln w="38100">
            <a:solidFill>
              <a:schemeClr val="tx1"/>
            </a:solidFill>
            <a:round/>
            <a:headEnd type="diamond"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2">
            <a:extLst>
              <a:ext uri="{FF2B5EF4-FFF2-40B4-BE49-F238E27FC236}">
                <a16:creationId xmlns:a16="http://schemas.microsoft.com/office/drawing/2014/main" id="{69E33AF4-C0DA-0F2E-7F35-9B4412B28C73}"/>
              </a:ext>
            </a:extLst>
          </p:cNvPr>
          <p:cNvSpPr>
            <a:spLocks noChangeShapeType="1"/>
          </p:cNvSpPr>
          <p:nvPr/>
        </p:nvSpPr>
        <p:spPr bwMode="auto">
          <a:xfrm>
            <a:off x="3276600" y="3518520"/>
            <a:ext cx="609600" cy="609600"/>
          </a:xfrm>
          <a:prstGeom prst="line">
            <a:avLst/>
          </a:prstGeom>
          <a:noFill/>
          <a:ln w="38100">
            <a:solidFill>
              <a:schemeClr val="tx1"/>
            </a:solidFill>
            <a:round/>
            <a:headEnd type="diamond"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5" name="Picture 14">
            <a:extLst>
              <a:ext uri="{FF2B5EF4-FFF2-40B4-BE49-F238E27FC236}">
                <a16:creationId xmlns:a16="http://schemas.microsoft.com/office/drawing/2014/main" id="{40C0D2A0-8F5D-2376-C2CE-AF16AE14C7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1688679"/>
            <a:ext cx="1154361" cy="1789260"/>
          </a:xfrm>
          <a:prstGeom prst="rect">
            <a:avLst/>
          </a:prstGeom>
        </p:spPr>
      </p:pic>
      <p:pic>
        <p:nvPicPr>
          <p:cNvPr id="17" name="Picture 16">
            <a:extLst>
              <a:ext uri="{FF2B5EF4-FFF2-40B4-BE49-F238E27FC236}">
                <a16:creationId xmlns:a16="http://schemas.microsoft.com/office/drawing/2014/main" id="{EB00C4A2-B54D-5D5E-3745-CFA0E6FEB7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9225" y="3694350"/>
            <a:ext cx="2121266" cy="2121266"/>
          </a:xfrm>
          <a:prstGeom prst="rect">
            <a:avLst/>
          </a:prstGeom>
        </p:spPr>
      </p:pic>
    </p:spTree>
    <p:extLst>
      <p:ext uri="{BB962C8B-B14F-4D97-AF65-F5344CB8AC3E}">
        <p14:creationId xmlns:p14="http://schemas.microsoft.com/office/powerpoint/2010/main" val="2549875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17</a:t>
            </a:fld>
            <a:endParaRPr lang="en-GB" dirty="0"/>
          </a:p>
        </p:txBody>
      </p:sp>
      <p:sp>
        <p:nvSpPr>
          <p:cNvPr id="6" name="Title 5"/>
          <p:cNvSpPr>
            <a:spLocks noGrp="1"/>
          </p:cNvSpPr>
          <p:nvPr>
            <p:ph type="title" idx="4294967295"/>
          </p:nvPr>
        </p:nvSpPr>
        <p:spPr>
          <a:xfrm>
            <a:off x="2924775" y="1988840"/>
            <a:ext cx="4134459" cy="1728192"/>
          </a:xfrm>
        </p:spPr>
        <p:txBody>
          <a:bodyPr/>
          <a:lstStyle/>
          <a:p>
            <a:pPr algn="ctr">
              <a:lnSpc>
                <a:spcPct val="90000"/>
              </a:lnSpc>
            </a:pPr>
            <a:r>
              <a:rPr lang="en-US" sz="4800" dirty="0">
                <a:solidFill>
                  <a:schemeClr val="bg1"/>
                </a:solidFill>
              </a:rPr>
              <a:t>Bad Design Issues</a:t>
            </a:r>
          </a:p>
        </p:txBody>
      </p:sp>
    </p:spTree>
    <p:extLst>
      <p:ext uri="{BB962C8B-B14F-4D97-AF65-F5344CB8AC3E}">
        <p14:creationId xmlns:p14="http://schemas.microsoft.com/office/powerpoint/2010/main" val="3866008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Crisis in Reproducible Research</a:t>
            </a:r>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18</a:t>
            </a:fld>
            <a:endParaRPr lang="en-GB" dirty="0"/>
          </a:p>
        </p:txBody>
      </p:sp>
      <p:sp>
        <p:nvSpPr>
          <p:cNvPr id="6" name="Rectangle 5"/>
          <p:cNvSpPr/>
          <p:nvPr/>
        </p:nvSpPr>
        <p:spPr>
          <a:xfrm>
            <a:off x="3152800" y="6023084"/>
            <a:ext cx="2635589" cy="523220"/>
          </a:xfrm>
          <a:prstGeom prst="rect">
            <a:avLst/>
          </a:prstGeom>
        </p:spPr>
        <p:txBody>
          <a:bodyPr wrap="square">
            <a:spAutoFit/>
          </a:bodyPr>
          <a:lstStyle/>
          <a:p>
            <a:r>
              <a:rPr lang="en-US" sz="1400" i="1" dirty="0"/>
              <a:t>http://</a:t>
            </a:r>
            <a:r>
              <a:rPr lang="en-US" sz="1400" i="1" dirty="0" err="1"/>
              <a:t>neilfws.github.io</a:t>
            </a:r>
            <a:r>
              <a:rPr lang="en-US" sz="1400" i="1" dirty="0"/>
              <a:t>/PubMed/</a:t>
            </a:r>
            <a:r>
              <a:rPr lang="en-US" sz="1400" i="1" dirty="0" err="1"/>
              <a:t>pmretract</a:t>
            </a:r>
            <a:r>
              <a:rPr lang="en-US" sz="1400" i="1" dirty="0"/>
              <a:t>/</a:t>
            </a:r>
            <a:r>
              <a:rPr lang="en-US" sz="1400" i="1" dirty="0" err="1"/>
              <a:t>pmretract.html</a:t>
            </a:r>
            <a:endParaRPr lang="en-US" sz="1400" i="1" dirty="0"/>
          </a:p>
        </p:txBody>
      </p:sp>
      <p:pic>
        <p:nvPicPr>
          <p:cNvPr id="3" name="Picture 2">
            <a:extLst>
              <a:ext uri="{FF2B5EF4-FFF2-40B4-BE49-F238E27FC236}">
                <a16:creationId xmlns:a16="http://schemas.microsoft.com/office/drawing/2014/main" id="{79A36368-89C3-CE40-B286-2A59BA0F3FCC}"/>
              </a:ext>
            </a:extLst>
          </p:cNvPr>
          <p:cNvPicPr>
            <a:picLocks noChangeAspect="1"/>
          </p:cNvPicPr>
          <p:nvPr/>
        </p:nvPicPr>
        <p:blipFill rotWithShape="1">
          <a:blip r:embed="rId4"/>
          <a:srcRect l="1364" t="2047" r="2749" b="4198"/>
          <a:stretch/>
        </p:blipFill>
        <p:spPr>
          <a:xfrm>
            <a:off x="632520" y="938959"/>
            <a:ext cx="8250584" cy="4980082"/>
          </a:xfrm>
          <a:prstGeom prst="rect">
            <a:avLst/>
          </a:prstGeom>
        </p:spPr>
      </p:pic>
    </p:spTree>
    <p:extLst>
      <p:ext uri="{BB962C8B-B14F-4D97-AF65-F5344CB8AC3E}">
        <p14:creationId xmlns:p14="http://schemas.microsoft.com/office/powerpoint/2010/main" val="181560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528" y="188640"/>
            <a:ext cx="9001000" cy="990600"/>
          </a:xfrm>
        </p:spPr>
        <p:txBody>
          <a:bodyPr/>
          <a:lstStyle/>
          <a:p>
            <a:pPr algn="ctr"/>
            <a:r>
              <a:rPr lang="en-US" dirty="0">
                <a:solidFill>
                  <a:srgbClr val="1F497D"/>
                </a:solidFill>
              </a:rPr>
              <a:t>47 of 53 high-profile cancer studies </a:t>
            </a:r>
            <a:br>
              <a:rPr lang="en-US" dirty="0">
                <a:solidFill>
                  <a:srgbClr val="1F497D"/>
                </a:solidFill>
              </a:rPr>
            </a:br>
            <a:r>
              <a:rPr lang="en-US" dirty="0">
                <a:solidFill>
                  <a:srgbClr val="1F497D"/>
                </a:solidFill>
              </a:rPr>
              <a:t>were not reproducible!</a:t>
            </a:r>
            <a:endParaRPr lang="en-US" dirty="0"/>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19</a:t>
            </a:fld>
            <a:endParaRPr lang="en-GB" dirty="0"/>
          </a:p>
        </p:txBody>
      </p:sp>
      <p:pic>
        <p:nvPicPr>
          <p:cNvPr id="9" name="Picture 8" descr="CancerNon-repducability.tiff"/>
          <p:cNvPicPr>
            <a:picLocks noChangeAspect="1"/>
          </p:cNvPicPr>
          <p:nvPr/>
        </p:nvPicPr>
        <p:blipFill rotWithShape="1">
          <a:blip r:embed="rId4" cstate="email">
            <a:extLst>
              <a:ext uri="{28A0092B-C50C-407E-A947-70E740481C1C}">
                <a14:useLocalDpi xmlns:a14="http://schemas.microsoft.com/office/drawing/2010/main" val="0"/>
              </a:ext>
            </a:extLst>
          </a:blip>
          <a:srcRect b="5575"/>
          <a:stretch/>
        </p:blipFill>
        <p:spPr>
          <a:xfrm>
            <a:off x="1497460" y="1340768"/>
            <a:ext cx="6911924" cy="4635553"/>
          </a:xfrm>
          <a:prstGeom prst="rect">
            <a:avLst/>
          </a:prstGeom>
        </p:spPr>
      </p:pic>
    </p:spTree>
    <p:extLst>
      <p:ext uri="{BB962C8B-B14F-4D97-AF65-F5344CB8AC3E}">
        <p14:creationId xmlns:p14="http://schemas.microsoft.com/office/powerpoint/2010/main" val="3113079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3" name="Picture 4" descr="lo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986" y="44624"/>
            <a:ext cx="8144933" cy="3606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1314" name="Text Box 5"/>
          <p:cNvSpPr txBox="1">
            <a:spLocks noChangeArrowheads="1"/>
          </p:cNvSpPr>
          <p:nvPr/>
        </p:nvSpPr>
        <p:spPr bwMode="auto">
          <a:xfrm>
            <a:off x="1280592" y="6377101"/>
            <a:ext cx="4986386" cy="3693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800" dirty="0">
                <a:latin typeface="Calibri"/>
              </a:rPr>
              <a:t>http://</a:t>
            </a:r>
            <a:r>
              <a:rPr lang="en-US" sz="1800" dirty="0" err="1">
                <a:latin typeface="Calibri"/>
              </a:rPr>
              <a:t>www.the-scientist.com</a:t>
            </a:r>
            <a:r>
              <a:rPr lang="en-US" sz="1800" dirty="0">
                <a:latin typeface="Calibri"/>
              </a:rPr>
              <a:t>/blog/display/57558/</a:t>
            </a:r>
          </a:p>
        </p:txBody>
      </p:sp>
      <p:sp>
        <p:nvSpPr>
          <p:cNvPr id="5" name="Content Placeholder 4"/>
          <p:cNvSpPr>
            <a:spLocks noGrp="1"/>
          </p:cNvSpPr>
          <p:nvPr>
            <p:ph idx="1"/>
          </p:nvPr>
        </p:nvSpPr>
        <p:spPr>
          <a:xfrm>
            <a:off x="416496" y="3789040"/>
            <a:ext cx="9023656" cy="2883767"/>
          </a:xfrm>
        </p:spPr>
        <p:txBody>
          <a:bodyPr>
            <a:normAutofit/>
          </a:bodyPr>
          <a:lstStyle/>
          <a:p>
            <a:pPr>
              <a:buFont typeface="Arial" charset="0"/>
              <a:buChar char="•"/>
            </a:pPr>
            <a:r>
              <a:rPr lang="en-GB" dirty="0"/>
              <a:t>GWAS study: 800 centenarians vs. controls</a:t>
            </a:r>
          </a:p>
          <a:p>
            <a:pPr>
              <a:buFont typeface="Arial" charset="0"/>
              <a:buChar char="•"/>
            </a:pPr>
            <a:r>
              <a:rPr lang="en-GB" dirty="0"/>
              <a:t>Found 150 SNPs predicting centenarians with 77 % accuracy</a:t>
            </a:r>
            <a:endParaRPr lang="en-US" dirty="0"/>
          </a:p>
          <a:p>
            <a:pPr>
              <a:buFontTx/>
              <a:buChar char="•"/>
            </a:pPr>
            <a:r>
              <a:rPr lang="en-US" dirty="0"/>
              <a:t>Problem: they used </a:t>
            </a:r>
            <a:r>
              <a:rPr lang="en-US" b="1" dirty="0"/>
              <a:t>different SNP chips</a:t>
            </a:r>
            <a:r>
              <a:rPr lang="en-US" dirty="0"/>
              <a:t> for centenarians and controls</a:t>
            </a:r>
          </a:p>
          <a:p>
            <a:pPr>
              <a:buFontTx/>
              <a:buChar char="•"/>
            </a:pPr>
            <a:r>
              <a:rPr lang="en-GB" dirty="0"/>
              <a:t>Retracted in 2011 following independent review and QC of data</a:t>
            </a:r>
            <a:endParaRPr lang="en-US" dirty="0"/>
          </a:p>
        </p:txBody>
      </p:sp>
    </p:spTree>
    <p:extLst>
      <p:ext uri="{BB962C8B-B14F-4D97-AF65-F5344CB8AC3E}">
        <p14:creationId xmlns:p14="http://schemas.microsoft.com/office/powerpoint/2010/main" val="3607279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D131C0-C75B-03DF-7780-3939B91FA2E3}"/>
              </a:ext>
            </a:extLst>
          </p:cNvPr>
          <p:cNvSpPr>
            <a:spLocks noGrp="1"/>
          </p:cNvSpPr>
          <p:nvPr>
            <p:ph type="sldNum" sz="quarter" idx="4"/>
          </p:nvPr>
        </p:nvSpPr>
        <p:spPr/>
        <p:txBody>
          <a:bodyPr/>
          <a:lstStyle/>
          <a:p>
            <a:fld id="{C231324C-4752-C242-8156-5E21DB4253A5}" type="slidenum">
              <a:rPr lang="en-GB" smtClean="0"/>
              <a:pPr/>
              <a:t>21</a:t>
            </a:fld>
            <a:endParaRPr lang="en-GB" dirty="0"/>
          </a:p>
        </p:txBody>
      </p:sp>
      <p:pic>
        <p:nvPicPr>
          <p:cNvPr id="7" name="Immagine 3">
            <a:extLst>
              <a:ext uri="{FF2B5EF4-FFF2-40B4-BE49-F238E27FC236}">
                <a16:creationId xmlns:a16="http://schemas.microsoft.com/office/drawing/2014/main" id="{245283BC-1B6B-AFA2-2286-BB5115DF1C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6063" y="762000"/>
            <a:ext cx="6764337"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2">
            <a:extLst>
              <a:ext uri="{FF2B5EF4-FFF2-40B4-BE49-F238E27FC236}">
                <a16:creationId xmlns:a16="http://schemas.microsoft.com/office/drawing/2014/main" id="{689F50E9-2299-F7D4-16E9-535766730055}"/>
              </a:ext>
            </a:extLst>
          </p:cNvPr>
          <p:cNvSpPr txBox="1">
            <a:spLocks noChangeArrowheads="1"/>
          </p:cNvSpPr>
          <p:nvPr/>
        </p:nvSpPr>
        <p:spPr bwMode="auto">
          <a:xfrm>
            <a:off x="31750" y="6324600"/>
            <a:ext cx="903605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just" eaLnBrk="1" hangingPunct="1"/>
            <a:r>
              <a:rPr lang="it-IT" altLang="it-IT" sz="1500">
                <a:latin typeface="Arial Narrow" panose="020B0604020202020204" pitchFamily="34" charset="0"/>
              </a:rPr>
              <a:t>Bebarta V et al. Emergency Medicine Animal Research: Does Use of Randomization and Blinding Affect the Results? ACAD EMERG MED, June 2003, Vol.10, n.6</a:t>
            </a:r>
          </a:p>
        </p:txBody>
      </p:sp>
      <p:sp>
        <p:nvSpPr>
          <p:cNvPr id="9" name="Rectangle 3">
            <a:extLst>
              <a:ext uri="{FF2B5EF4-FFF2-40B4-BE49-F238E27FC236}">
                <a16:creationId xmlns:a16="http://schemas.microsoft.com/office/drawing/2014/main" id="{07AC6A24-BC2E-CF32-055D-C7732F2E1743}"/>
              </a:ext>
            </a:extLst>
          </p:cNvPr>
          <p:cNvSpPr>
            <a:spLocks noChangeArrowheads="1"/>
          </p:cNvSpPr>
          <p:nvPr/>
        </p:nvSpPr>
        <p:spPr bwMode="auto">
          <a:xfrm>
            <a:off x="304800" y="5867400"/>
            <a:ext cx="854075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defRPr/>
            </a:pPr>
            <a:r>
              <a:rPr lang="it-IT" altLang="it-IT" sz="1900" b="1" dirty="0" err="1">
                <a:latin typeface="+mn-lt"/>
              </a:rPr>
              <a:t>These</a:t>
            </a:r>
            <a:r>
              <a:rPr lang="it-IT" altLang="it-IT" sz="1900" b="1" dirty="0">
                <a:latin typeface="+mn-lt"/>
              </a:rPr>
              <a:t> </a:t>
            </a:r>
            <a:r>
              <a:rPr lang="it-IT" altLang="it-IT" sz="1900" b="1" dirty="0" err="1">
                <a:latin typeface="+mn-lt"/>
              </a:rPr>
              <a:t>results</a:t>
            </a:r>
            <a:r>
              <a:rPr lang="it-IT" altLang="it-IT" sz="1900" b="1" dirty="0">
                <a:latin typeface="+mn-lt"/>
              </a:rPr>
              <a:t> </a:t>
            </a:r>
            <a:r>
              <a:rPr lang="it-IT" altLang="it-IT" sz="1900" b="1" dirty="0" err="1">
                <a:latin typeface="+mn-lt"/>
              </a:rPr>
              <a:t>suggest</a:t>
            </a:r>
            <a:r>
              <a:rPr lang="it-IT" altLang="it-IT" sz="1900" b="1" dirty="0">
                <a:latin typeface="+mn-lt"/>
              </a:rPr>
              <a:t> </a:t>
            </a:r>
            <a:r>
              <a:rPr lang="it-IT" altLang="it-IT" sz="1900" b="1" dirty="0" err="1">
                <a:latin typeface="+mn-lt"/>
              </a:rPr>
              <a:t>that</a:t>
            </a:r>
            <a:r>
              <a:rPr lang="it-IT" altLang="it-IT" sz="1900" b="1" dirty="0">
                <a:latin typeface="+mn-lt"/>
              </a:rPr>
              <a:t> </a:t>
            </a:r>
            <a:r>
              <a:rPr lang="it-IT" altLang="it-IT" sz="1900" b="1" dirty="0" err="1">
                <a:latin typeface="+mn-lt"/>
              </a:rPr>
              <a:t>failure</a:t>
            </a:r>
            <a:r>
              <a:rPr lang="it-IT" altLang="it-IT" sz="1900" b="1" dirty="0">
                <a:latin typeface="+mn-lt"/>
              </a:rPr>
              <a:t> to </a:t>
            </a:r>
            <a:r>
              <a:rPr lang="it-IT" altLang="it-IT" sz="1900" b="1" dirty="0" err="1">
                <a:latin typeface="+mn-lt"/>
              </a:rPr>
              <a:t>blind</a:t>
            </a:r>
            <a:r>
              <a:rPr lang="it-IT" altLang="it-IT" sz="1900" b="1" dirty="0">
                <a:latin typeface="+mn-lt"/>
              </a:rPr>
              <a:t> and </a:t>
            </a:r>
            <a:r>
              <a:rPr lang="it-IT" altLang="it-IT" sz="1900" b="1" dirty="0" err="1">
                <a:latin typeface="+mn-lt"/>
              </a:rPr>
              <a:t>randomise</a:t>
            </a:r>
            <a:r>
              <a:rPr lang="it-IT" altLang="it-IT" sz="1900" b="1" dirty="0">
                <a:latin typeface="+mn-lt"/>
              </a:rPr>
              <a:t> </a:t>
            </a:r>
            <a:r>
              <a:rPr lang="it-IT" altLang="it-IT" sz="1900" b="1" dirty="0" err="1">
                <a:latin typeface="+mn-lt"/>
              </a:rPr>
              <a:t>lead</a:t>
            </a:r>
            <a:r>
              <a:rPr lang="it-IT" altLang="it-IT" sz="1900" b="1" dirty="0">
                <a:latin typeface="+mn-lt"/>
              </a:rPr>
              <a:t> to </a:t>
            </a:r>
            <a:r>
              <a:rPr lang="it-IT" altLang="it-IT" sz="1900" b="1" dirty="0" err="1">
                <a:latin typeface="+mn-lt"/>
              </a:rPr>
              <a:t>bias</a:t>
            </a:r>
            <a:r>
              <a:rPr lang="it-IT" altLang="it-IT" sz="1900" b="1" dirty="0">
                <a:latin typeface="+mn-lt"/>
              </a:rPr>
              <a:t>!!! </a:t>
            </a:r>
          </a:p>
        </p:txBody>
      </p:sp>
      <p:sp>
        <p:nvSpPr>
          <p:cNvPr id="10" name="Text Box 5">
            <a:extLst>
              <a:ext uri="{FF2B5EF4-FFF2-40B4-BE49-F238E27FC236}">
                <a16:creationId xmlns:a16="http://schemas.microsoft.com/office/drawing/2014/main" id="{A34DBA9D-A508-1119-0A54-26B41638348F}"/>
              </a:ext>
            </a:extLst>
          </p:cNvPr>
          <p:cNvSpPr txBox="1">
            <a:spLocks noChangeArrowheads="1"/>
          </p:cNvSpPr>
          <p:nvPr/>
        </p:nvSpPr>
        <p:spPr bwMode="auto">
          <a:xfrm>
            <a:off x="76200" y="44450"/>
            <a:ext cx="7696200" cy="630238"/>
          </a:xfrm>
          <a:prstGeom prst="rect">
            <a:avLst/>
          </a:prstGeom>
          <a:noFill/>
          <a:ln>
            <a:noFill/>
          </a:ln>
          <a:effec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spcBef>
                <a:spcPct val="50000"/>
              </a:spcBef>
              <a:defRPr/>
            </a:pPr>
            <a:r>
              <a:rPr lang="it-IT" altLang="it-IT" sz="3350" b="1" dirty="0">
                <a:latin typeface="+mj-lt"/>
              </a:rPr>
              <a:t>A shocking </a:t>
            </a:r>
            <a:r>
              <a:rPr lang="it-IT" altLang="it-IT" sz="3350" b="1" dirty="0" err="1">
                <a:latin typeface="+mj-lt"/>
              </a:rPr>
              <a:t>result</a:t>
            </a:r>
            <a:endParaRPr lang="it-IT" altLang="it-IT" sz="3350" b="1" dirty="0">
              <a:latin typeface="+mj-lt"/>
            </a:endParaRPr>
          </a:p>
        </p:txBody>
      </p:sp>
      <p:sp>
        <p:nvSpPr>
          <p:cNvPr id="11" name="Text Box 6">
            <a:extLst>
              <a:ext uri="{FF2B5EF4-FFF2-40B4-BE49-F238E27FC236}">
                <a16:creationId xmlns:a16="http://schemas.microsoft.com/office/drawing/2014/main" id="{F4583A99-88B4-EEA9-8BF9-50CB44BE57EA}"/>
              </a:ext>
            </a:extLst>
          </p:cNvPr>
          <p:cNvSpPr txBox="1">
            <a:spLocks noChangeArrowheads="1"/>
          </p:cNvSpPr>
          <p:nvPr/>
        </p:nvSpPr>
        <p:spPr bwMode="auto">
          <a:xfrm>
            <a:off x="304800" y="4191000"/>
            <a:ext cx="712946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spcBef>
                <a:spcPct val="50000"/>
              </a:spcBef>
              <a:defRPr/>
            </a:pPr>
            <a:r>
              <a:rPr lang="it-IT" altLang="it-IT" sz="1800" b="1" dirty="0">
                <a:latin typeface="+mn-lt"/>
              </a:rPr>
              <a:t>The </a:t>
            </a:r>
            <a:r>
              <a:rPr lang="it-IT" altLang="it-IT" sz="1800" b="1" dirty="0" err="1">
                <a:latin typeface="+mn-lt"/>
              </a:rPr>
              <a:t>Odds</a:t>
            </a:r>
            <a:r>
              <a:rPr lang="it-IT" altLang="it-IT" sz="1800" b="1" dirty="0">
                <a:latin typeface="+mn-lt"/>
              </a:rPr>
              <a:t> </a:t>
            </a:r>
            <a:r>
              <a:rPr lang="it-IT" altLang="it-IT" sz="1800" b="1" dirty="0" err="1">
                <a:latin typeface="+mn-lt"/>
              </a:rPr>
              <a:t>Ratios</a:t>
            </a:r>
            <a:r>
              <a:rPr lang="it-IT" altLang="it-IT" sz="1800" b="1" dirty="0">
                <a:latin typeface="+mn-lt"/>
              </a:rPr>
              <a:t> (</a:t>
            </a:r>
            <a:r>
              <a:rPr lang="it-IT" altLang="it-IT" sz="1800" b="1" dirty="0" err="1">
                <a:latin typeface="+mn-lt"/>
              </a:rPr>
              <a:t>ORs</a:t>
            </a:r>
            <a:r>
              <a:rPr lang="it-IT" altLang="it-IT" sz="1800" b="1" dirty="0">
                <a:latin typeface="+mn-lt"/>
              </a:rPr>
              <a:t>) of reporting a </a:t>
            </a:r>
            <a:r>
              <a:rPr lang="it-IT" altLang="it-IT" sz="1800" b="1" dirty="0" err="1">
                <a:latin typeface="+mn-lt"/>
              </a:rPr>
              <a:t>significant</a:t>
            </a:r>
            <a:r>
              <a:rPr lang="it-IT" altLang="it-IT" sz="1800" b="1" dirty="0">
                <a:latin typeface="+mn-lt"/>
              </a:rPr>
              <a:t> </a:t>
            </a:r>
            <a:r>
              <a:rPr lang="it-IT" altLang="it-IT" sz="1800" b="1" dirty="0" err="1">
                <a:latin typeface="+mn-lt"/>
              </a:rPr>
              <a:t>difference</a:t>
            </a:r>
            <a:r>
              <a:rPr lang="it-IT" altLang="it-IT" sz="1800" b="1" dirty="0">
                <a:latin typeface="+mn-lt"/>
              </a:rPr>
              <a:t>:</a:t>
            </a:r>
          </a:p>
        </p:txBody>
      </p:sp>
      <p:sp>
        <p:nvSpPr>
          <p:cNvPr id="12" name="Text Box 7">
            <a:extLst>
              <a:ext uri="{FF2B5EF4-FFF2-40B4-BE49-F238E27FC236}">
                <a16:creationId xmlns:a16="http://schemas.microsoft.com/office/drawing/2014/main" id="{3BFF2198-931E-4004-0A2E-5C91F1FF4172}"/>
              </a:ext>
            </a:extLst>
          </p:cNvPr>
          <p:cNvSpPr txBox="1">
            <a:spLocks noChangeArrowheads="1"/>
          </p:cNvSpPr>
          <p:nvPr/>
        </p:nvSpPr>
        <p:spPr bwMode="auto">
          <a:xfrm>
            <a:off x="368300" y="4568825"/>
            <a:ext cx="76327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marL="342900" indent="-342900">
              <a:spcBef>
                <a:spcPct val="50000"/>
              </a:spcBef>
              <a:buFont typeface="Arial" panose="020B0604020202020204" pitchFamily="34" charset="0"/>
              <a:buChar char="•"/>
              <a:defRPr/>
            </a:pPr>
            <a:r>
              <a:rPr lang="it-IT" altLang="it-IT" sz="1900" b="1" dirty="0">
                <a:solidFill>
                  <a:srgbClr val="FA3514"/>
                </a:solidFill>
                <a:latin typeface="+mn-lt"/>
              </a:rPr>
              <a:t>RND- vs RND+</a:t>
            </a:r>
            <a:r>
              <a:rPr lang="it-IT" altLang="it-IT" sz="1900" b="1" dirty="0">
                <a:latin typeface="+mn-lt"/>
              </a:rPr>
              <a:t>: </a:t>
            </a:r>
            <a:r>
              <a:rPr lang="it-IT" altLang="it-IT" sz="1900" dirty="0">
                <a:latin typeface="+mn-lt"/>
              </a:rPr>
              <a:t>3.4; 95%CI: 1.7 to 6.9</a:t>
            </a:r>
          </a:p>
        </p:txBody>
      </p:sp>
      <p:sp>
        <p:nvSpPr>
          <p:cNvPr id="13" name="Text Box 8">
            <a:extLst>
              <a:ext uri="{FF2B5EF4-FFF2-40B4-BE49-F238E27FC236}">
                <a16:creationId xmlns:a16="http://schemas.microsoft.com/office/drawing/2014/main" id="{AA5260A6-F36A-2E05-7522-46E89A9BD823}"/>
              </a:ext>
            </a:extLst>
          </p:cNvPr>
          <p:cNvSpPr txBox="1">
            <a:spLocks noChangeArrowheads="1"/>
          </p:cNvSpPr>
          <p:nvPr/>
        </p:nvSpPr>
        <p:spPr bwMode="auto">
          <a:xfrm>
            <a:off x="381000" y="5006975"/>
            <a:ext cx="76327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marL="342900" indent="-342900">
              <a:spcBef>
                <a:spcPct val="50000"/>
              </a:spcBef>
              <a:buFont typeface="Arial" panose="020B0604020202020204" pitchFamily="34" charset="0"/>
              <a:buChar char="•"/>
              <a:defRPr/>
            </a:pPr>
            <a:r>
              <a:rPr lang="it-IT" altLang="it-IT" sz="1900" b="1" dirty="0">
                <a:solidFill>
                  <a:srgbClr val="FA3514"/>
                </a:solidFill>
                <a:latin typeface="+mn-lt"/>
              </a:rPr>
              <a:t>BLD- vs BLD+</a:t>
            </a:r>
            <a:r>
              <a:rPr lang="it-IT" altLang="it-IT" sz="1900" b="1" dirty="0">
                <a:latin typeface="+mn-lt"/>
              </a:rPr>
              <a:t>: </a:t>
            </a:r>
            <a:r>
              <a:rPr lang="it-IT" altLang="it-IT" sz="1900" dirty="0">
                <a:latin typeface="+mn-lt"/>
              </a:rPr>
              <a:t>3.2; 95%CI: 1.4 to 7.7</a:t>
            </a:r>
          </a:p>
        </p:txBody>
      </p:sp>
      <p:sp>
        <p:nvSpPr>
          <p:cNvPr id="14" name="Text Box 9">
            <a:extLst>
              <a:ext uri="{FF2B5EF4-FFF2-40B4-BE49-F238E27FC236}">
                <a16:creationId xmlns:a16="http://schemas.microsoft.com/office/drawing/2014/main" id="{4F2B30B9-B8A5-4756-5906-8A2F90927998}"/>
              </a:ext>
            </a:extLst>
          </p:cNvPr>
          <p:cNvSpPr txBox="1">
            <a:spLocks noChangeArrowheads="1"/>
          </p:cNvSpPr>
          <p:nvPr/>
        </p:nvSpPr>
        <p:spPr bwMode="auto">
          <a:xfrm>
            <a:off x="368300" y="5410200"/>
            <a:ext cx="76327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marL="342900" indent="-342900">
              <a:spcBef>
                <a:spcPct val="50000"/>
              </a:spcBef>
              <a:buFont typeface="Arial" panose="020B0604020202020204" pitchFamily="34" charset="0"/>
              <a:buChar char="•"/>
              <a:defRPr/>
            </a:pPr>
            <a:r>
              <a:rPr lang="it-IT" altLang="it-IT" sz="1900" b="1" dirty="0">
                <a:solidFill>
                  <a:srgbClr val="FA3514"/>
                </a:solidFill>
                <a:latin typeface="+mn-lt"/>
              </a:rPr>
              <a:t>(RND- &amp; BLD-)  vs (RND+ &amp; BLD+)</a:t>
            </a:r>
            <a:r>
              <a:rPr lang="it-IT" altLang="it-IT" sz="1900" b="1" dirty="0">
                <a:latin typeface="+mn-lt"/>
              </a:rPr>
              <a:t>: </a:t>
            </a:r>
            <a:r>
              <a:rPr lang="it-IT" altLang="it-IT" sz="1900" dirty="0">
                <a:latin typeface="+mn-lt"/>
              </a:rPr>
              <a:t>5.2; 95%CI: 2.0 to 13.5</a:t>
            </a:r>
          </a:p>
        </p:txBody>
      </p:sp>
      <p:sp>
        <p:nvSpPr>
          <p:cNvPr id="15" name="Rettangolo 2">
            <a:extLst>
              <a:ext uri="{FF2B5EF4-FFF2-40B4-BE49-F238E27FC236}">
                <a16:creationId xmlns:a16="http://schemas.microsoft.com/office/drawing/2014/main" id="{D05166BD-E28F-7C57-26F4-A9EAA898957A}"/>
              </a:ext>
            </a:extLst>
          </p:cNvPr>
          <p:cNvSpPr>
            <a:spLocks noChangeArrowheads="1"/>
          </p:cNvSpPr>
          <p:nvPr/>
        </p:nvSpPr>
        <p:spPr bwMode="auto">
          <a:xfrm>
            <a:off x="5105400" y="838200"/>
            <a:ext cx="2754313"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r"/>
            <a:r>
              <a:rPr lang="en-US" altLang="it-IT" sz="1900" b="1">
                <a:latin typeface="Calibri" panose="020F0502020204030204" pitchFamily="34" charset="0"/>
                <a:cs typeface="Calibri" panose="020F0502020204030204" pitchFamily="34" charset="0"/>
              </a:rPr>
              <a:t>Classification of studies present at the Society for Academic Emergency Medicine (SAEM) annual meetings from 1997 to</a:t>
            </a:r>
          </a:p>
          <a:p>
            <a:pPr algn="r"/>
            <a:r>
              <a:rPr lang="it-IT" altLang="it-IT" sz="1900" b="1">
                <a:latin typeface="Calibri" panose="020F0502020204030204" pitchFamily="34" charset="0"/>
                <a:cs typeface="Calibri" panose="020F0502020204030204" pitchFamily="34" charset="0"/>
              </a:rPr>
              <a:t>2001</a:t>
            </a:r>
          </a:p>
        </p:txBody>
      </p:sp>
    </p:spTree>
    <p:extLst>
      <p:ext uri="{BB962C8B-B14F-4D97-AF65-F5344CB8AC3E}">
        <p14:creationId xmlns:p14="http://schemas.microsoft.com/office/powerpoint/2010/main" val="26599814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B39C06-C8BE-A030-1288-643A05AF758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1C44F90-8432-6DD5-AE6C-DC2377C4F36C}"/>
              </a:ext>
            </a:extLst>
          </p:cNvPr>
          <p:cNvSpPr>
            <a:spLocks noGrp="1"/>
          </p:cNvSpPr>
          <p:nvPr>
            <p:ph type="sldNum" sz="quarter" idx="4"/>
          </p:nvPr>
        </p:nvSpPr>
        <p:spPr/>
        <p:txBody>
          <a:bodyPr/>
          <a:lstStyle/>
          <a:p>
            <a:fld id="{C231324C-4752-C242-8156-5E21DB4253A5}" type="slidenum">
              <a:rPr lang="en-GB" smtClean="0"/>
              <a:pPr/>
              <a:t>22</a:t>
            </a:fld>
            <a:endParaRPr lang="en-GB" dirty="0"/>
          </a:p>
        </p:txBody>
      </p:sp>
      <p:pic>
        <p:nvPicPr>
          <p:cNvPr id="5" name="Picture 4">
            <a:extLst>
              <a:ext uri="{FF2B5EF4-FFF2-40B4-BE49-F238E27FC236}">
                <a16:creationId xmlns:a16="http://schemas.microsoft.com/office/drawing/2014/main" id="{69EC8895-80C8-B245-FC4C-C66EC0DE29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811213"/>
            <a:ext cx="5441950" cy="505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a:extLst>
              <a:ext uri="{FF2B5EF4-FFF2-40B4-BE49-F238E27FC236}">
                <a16:creationId xmlns:a16="http://schemas.microsoft.com/office/drawing/2014/main" id="{48A23BBB-BC3D-72F5-6C59-ADD0863395A1}"/>
              </a:ext>
            </a:extLst>
          </p:cNvPr>
          <p:cNvSpPr>
            <a:spLocks noChangeArrowheads="1"/>
          </p:cNvSpPr>
          <p:nvPr/>
        </p:nvSpPr>
        <p:spPr bwMode="auto">
          <a:xfrm>
            <a:off x="0" y="6303963"/>
            <a:ext cx="9144000" cy="55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r>
              <a:rPr lang="it-IT" altLang="it-IT" sz="1500" baseline="30000">
                <a:latin typeface="Arial Narrow" panose="020B0604020202020204" pitchFamily="34" charset="0"/>
              </a:rPr>
              <a:t>(1)</a:t>
            </a:r>
            <a:r>
              <a:rPr lang="it-IT" altLang="it-IT" sz="1500">
                <a:latin typeface="Arial Narrow" panose="020B0604020202020204" pitchFamily="34" charset="0"/>
              </a:rPr>
              <a:t> Kilkenny, C., Parsons, N., Kadyszewski, E., Festing, M. F., Cuthill, I. C., Fry, D., Hutton, J. and Altman, D. G. (2009) Survey of the quality of experimental design, statistical analysis and reporting of research using animals. </a:t>
            </a:r>
            <a:r>
              <a:rPr lang="it-IT" altLang="it-IT" sz="1500" i="1">
                <a:latin typeface="Arial Narrow" panose="020B0604020202020204" pitchFamily="34" charset="0"/>
              </a:rPr>
              <a:t>PLoS One</a:t>
            </a:r>
            <a:r>
              <a:rPr lang="it-IT" altLang="it-IT" sz="1500">
                <a:latin typeface="Arial Narrow" panose="020B0604020202020204" pitchFamily="34" charset="0"/>
              </a:rPr>
              <a:t>, </a:t>
            </a:r>
            <a:r>
              <a:rPr lang="it-IT" altLang="it-IT" sz="1500" b="1">
                <a:latin typeface="Arial Narrow" panose="020B0604020202020204" pitchFamily="34" charset="0"/>
              </a:rPr>
              <a:t>4</a:t>
            </a:r>
            <a:r>
              <a:rPr lang="it-IT" altLang="it-IT" sz="1500">
                <a:latin typeface="Arial Narrow" panose="020B0604020202020204" pitchFamily="34" charset="0"/>
              </a:rPr>
              <a:t>, e7824</a:t>
            </a:r>
          </a:p>
        </p:txBody>
      </p:sp>
      <p:sp>
        <p:nvSpPr>
          <p:cNvPr id="7" name="Rectangle 6">
            <a:extLst>
              <a:ext uri="{FF2B5EF4-FFF2-40B4-BE49-F238E27FC236}">
                <a16:creationId xmlns:a16="http://schemas.microsoft.com/office/drawing/2014/main" id="{EE4280E8-F41A-B6A1-3DCF-5FE154BD42A1}"/>
              </a:ext>
            </a:extLst>
          </p:cNvPr>
          <p:cNvSpPr txBox="1">
            <a:spLocks noChangeArrowheads="1"/>
          </p:cNvSpPr>
          <p:nvPr/>
        </p:nvSpPr>
        <p:spPr>
          <a:xfrm>
            <a:off x="76200" y="15875"/>
            <a:ext cx="7848600" cy="593725"/>
          </a:xfrm>
          <a:prstGeom prst="rect">
            <a:avLst/>
          </a:prstGeom>
        </p:spPr>
        <p:txBody>
          <a:bodyPr vert="horz" lIns="0" tIns="0" rIns="0" bIns="0" rtlCol="0" anchor="t" anchorCtr="0">
            <a:noAutofit/>
          </a:bodyPr>
          <a:lstStyle>
            <a:lvl1pPr algn="l" defTabSz="457200" rtl="0" eaLnBrk="1" latinLnBrk="0" hangingPunct="1">
              <a:lnSpc>
                <a:spcPts val="3600"/>
              </a:lnSpc>
              <a:spcBef>
                <a:spcPct val="0"/>
              </a:spcBef>
              <a:buNone/>
              <a:defRPr sz="3200" b="1" kern="1200">
                <a:solidFill>
                  <a:schemeClr val="tx1"/>
                </a:solidFill>
                <a:latin typeface="+mj-lt"/>
                <a:ea typeface="+mj-ea"/>
                <a:cs typeface="+mj-cs"/>
              </a:defRPr>
            </a:lvl1pPr>
          </a:lstStyle>
          <a:p>
            <a:pPr>
              <a:defRPr/>
            </a:pPr>
            <a:r>
              <a:rPr lang="it-IT" altLang="it-IT" sz="3150"/>
              <a:t>Better statistics and reporting is needed</a:t>
            </a:r>
            <a:endParaRPr lang="it-IT" altLang="it-IT" sz="3150" dirty="0"/>
          </a:p>
        </p:txBody>
      </p:sp>
      <p:sp>
        <p:nvSpPr>
          <p:cNvPr id="8" name="Text Box 7">
            <a:extLst>
              <a:ext uri="{FF2B5EF4-FFF2-40B4-BE49-F238E27FC236}">
                <a16:creationId xmlns:a16="http://schemas.microsoft.com/office/drawing/2014/main" id="{2B84F9E4-9909-3A1D-68AD-BFE87CAB9597}"/>
              </a:ext>
            </a:extLst>
          </p:cNvPr>
          <p:cNvSpPr txBox="1">
            <a:spLocks noChangeArrowheads="1"/>
          </p:cNvSpPr>
          <p:nvPr/>
        </p:nvSpPr>
        <p:spPr bwMode="auto">
          <a:xfrm>
            <a:off x="6248400" y="1741488"/>
            <a:ext cx="2438400" cy="39211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spcBef>
                <a:spcPct val="50000"/>
              </a:spcBef>
            </a:pPr>
            <a:r>
              <a:rPr lang="it-IT" altLang="it-IT" sz="1800"/>
              <a:t>Poor reporting</a:t>
            </a:r>
          </a:p>
        </p:txBody>
      </p:sp>
      <p:sp>
        <p:nvSpPr>
          <p:cNvPr id="9" name="Text Box 8">
            <a:extLst>
              <a:ext uri="{FF2B5EF4-FFF2-40B4-BE49-F238E27FC236}">
                <a16:creationId xmlns:a16="http://schemas.microsoft.com/office/drawing/2014/main" id="{0F5C5FF3-9C6C-90CD-FF67-8E921021A826}"/>
              </a:ext>
            </a:extLst>
          </p:cNvPr>
          <p:cNvSpPr txBox="1">
            <a:spLocks noChangeArrowheads="1"/>
          </p:cNvSpPr>
          <p:nvPr/>
        </p:nvSpPr>
        <p:spPr bwMode="auto">
          <a:xfrm>
            <a:off x="6248400" y="3535363"/>
            <a:ext cx="2438400" cy="369887"/>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spcBef>
                <a:spcPct val="50000"/>
              </a:spcBef>
            </a:pPr>
            <a:r>
              <a:rPr lang="it-IT" altLang="it-IT" sz="1800"/>
              <a:t>Poor internal validity</a:t>
            </a:r>
          </a:p>
        </p:txBody>
      </p:sp>
      <p:sp>
        <p:nvSpPr>
          <p:cNvPr id="10" name="Line 9">
            <a:extLst>
              <a:ext uri="{FF2B5EF4-FFF2-40B4-BE49-F238E27FC236}">
                <a16:creationId xmlns:a16="http://schemas.microsoft.com/office/drawing/2014/main" id="{2F504B4D-0AA1-CEF0-C716-86FF5219386E}"/>
              </a:ext>
            </a:extLst>
          </p:cNvPr>
          <p:cNvSpPr>
            <a:spLocks noChangeShapeType="1"/>
          </p:cNvSpPr>
          <p:nvPr/>
        </p:nvSpPr>
        <p:spPr bwMode="auto">
          <a:xfrm>
            <a:off x="6019800" y="1905000"/>
            <a:ext cx="152400" cy="0"/>
          </a:xfrm>
          <a:prstGeom prst="line">
            <a:avLst/>
          </a:prstGeom>
          <a:noFill/>
          <a:ln w="254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10">
            <a:extLst>
              <a:ext uri="{FF2B5EF4-FFF2-40B4-BE49-F238E27FC236}">
                <a16:creationId xmlns:a16="http://schemas.microsoft.com/office/drawing/2014/main" id="{D5BA0DCC-FB94-C494-ACE3-0068B2DEEBD7}"/>
              </a:ext>
            </a:extLst>
          </p:cNvPr>
          <p:cNvSpPr>
            <a:spLocks noChangeShapeType="1"/>
          </p:cNvSpPr>
          <p:nvPr/>
        </p:nvSpPr>
        <p:spPr bwMode="auto">
          <a:xfrm>
            <a:off x="6019800" y="1676400"/>
            <a:ext cx="0" cy="4038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11">
            <a:extLst>
              <a:ext uri="{FF2B5EF4-FFF2-40B4-BE49-F238E27FC236}">
                <a16:creationId xmlns:a16="http://schemas.microsoft.com/office/drawing/2014/main" id="{4E15C4B2-2E60-6C1B-C46D-821F9DEF046D}"/>
              </a:ext>
            </a:extLst>
          </p:cNvPr>
          <p:cNvSpPr>
            <a:spLocks noChangeShapeType="1"/>
          </p:cNvSpPr>
          <p:nvPr/>
        </p:nvSpPr>
        <p:spPr bwMode="auto">
          <a:xfrm>
            <a:off x="5867400" y="1600200"/>
            <a:ext cx="0" cy="40386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2">
            <a:extLst>
              <a:ext uri="{FF2B5EF4-FFF2-40B4-BE49-F238E27FC236}">
                <a16:creationId xmlns:a16="http://schemas.microsoft.com/office/drawing/2014/main" id="{2C2CD882-73E7-261D-B086-569BDEE7E19A}"/>
              </a:ext>
            </a:extLst>
          </p:cNvPr>
          <p:cNvSpPr>
            <a:spLocks noChangeShapeType="1"/>
          </p:cNvSpPr>
          <p:nvPr/>
        </p:nvSpPr>
        <p:spPr bwMode="auto">
          <a:xfrm>
            <a:off x="5867400" y="3810000"/>
            <a:ext cx="304800" cy="0"/>
          </a:xfrm>
          <a:prstGeom prst="line">
            <a:avLst/>
          </a:prstGeom>
          <a:noFill/>
          <a:ln w="25400">
            <a:solidFill>
              <a:srgbClr val="FF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3">
            <a:extLst>
              <a:ext uri="{FF2B5EF4-FFF2-40B4-BE49-F238E27FC236}">
                <a16:creationId xmlns:a16="http://schemas.microsoft.com/office/drawing/2014/main" id="{7235BEA4-B213-8C1D-3D80-7540CE84631F}"/>
              </a:ext>
            </a:extLst>
          </p:cNvPr>
          <p:cNvSpPr>
            <a:spLocks noChangeShapeType="1"/>
          </p:cNvSpPr>
          <p:nvPr/>
        </p:nvSpPr>
        <p:spPr bwMode="auto">
          <a:xfrm>
            <a:off x="7391400" y="3962400"/>
            <a:ext cx="0" cy="30480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Text Box 14">
            <a:extLst>
              <a:ext uri="{FF2B5EF4-FFF2-40B4-BE49-F238E27FC236}">
                <a16:creationId xmlns:a16="http://schemas.microsoft.com/office/drawing/2014/main" id="{D1E448F6-9200-08C1-B3EC-CD9B67214A86}"/>
              </a:ext>
            </a:extLst>
          </p:cNvPr>
          <p:cNvSpPr txBox="1">
            <a:spLocks noChangeArrowheads="1"/>
          </p:cNvSpPr>
          <p:nvPr/>
        </p:nvSpPr>
        <p:spPr bwMode="auto">
          <a:xfrm>
            <a:off x="6019800" y="4251325"/>
            <a:ext cx="2895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a:spcBef>
                <a:spcPct val="50000"/>
              </a:spcBef>
            </a:pPr>
            <a:r>
              <a:rPr lang="it-IT" altLang="it-IT" sz="1500" b="1">
                <a:solidFill>
                  <a:srgbClr val="FF3300"/>
                </a:solidFill>
              </a:rPr>
              <a:t>False pos/neg experiments</a:t>
            </a:r>
          </a:p>
        </p:txBody>
      </p:sp>
      <p:sp>
        <p:nvSpPr>
          <p:cNvPr id="16" name="Line 16">
            <a:extLst>
              <a:ext uri="{FF2B5EF4-FFF2-40B4-BE49-F238E27FC236}">
                <a16:creationId xmlns:a16="http://schemas.microsoft.com/office/drawing/2014/main" id="{EB8D220F-3618-C8C0-2A75-CF707D875E74}"/>
              </a:ext>
            </a:extLst>
          </p:cNvPr>
          <p:cNvSpPr>
            <a:spLocks noChangeShapeType="1"/>
          </p:cNvSpPr>
          <p:nvPr/>
        </p:nvSpPr>
        <p:spPr bwMode="auto">
          <a:xfrm>
            <a:off x="5486400" y="3505200"/>
            <a:ext cx="381000" cy="0"/>
          </a:xfrm>
          <a:prstGeom prst="line">
            <a:avLst/>
          </a:prstGeom>
          <a:noFill/>
          <a:ln w="25400">
            <a:solidFill>
              <a:srgbClr val="FF0000"/>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7">
            <a:extLst>
              <a:ext uri="{FF2B5EF4-FFF2-40B4-BE49-F238E27FC236}">
                <a16:creationId xmlns:a16="http://schemas.microsoft.com/office/drawing/2014/main" id="{CD035794-B7B2-EA2C-B899-2DC6F4259C28}"/>
              </a:ext>
            </a:extLst>
          </p:cNvPr>
          <p:cNvSpPr>
            <a:spLocks noChangeShapeType="1"/>
          </p:cNvSpPr>
          <p:nvPr/>
        </p:nvSpPr>
        <p:spPr bwMode="auto">
          <a:xfrm>
            <a:off x="5486400" y="4267200"/>
            <a:ext cx="381000" cy="0"/>
          </a:xfrm>
          <a:prstGeom prst="line">
            <a:avLst/>
          </a:prstGeom>
          <a:noFill/>
          <a:ln w="25400">
            <a:solidFill>
              <a:srgbClr val="FF0000"/>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8">
            <a:extLst>
              <a:ext uri="{FF2B5EF4-FFF2-40B4-BE49-F238E27FC236}">
                <a16:creationId xmlns:a16="http://schemas.microsoft.com/office/drawing/2014/main" id="{678629FD-FB7A-A1BA-2EBD-5DFDC678163E}"/>
              </a:ext>
            </a:extLst>
          </p:cNvPr>
          <p:cNvSpPr>
            <a:spLocks noChangeShapeType="1"/>
          </p:cNvSpPr>
          <p:nvPr/>
        </p:nvSpPr>
        <p:spPr bwMode="auto">
          <a:xfrm>
            <a:off x="5486400" y="4495800"/>
            <a:ext cx="381000" cy="0"/>
          </a:xfrm>
          <a:prstGeom prst="line">
            <a:avLst/>
          </a:prstGeom>
          <a:noFill/>
          <a:ln w="25400">
            <a:solidFill>
              <a:srgbClr val="FF0000"/>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9">
            <a:extLst>
              <a:ext uri="{FF2B5EF4-FFF2-40B4-BE49-F238E27FC236}">
                <a16:creationId xmlns:a16="http://schemas.microsoft.com/office/drawing/2014/main" id="{2DE98A50-EBDD-24C7-2D85-E04C2CF62FF8}"/>
              </a:ext>
            </a:extLst>
          </p:cNvPr>
          <p:cNvSpPr>
            <a:spLocks noChangeShapeType="1"/>
          </p:cNvSpPr>
          <p:nvPr/>
        </p:nvSpPr>
        <p:spPr bwMode="auto">
          <a:xfrm>
            <a:off x="5486400" y="5502275"/>
            <a:ext cx="381000" cy="0"/>
          </a:xfrm>
          <a:prstGeom prst="line">
            <a:avLst/>
          </a:prstGeom>
          <a:noFill/>
          <a:ln w="25400">
            <a:solidFill>
              <a:srgbClr val="FF0000"/>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Text Box 20">
            <a:extLst>
              <a:ext uri="{FF2B5EF4-FFF2-40B4-BE49-F238E27FC236}">
                <a16:creationId xmlns:a16="http://schemas.microsoft.com/office/drawing/2014/main" id="{2864F27F-7979-E973-A00E-AE4443B7AFE7}"/>
              </a:ext>
            </a:extLst>
          </p:cNvPr>
          <p:cNvSpPr txBox="1">
            <a:spLocks noChangeArrowheads="1"/>
          </p:cNvSpPr>
          <p:nvPr/>
        </p:nvSpPr>
        <p:spPr bwMode="auto">
          <a:xfrm>
            <a:off x="6248400" y="2422525"/>
            <a:ext cx="2895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spcBef>
                <a:spcPct val="50000"/>
              </a:spcBef>
            </a:pPr>
            <a:r>
              <a:rPr lang="it-IT" altLang="it-IT" sz="1500" b="1"/>
              <a:t>1. Weight of evidence</a:t>
            </a:r>
          </a:p>
        </p:txBody>
      </p:sp>
      <p:sp>
        <p:nvSpPr>
          <p:cNvPr id="21" name="Text Box 21">
            <a:extLst>
              <a:ext uri="{FF2B5EF4-FFF2-40B4-BE49-F238E27FC236}">
                <a16:creationId xmlns:a16="http://schemas.microsoft.com/office/drawing/2014/main" id="{B5A3CA78-B4B7-75E1-655A-2A7B71D9C8E3}"/>
              </a:ext>
            </a:extLst>
          </p:cNvPr>
          <p:cNvSpPr txBox="1">
            <a:spLocks noChangeArrowheads="1"/>
          </p:cNvSpPr>
          <p:nvPr/>
        </p:nvSpPr>
        <p:spPr bwMode="auto">
          <a:xfrm>
            <a:off x="6248400" y="2727325"/>
            <a:ext cx="2895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spcBef>
                <a:spcPct val="50000"/>
              </a:spcBef>
            </a:pPr>
            <a:r>
              <a:rPr lang="it-IT" altLang="it-IT" sz="1500" b="1"/>
              <a:t>2. Reproducibility</a:t>
            </a:r>
          </a:p>
        </p:txBody>
      </p:sp>
      <p:sp>
        <p:nvSpPr>
          <p:cNvPr id="22" name="Line 22">
            <a:extLst>
              <a:ext uri="{FF2B5EF4-FFF2-40B4-BE49-F238E27FC236}">
                <a16:creationId xmlns:a16="http://schemas.microsoft.com/office/drawing/2014/main" id="{D962D206-85AD-3B3C-60F0-0DA59086057E}"/>
              </a:ext>
            </a:extLst>
          </p:cNvPr>
          <p:cNvSpPr>
            <a:spLocks noChangeShapeType="1"/>
          </p:cNvSpPr>
          <p:nvPr/>
        </p:nvSpPr>
        <p:spPr bwMode="auto">
          <a:xfrm>
            <a:off x="5562600" y="1752600"/>
            <a:ext cx="457200" cy="0"/>
          </a:xfrm>
          <a:prstGeom prst="line">
            <a:avLst/>
          </a:prstGeom>
          <a:noFill/>
          <a:ln w="25400">
            <a:solidFill>
              <a:schemeClr val="tx1"/>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23">
            <a:extLst>
              <a:ext uri="{FF2B5EF4-FFF2-40B4-BE49-F238E27FC236}">
                <a16:creationId xmlns:a16="http://schemas.microsoft.com/office/drawing/2014/main" id="{79DCBC77-AAA2-925A-C717-27C2D17B44B4}"/>
              </a:ext>
            </a:extLst>
          </p:cNvPr>
          <p:cNvSpPr>
            <a:spLocks noChangeShapeType="1"/>
          </p:cNvSpPr>
          <p:nvPr/>
        </p:nvSpPr>
        <p:spPr bwMode="auto">
          <a:xfrm>
            <a:off x="5562600" y="2022475"/>
            <a:ext cx="457200" cy="0"/>
          </a:xfrm>
          <a:prstGeom prst="line">
            <a:avLst/>
          </a:prstGeom>
          <a:noFill/>
          <a:ln w="25400">
            <a:solidFill>
              <a:schemeClr val="tx1"/>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24">
            <a:extLst>
              <a:ext uri="{FF2B5EF4-FFF2-40B4-BE49-F238E27FC236}">
                <a16:creationId xmlns:a16="http://schemas.microsoft.com/office/drawing/2014/main" id="{C6DEB298-48B0-2275-D693-D0FD71767659}"/>
              </a:ext>
            </a:extLst>
          </p:cNvPr>
          <p:cNvSpPr>
            <a:spLocks noChangeShapeType="1"/>
          </p:cNvSpPr>
          <p:nvPr/>
        </p:nvSpPr>
        <p:spPr bwMode="auto">
          <a:xfrm>
            <a:off x="5562600" y="2286000"/>
            <a:ext cx="457200" cy="0"/>
          </a:xfrm>
          <a:prstGeom prst="line">
            <a:avLst/>
          </a:prstGeom>
          <a:noFill/>
          <a:ln w="25400">
            <a:solidFill>
              <a:schemeClr val="tx1"/>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5">
            <a:extLst>
              <a:ext uri="{FF2B5EF4-FFF2-40B4-BE49-F238E27FC236}">
                <a16:creationId xmlns:a16="http://schemas.microsoft.com/office/drawing/2014/main" id="{3F0882D9-50BF-A4D7-EC56-3EBD94EEA92F}"/>
              </a:ext>
            </a:extLst>
          </p:cNvPr>
          <p:cNvSpPr>
            <a:spLocks noChangeShapeType="1"/>
          </p:cNvSpPr>
          <p:nvPr/>
        </p:nvSpPr>
        <p:spPr bwMode="auto">
          <a:xfrm>
            <a:off x="5562600" y="2590800"/>
            <a:ext cx="457200" cy="0"/>
          </a:xfrm>
          <a:prstGeom prst="line">
            <a:avLst/>
          </a:prstGeom>
          <a:noFill/>
          <a:ln w="25400">
            <a:solidFill>
              <a:schemeClr val="tx1"/>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6">
            <a:extLst>
              <a:ext uri="{FF2B5EF4-FFF2-40B4-BE49-F238E27FC236}">
                <a16:creationId xmlns:a16="http://schemas.microsoft.com/office/drawing/2014/main" id="{0EDEF3FB-5709-8B3F-8399-E8A2433A72D3}"/>
              </a:ext>
            </a:extLst>
          </p:cNvPr>
          <p:cNvSpPr>
            <a:spLocks noChangeShapeType="1"/>
          </p:cNvSpPr>
          <p:nvPr/>
        </p:nvSpPr>
        <p:spPr bwMode="auto">
          <a:xfrm>
            <a:off x="5562600" y="2819400"/>
            <a:ext cx="457200" cy="0"/>
          </a:xfrm>
          <a:prstGeom prst="line">
            <a:avLst/>
          </a:prstGeom>
          <a:noFill/>
          <a:ln w="25400">
            <a:solidFill>
              <a:schemeClr val="tx1"/>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7">
            <a:extLst>
              <a:ext uri="{FF2B5EF4-FFF2-40B4-BE49-F238E27FC236}">
                <a16:creationId xmlns:a16="http://schemas.microsoft.com/office/drawing/2014/main" id="{5EE7A9E0-9193-64EB-9903-EA2298B744B4}"/>
              </a:ext>
            </a:extLst>
          </p:cNvPr>
          <p:cNvSpPr>
            <a:spLocks noChangeShapeType="1"/>
          </p:cNvSpPr>
          <p:nvPr/>
        </p:nvSpPr>
        <p:spPr bwMode="auto">
          <a:xfrm>
            <a:off x="5562600" y="3124200"/>
            <a:ext cx="457200" cy="0"/>
          </a:xfrm>
          <a:prstGeom prst="line">
            <a:avLst/>
          </a:prstGeom>
          <a:noFill/>
          <a:ln w="25400">
            <a:solidFill>
              <a:schemeClr val="tx1"/>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28">
            <a:extLst>
              <a:ext uri="{FF2B5EF4-FFF2-40B4-BE49-F238E27FC236}">
                <a16:creationId xmlns:a16="http://schemas.microsoft.com/office/drawing/2014/main" id="{2ADA3622-D19B-7A2C-2651-80D2D968FCB6}"/>
              </a:ext>
            </a:extLst>
          </p:cNvPr>
          <p:cNvSpPr>
            <a:spLocks noChangeShapeType="1"/>
          </p:cNvSpPr>
          <p:nvPr/>
        </p:nvSpPr>
        <p:spPr bwMode="auto">
          <a:xfrm>
            <a:off x="5562600" y="3810000"/>
            <a:ext cx="457200" cy="0"/>
          </a:xfrm>
          <a:prstGeom prst="line">
            <a:avLst/>
          </a:prstGeom>
          <a:noFill/>
          <a:ln w="25400">
            <a:solidFill>
              <a:schemeClr val="tx1"/>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29">
            <a:extLst>
              <a:ext uri="{FF2B5EF4-FFF2-40B4-BE49-F238E27FC236}">
                <a16:creationId xmlns:a16="http://schemas.microsoft.com/office/drawing/2014/main" id="{5B67D2F0-CF67-E898-AD2E-4CA9BF97483D}"/>
              </a:ext>
            </a:extLst>
          </p:cNvPr>
          <p:cNvSpPr>
            <a:spLocks noChangeShapeType="1"/>
          </p:cNvSpPr>
          <p:nvPr/>
        </p:nvSpPr>
        <p:spPr bwMode="auto">
          <a:xfrm>
            <a:off x="5562600" y="4800600"/>
            <a:ext cx="457200" cy="0"/>
          </a:xfrm>
          <a:prstGeom prst="line">
            <a:avLst/>
          </a:prstGeom>
          <a:noFill/>
          <a:ln w="25400">
            <a:solidFill>
              <a:schemeClr val="tx1"/>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30">
            <a:extLst>
              <a:ext uri="{FF2B5EF4-FFF2-40B4-BE49-F238E27FC236}">
                <a16:creationId xmlns:a16="http://schemas.microsoft.com/office/drawing/2014/main" id="{FDD3282F-EE07-366A-63DB-B076CC983F0A}"/>
              </a:ext>
            </a:extLst>
          </p:cNvPr>
          <p:cNvSpPr>
            <a:spLocks noChangeShapeType="1"/>
          </p:cNvSpPr>
          <p:nvPr/>
        </p:nvSpPr>
        <p:spPr bwMode="auto">
          <a:xfrm>
            <a:off x="5562600" y="5105400"/>
            <a:ext cx="457200" cy="0"/>
          </a:xfrm>
          <a:prstGeom prst="line">
            <a:avLst/>
          </a:prstGeom>
          <a:noFill/>
          <a:ln w="25400">
            <a:solidFill>
              <a:schemeClr val="tx1"/>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31">
            <a:extLst>
              <a:ext uri="{FF2B5EF4-FFF2-40B4-BE49-F238E27FC236}">
                <a16:creationId xmlns:a16="http://schemas.microsoft.com/office/drawing/2014/main" id="{646805E8-96DF-553C-BD05-FED93FA55104}"/>
              </a:ext>
            </a:extLst>
          </p:cNvPr>
          <p:cNvSpPr>
            <a:spLocks noChangeShapeType="1"/>
          </p:cNvSpPr>
          <p:nvPr/>
        </p:nvSpPr>
        <p:spPr bwMode="auto">
          <a:xfrm>
            <a:off x="5562600" y="5486400"/>
            <a:ext cx="457200" cy="0"/>
          </a:xfrm>
          <a:prstGeom prst="line">
            <a:avLst/>
          </a:prstGeom>
          <a:noFill/>
          <a:ln w="25400">
            <a:solidFill>
              <a:schemeClr val="tx1"/>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32">
            <a:extLst>
              <a:ext uri="{FF2B5EF4-FFF2-40B4-BE49-F238E27FC236}">
                <a16:creationId xmlns:a16="http://schemas.microsoft.com/office/drawing/2014/main" id="{AD02C9F1-BC4B-B77C-FEF7-15961A3DA954}"/>
              </a:ext>
            </a:extLst>
          </p:cNvPr>
          <p:cNvSpPr>
            <a:spLocks noChangeShapeType="1"/>
          </p:cNvSpPr>
          <p:nvPr/>
        </p:nvSpPr>
        <p:spPr bwMode="auto">
          <a:xfrm>
            <a:off x="7391400" y="2133600"/>
            <a:ext cx="0" cy="3048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Text Box 21">
            <a:extLst>
              <a:ext uri="{FF2B5EF4-FFF2-40B4-BE49-F238E27FC236}">
                <a16:creationId xmlns:a16="http://schemas.microsoft.com/office/drawing/2014/main" id="{C80D6446-A0D3-7128-2FB0-2710DB04EAFA}"/>
              </a:ext>
            </a:extLst>
          </p:cNvPr>
          <p:cNvSpPr txBox="1">
            <a:spLocks noChangeArrowheads="1"/>
          </p:cNvSpPr>
          <p:nvPr/>
        </p:nvSpPr>
        <p:spPr bwMode="auto">
          <a:xfrm>
            <a:off x="6324600" y="4953000"/>
            <a:ext cx="22860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a:spcBef>
                <a:spcPct val="50000"/>
              </a:spcBef>
            </a:pPr>
            <a:r>
              <a:rPr lang="it-IT" altLang="it-IT" sz="1500" b="1">
                <a:solidFill>
                  <a:srgbClr val="FF3300"/>
                </a:solidFill>
              </a:rPr>
              <a:t>Reproducibility</a:t>
            </a:r>
          </a:p>
        </p:txBody>
      </p:sp>
      <p:sp>
        <p:nvSpPr>
          <p:cNvPr id="34" name="Line 13">
            <a:extLst>
              <a:ext uri="{FF2B5EF4-FFF2-40B4-BE49-F238E27FC236}">
                <a16:creationId xmlns:a16="http://schemas.microsoft.com/office/drawing/2014/main" id="{AADFC662-1E34-9A7D-F6A7-A33632C5AFE6}"/>
              </a:ext>
            </a:extLst>
          </p:cNvPr>
          <p:cNvSpPr>
            <a:spLocks noChangeShapeType="1"/>
          </p:cNvSpPr>
          <p:nvPr/>
        </p:nvSpPr>
        <p:spPr bwMode="auto">
          <a:xfrm>
            <a:off x="7391400" y="4648200"/>
            <a:ext cx="0" cy="30480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640607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F497D"/>
                </a:solidFill>
                <a:ea typeface="ＭＳ Ｐゴシック" charset="0"/>
                <a:cs typeface="ＭＳ Ｐゴシック" charset="0"/>
              </a:rPr>
              <a:t>Consequences of Poor Experimental Design…</a:t>
            </a:r>
            <a:endParaRPr lang="en-US" dirty="0"/>
          </a:p>
        </p:txBody>
      </p:sp>
      <p:sp>
        <p:nvSpPr>
          <p:cNvPr id="3" name="Content Placeholder 2"/>
          <p:cNvSpPr>
            <a:spLocks noGrp="1"/>
          </p:cNvSpPr>
          <p:nvPr>
            <p:ph idx="1"/>
          </p:nvPr>
        </p:nvSpPr>
        <p:spPr>
          <a:xfrm>
            <a:off x="1119369" y="1340768"/>
            <a:ext cx="7734064" cy="4114800"/>
          </a:xfrm>
        </p:spPr>
        <p:txBody>
          <a:bodyPr/>
          <a:lstStyle/>
          <a:p>
            <a:pPr lvl="1">
              <a:buFont typeface="Arial" panose="020B0604020202020204" pitchFamily="34" charset="0"/>
              <a:buChar char="•"/>
              <a:defRPr/>
            </a:pPr>
            <a:r>
              <a:rPr lang="en-US" b="1" dirty="0">
                <a:solidFill>
                  <a:schemeClr val="accent1"/>
                </a:solidFill>
                <a:ea typeface="ＭＳ Ｐゴシック" charset="0"/>
              </a:rPr>
              <a:t>Cost</a:t>
            </a:r>
            <a:r>
              <a:rPr lang="en-US" dirty="0">
                <a:solidFill>
                  <a:srgbClr val="FF0000"/>
                </a:solidFill>
                <a:ea typeface="ＭＳ Ｐゴシック" charset="0"/>
              </a:rPr>
              <a:t> </a:t>
            </a:r>
            <a:r>
              <a:rPr lang="en-US" dirty="0">
                <a:ea typeface="ＭＳ Ｐゴシック" charset="0"/>
              </a:rPr>
              <a:t>of experimentation. We have a responsibility to CRUK donors!</a:t>
            </a:r>
          </a:p>
          <a:p>
            <a:pPr lvl="1">
              <a:buFont typeface="Arial" panose="020B0604020202020204" pitchFamily="34" charset="0"/>
              <a:buChar char="•"/>
              <a:defRPr/>
            </a:pPr>
            <a:r>
              <a:rPr lang="en-US" b="1" dirty="0">
                <a:solidFill>
                  <a:schemeClr val="accent1"/>
                </a:solidFill>
                <a:ea typeface="ＭＳ Ｐゴシック" charset="0"/>
              </a:rPr>
              <a:t>Limited &amp; Precious </a:t>
            </a:r>
            <a:r>
              <a:rPr lang="en-US" dirty="0">
                <a:ea typeface="ＭＳ Ｐゴシック" charset="0"/>
              </a:rPr>
              <a:t>material, esp. clinical samples.</a:t>
            </a:r>
          </a:p>
          <a:p>
            <a:pPr lvl="1">
              <a:buFont typeface="Arial" panose="020B0604020202020204" pitchFamily="34" charset="0"/>
              <a:buChar char="•"/>
              <a:defRPr/>
            </a:pPr>
            <a:r>
              <a:rPr lang="en-US" b="1" dirty="0">
                <a:solidFill>
                  <a:schemeClr val="accent1"/>
                </a:solidFill>
                <a:ea typeface="ＭＳ Ｐゴシック" charset="0"/>
              </a:rPr>
              <a:t>Immortalization</a:t>
            </a:r>
            <a:r>
              <a:rPr lang="en-US" dirty="0">
                <a:solidFill>
                  <a:srgbClr val="FF0000"/>
                </a:solidFill>
                <a:ea typeface="ＭＳ Ｐゴシック" charset="0"/>
              </a:rPr>
              <a:t> </a:t>
            </a:r>
            <a:r>
              <a:rPr lang="en-US" dirty="0">
                <a:ea typeface="ＭＳ Ｐゴシック" charset="0"/>
              </a:rPr>
              <a:t>of data sets in public databases and methods in the literature. Our bad science begets more bad science.</a:t>
            </a:r>
          </a:p>
          <a:p>
            <a:pPr lvl="1">
              <a:buFont typeface="Arial" panose="020B0604020202020204" pitchFamily="34" charset="0"/>
              <a:buChar char="•"/>
              <a:defRPr/>
            </a:pPr>
            <a:r>
              <a:rPr lang="en-US" b="1" dirty="0">
                <a:solidFill>
                  <a:schemeClr val="accent1"/>
                </a:solidFill>
                <a:ea typeface="ＭＳ Ｐゴシック" charset="0"/>
              </a:rPr>
              <a:t>Ethical concerns </a:t>
            </a:r>
            <a:r>
              <a:rPr lang="en-US" dirty="0">
                <a:ea typeface="ＭＳ Ｐゴシック" charset="0"/>
              </a:rPr>
              <a:t>of experimentation: animals and clinical samples.</a:t>
            </a:r>
          </a:p>
          <a:p>
            <a:pPr lvl="1">
              <a:buFont typeface="Arial" panose="020B0604020202020204" pitchFamily="34" charset="0"/>
              <a:buChar char="•"/>
              <a:defRPr/>
            </a:pPr>
            <a:r>
              <a:rPr lang="en-US" dirty="0">
                <a:solidFill>
                  <a:srgbClr val="FF0000"/>
                </a:solidFill>
                <a:ea typeface="ＭＳ Ｐゴシック" charset="0"/>
              </a:rPr>
              <a:t>Wrong way to preclinical and </a:t>
            </a:r>
          </a:p>
          <a:p>
            <a:pPr marL="360362" lvl="1" indent="0">
              <a:buNone/>
              <a:defRPr/>
            </a:pPr>
            <a:r>
              <a:rPr lang="en-US" dirty="0">
                <a:solidFill>
                  <a:srgbClr val="FF0000"/>
                </a:solidFill>
                <a:ea typeface="ＭＳ Ｐゴシック" charset="0"/>
              </a:rPr>
              <a:t>	   above all clinical research</a:t>
            </a:r>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23</a:t>
            </a:fld>
            <a:endParaRPr lang="en-GB" dirty="0"/>
          </a:p>
        </p:txBody>
      </p:sp>
      <p:pic>
        <p:nvPicPr>
          <p:cNvPr id="5" name="Picture 10" descr="Risultati immagini per go astray">
            <a:extLst>
              <a:ext uri="{FF2B5EF4-FFF2-40B4-BE49-F238E27FC236}">
                <a16:creationId xmlns:a16="http://schemas.microsoft.com/office/drawing/2014/main" id="{885D446F-C1A9-6568-0523-65FA58D380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0288" y="4241841"/>
            <a:ext cx="3092018" cy="1419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9398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1F497D"/>
                </a:solidFill>
              </a:rPr>
              <a:t>A Well-Designed Experiment:</a:t>
            </a:r>
            <a:endParaRPr lang="en-US" dirty="0"/>
          </a:p>
        </p:txBody>
      </p:sp>
      <p:sp>
        <p:nvSpPr>
          <p:cNvPr id="3" name="Content Placeholder 2"/>
          <p:cNvSpPr>
            <a:spLocks noGrp="1"/>
          </p:cNvSpPr>
          <p:nvPr>
            <p:ph idx="1"/>
          </p:nvPr>
        </p:nvSpPr>
        <p:spPr>
          <a:xfrm>
            <a:off x="298702" y="1003300"/>
            <a:ext cx="8915399" cy="4873972"/>
          </a:xfrm>
        </p:spPr>
        <p:txBody>
          <a:bodyPr/>
          <a:lstStyle/>
          <a:p>
            <a:pPr marL="0" lvl="7" indent="0" algn="ctr">
              <a:buNone/>
            </a:pPr>
            <a:r>
              <a:rPr lang="en-US" sz="2800" b="1" dirty="0">
                <a:solidFill>
                  <a:schemeClr val="accent1"/>
                </a:solidFill>
              </a:rPr>
              <a:t>Should have</a:t>
            </a:r>
          </a:p>
          <a:p>
            <a:pPr marL="0" lvl="7" indent="0" algn="ctr">
              <a:buNone/>
            </a:pPr>
            <a:endParaRPr lang="en-US" sz="1800" b="1" dirty="0">
              <a:solidFill>
                <a:schemeClr val="accent1"/>
              </a:solidFill>
            </a:endParaRPr>
          </a:p>
          <a:p>
            <a:pPr marL="342900" indent="-342900">
              <a:buFont typeface="Arial" panose="020B0604020202020204" pitchFamily="34" charset="0"/>
              <a:buChar char="•"/>
            </a:pPr>
            <a:r>
              <a:rPr lang="en-US" sz="1800" dirty="0">
                <a:solidFill>
                  <a:schemeClr val="accent5">
                    <a:lumMod val="75000"/>
                  </a:schemeClr>
                </a:solidFill>
              </a:rPr>
              <a:t>TARGET POPULATION </a:t>
            </a:r>
            <a:r>
              <a:rPr lang="en-US" sz="1800" dirty="0">
                <a:solidFill>
                  <a:srgbClr val="FF0000"/>
                </a:solidFill>
              </a:rPr>
              <a:t>: I SAW an UPREGULATED GENE IS NOT A SCIENTIFIC STATEMENT</a:t>
            </a:r>
          </a:p>
          <a:p>
            <a:pPr marL="342900" indent="-342900">
              <a:buFont typeface="Arial" panose="020B0604020202020204" pitchFamily="34" charset="0"/>
              <a:buChar char="•"/>
            </a:pPr>
            <a:r>
              <a:rPr lang="en-US" sz="1800" dirty="0"/>
              <a:t>Clear objectives : </a:t>
            </a:r>
            <a:r>
              <a:rPr lang="en-US" sz="1800" dirty="0">
                <a:solidFill>
                  <a:srgbClr val="FF0000"/>
                </a:solidFill>
              </a:rPr>
              <a:t>AND endpoints (FOR EACH OBJECTIVE AT LEAST ONE ENDPOINT)</a:t>
            </a:r>
          </a:p>
          <a:p>
            <a:pPr marL="342900" indent="-342900">
              <a:buFont typeface="Arial" panose="020B0604020202020204" pitchFamily="34" charset="0"/>
              <a:buChar char="•"/>
            </a:pPr>
            <a:r>
              <a:rPr lang="en-US" sz="1800" dirty="0"/>
              <a:t>Focus and simplicity</a:t>
            </a:r>
          </a:p>
          <a:p>
            <a:pPr marL="342900" indent="-342900">
              <a:buFont typeface="Arial" panose="020B0604020202020204" pitchFamily="34" charset="0"/>
              <a:buChar char="•"/>
            </a:pPr>
            <a:r>
              <a:rPr lang="en-US" sz="1800" dirty="0">
                <a:solidFill>
                  <a:schemeClr val="accent5">
                    <a:lumMod val="75000"/>
                  </a:schemeClr>
                </a:solidFill>
              </a:rPr>
              <a:t>GOOD CONTROL OF VARIABILITY</a:t>
            </a:r>
            <a:r>
              <a:rPr lang="en-US" sz="1800" dirty="0">
                <a:solidFill>
                  <a:srgbClr val="FF0000"/>
                </a:solidFill>
              </a:rPr>
              <a:t> USING RANDOMIZATION, BLOCKING AND BLINDING</a:t>
            </a:r>
          </a:p>
          <a:p>
            <a:r>
              <a:rPr lang="en-US" sz="1800" b="1" dirty="0">
                <a:solidFill>
                  <a:srgbClr val="FF0000"/>
                </a:solidFill>
              </a:rPr>
              <a:t>								</a:t>
            </a:r>
          </a:p>
          <a:p>
            <a:r>
              <a:rPr lang="en-US" sz="1800" dirty="0">
                <a:solidFill>
                  <a:srgbClr val="FF0000"/>
                </a:solidFill>
              </a:rPr>
              <a:t>								</a:t>
            </a:r>
            <a:r>
              <a:rPr lang="en-US" sz="2800" b="1" cap="none" dirty="0">
                <a:solidFill>
                  <a:schemeClr val="accent1"/>
                </a:solidFill>
              </a:rPr>
              <a:t>And be</a:t>
            </a:r>
          </a:p>
          <a:p>
            <a:endParaRPr lang="en-US" sz="2800" b="1" dirty="0">
              <a:solidFill>
                <a:schemeClr val="accent1"/>
              </a:solidFill>
            </a:endParaRPr>
          </a:p>
          <a:p>
            <a:pPr marL="571500" indent="-457200">
              <a:buFont typeface="Arial" panose="020B0604020202020204" pitchFamily="34" charset="0"/>
              <a:buChar char="•"/>
            </a:pPr>
            <a:r>
              <a:rPr lang="en-US" sz="1800" dirty="0">
                <a:solidFill>
                  <a:schemeClr val="accent5">
                    <a:lumMod val="75000"/>
                  </a:schemeClr>
                </a:solidFill>
              </a:rPr>
              <a:t>ABSENCE OF SYSTEMATIC ERROR</a:t>
            </a:r>
            <a:r>
              <a:rPr lang="en-US" sz="1800" dirty="0">
                <a:solidFill>
                  <a:srgbClr val="FF0000"/>
                </a:solidFill>
              </a:rPr>
              <a:t> EXCLUDING THAT CAUSED BY TREATMENT/EXPOSURE</a:t>
            </a:r>
          </a:p>
          <a:p>
            <a:pPr marL="571500" indent="-457200">
              <a:buFont typeface="Arial" panose="020B0604020202020204" pitchFamily="34" charset="0"/>
              <a:buChar char="•"/>
            </a:pPr>
            <a:r>
              <a:rPr lang="en-US" sz="1800" dirty="0"/>
              <a:t>Reproducible</a:t>
            </a:r>
          </a:p>
          <a:p>
            <a:pPr marL="571500" indent="-457200">
              <a:buFont typeface="Arial" panose="020B0604020202020204" pitchFamily="34" charset="0"/>
              <a:buChar char="•"/>
            </a:pPr>
            <a:r>
              <a:rPr lang="en-US" sz="1800" dirty="0">
                <a:solidFill>
                  <a:schemeClr val="accent5">
                    <a:lumMod val="75000"/>
                  </a:schemeClr>
                </a:solidFill>
              </a:rPr>
              <a:t>EXTERNAL VALIDITY</a:t>
            </a:r>
            <a:r>
              <a:rPr lang="en-US" sz="1800" dirty="0">
                <a:solidFill>
                  <a:srgbClr val="FF0000"/>
                </a:solidFill>
              </a:rPr>
              <a:t>  YOU MUST BE WORRIED IF AND HOW BIOLOGICAL SIGN IS TRANSLATED IN CLINICS. THIS IS YOUR FINAL GOAL!!!</a:t>
            </a:r>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24</a:t>
            </a:fld>
            <a:endParaRPr lang="en-GB" dirty="0"/>
          </a:p>
        </p:txBody>
      </p:sp>
    </p:spTree>
    <p:extLst>
      <p:ext uri="{BB962C8B-B14F-4D97-AF65-F5344CB8AC3E}">
        <p14:creationId xmlns:p14="http://schemas.microsoft.com/office/powerpoint/2010/main" val="2324330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A9814-144B-B618-6614-4288CD8EC7AF}"/>
              </a:ext>
            </a:extLst>
          </p:cNvPr>
          <p:cNvSpPr>
            <a:spLocks noGrp="1"/>
          </p:cNvSpPr>
          <p:nvPr>
            <p:ph type="title"/>
          </p:nvPr>
        </p:nvSpPr>
        <p:spPr>
          <a:xfrm>
            <a:off x="107950" y="41547"/>
            <a:ext cx="9690100" cy="1123677"/>
          </a:xfrm>
        </p:spPr>
        <p:txBody>
          <a:bodyPr/>
          <a:lstStyle/>
          <a:p>
            <a:pPr algn="ctr"/>
            <a:r>
              <a:rPr lang="en-US" dirty="0"/>
              <a:t>Absence of biases is a necessary but not sufficient condition for good preclinical research</a:t>
            </a:r>
          </a:p>
        </p:txBody>
      </p:sp>
      <p:sp>
        <p:nvSpPr>
          <p:cNvPr id="4" name="Slide Number Placeholder 3">
            <a:extLst>
              <a:ext uri="{FF2B5EF4-FFF2-40B4-BE49-F238E27FC236}">
                <a16:creationId xmlns:a16="http://schemas.microsoft.com/office/drawing/2014/main" id="{20523D0E-9EB3-2E9E-DB93-2547BE42C989}"/>
              </a:ext>
            </a:extLst>
          </p:cNvPr>
          <p:cNvSpPr>
            <a:spLocks noGrp="1"/>
          </p:cNvSpPr>
          <p:nvPr>
            <p:ph type="sldNum" sz="quarter" idx="4"/>
          </p:nvPr>
        </p:nvSpPr>
        <p:spPr/>
        <p:txBody>
          <a:bodyPr/>
          <a:lstStyle/>
          <a:p>
            <a:fld id="{C231324C-4752-C242-8156-5E21DB4253A5}" type="slidenum">
              <a:rPr lang="en-GB" smtClean="0"/>
              <a:pPr/>
              <a:t>25</a:t>
            </a:fld>
            <a:endParaRPr lang="en-GB" dirty="0"/>
          </a:p>
        </p:txBody>
      </p:sp>
      <p:pic>
        <p:nvPicPr>
          <p:cNvPr id="5" name="Immagine 1">
            <a:extLst>
              <a:ext uri="{FF2B5EF4-FFF2-40B4-BE49-F238E27FC236}">
                <a16:creationId xmlns:a16="http://schemas.microsoft.com/office/drawing/2014/main" id="{CB2494F6-5F01-D696-A9EB-0DE1022D23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40632" y="1107482"/>
            <a:ext cx="7001065" cy="4211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asellaDiTesto 1">
            <a:extLst>
              <a:ext uri="{FF2B5EF4-FFF2-40B4-BE49-F238E27FC236}">
                <a16:creationId xmlns:a16="http://schemas.microsoft.com/office/drawing/2014/main" id="{9EF99506-1803-8D8D-27EF-3BA11F1AA62A}"/>
              </a:ext>
            </a:extLst>
          </p:cNvPr>
          <p:cNvSpPr txBox="1">
            <a:spLocks noChangeArrowheads="1"/>
          </p:cNvSpPr>
          <p:nvPr/>
        </p:nvSpPr>
        <p:spPr bwMode="auto">
          <a:xfrm>
            <a:off x="-20542" y="5370598"/>
            <a:ext cx="6623872"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a:lnSpc>
                <a:spcPct val="120000"/>
              </a:lnSpc>
              <a:defRPr/>
            </a:pPr>
            <a:r>
              <a:rPr lang="en-US" altLang="it-IT" sz="2000" i="1" dirty="0">
                <a:latin typeface="+mn-lt"/>
              </a:rPr>
              <a:t>Key methodological issues are put into doubt by </a:t>
            </a:r>
            <a:r>
              <a:rPr lang="en-US" altLang="it-IT" sz="2000" b="1" i="1" dirty="0">
                <a:latin typeface="+mn-lt"/>
              </a:rPr>
              <a:t>variability</a:t>
            </a:r>
            <a:r>
              <a:rPr lang="en-US" altLang="it-IT" sz="2000" i="1" dirty="0">
                <a:latin typeface="+mn-lt"/>
              </a:rPr>
              <a:t> of experimental results, observations, measurements and preclinical models</a:t>
            </a:r>
            <a:endParaRPr lang="it-IT" altLang="it-IT" sz="2000" i="1" dirty="0">
              <a:latin typeface="+mn-lt"/>
            </a:endParaRPr>
          </a:p>
        </p:txBody>
      </p:sp>
    </p:spTree>
    <p:extLst>
      <p:ext uri="{BB962C8B-B14F-4D97-AF65-F5344CB8AC3E}">
        <p14:creationId xmlns:p14="http://schemas.microsoft.com/office/powerpoint/2010/main" val="3277302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51AD962F-5DD8-98A9-E1BA-2D1C1253CC3A}"/>
              </a:ext>
            </a:extLst>
          </p:cNvPr>
          <p:cNvSpPr txBox="1">
            <a:spLocks noChangeArrowheads="1"/>
          </p:cNvSpPr>
          <p:nvPr/>
        </p:nvSpPr>
        <p:spPr bwMode="auto">
          <a:xfrm>
            <a:off x="2971800" y="2895600"/>
            <a:ext cx="510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it-IT" altLang="it-IT" sz="1800">
              <a:latin typeface="Garamond" panose="02020404030301010803" pitchFamily="18" charset="0"/>
            </a:endParaRPr>
          </a:p>
        </p:txBody>
      </p:sp>
      <p:sp>
        <p:nvSpPr>
          <p:cNvPr id="6" name="Rectangle 3">
            <a:extLst>
              <a:ext uri="{FF2B5EF4-FFF2-40B4-BE49-F238E27FC236}">
                <a16:creationId xmlns:a16="http://schemas.microsoft.com/office/drawing/2014/main" id="{F4F437CB-15D9-307D-27A3-5CCCF4AD68A6}"/>
              </a:ext>
            </a:extLst>
          </p:cNvPr>
          <p:cNvSpPr>
            <a:spLocks noGrp="1" noRot="1" noChangeArrowheads="1"/>
          </p:cNvSpPr>
          <p:nvPr>
            <p:ph type="title"/>
          </p:nvPr>
        </p:nvSpPr>
        <p:spPr>
          <a:xfrm>
            <a:off x="76200" y="76200"/>
            <a:ext cx="9485312" cy="609600"/>
          </a:xfrm>
        </p:spPr>
        <p:txBody>
          <a:bodyPr anchor="ctr"/>
          <a:lstStyle/>
          <a:p>
            <a:pPr algn="ctr" eaLnBrk="1" hangingPunct="1">
              <a:defRPr/>
            </a:pPr>
            <a:r>
              <a:rPr lang="it-IT" altLang="it-IT" sz="3350" dirty="0">
                <a:solidFill>
                  <a:schemeClr val="tx1"/>
                </a:solidFill>
              </a:rPr>
              <a:t>Definition of </a:t>
            </a:r>
            <a:r>
              <a:rPr lang="it-IT" altLang="it-IT" sz="3350" dirty="0" err="1">
                <a:solidFill>
                  <a:schemeClr val="tx1"/>
                </a:solidFill>
              </a:rPr>
              <a:t>Reproducibility</a:t>
            </a:r>
            <a:endParaRPr lang="it-IT" altLang="it-IT" sz="3350" dirty="0">
              <a:solidFill>
                <a:schemeClr val="tx1"/>
              </a:solidFill>
            </a:endParaRPr>
          </a:p>
        </p:txBody>
      </p:sp>
      <p:sp>
        <p:nvSpPr>
          <p:cNvPr id="7" name="Rectangle 4">
            <a:extLst>
              <a:ext uri="{FF2B5EF4-FFF2-40B4-BE49-F238E27FC236}">
                <a16:creationId xmlns:a16="http://schemas.microsoft.com/office/drawing/2014/main" id="{C3830FB1-4AE7-68F6-7C38-F6D6E9C52FDC}"/>
              </a:ext>
            </a:extLst>
          </p:cNvPr>
          <p:cNvSpPr>
            <a:spLocks noChangeArrowheads="1"/>
          </p:cNvSpPr>
          <p:nvPr/>
        </p:nvSpPr>
        <p:spPr bwMode="auto">
          <a:xfrm>
            <a:off x="152400" y="990600"/>
            <a:ext cx="8686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just" eaLnBrk="1" hangingPunct="1">
              <a:lnSpc>
                <a:spcPct val="120000"/>
              </a:lnSpc>
            </a:pPr>
            <a:r>
              <a:rPr lang="it-IT" altLang="it-IT" sz="2000" b="1" dirty="0"/>
              <a:t>Methods </a:t>
            </a:r>
            <a:r>
              <a:rPr lang="it-IT" altLang="it-IT" sz="2000" b="1" dirty="0" err="1"/>
              <a:t>Reproducibility</a:t>
            </a:r>
            <a:r>
              <a:rPr lang="it-IT" altLang="it-IT" sz="2000" dirty="0"/>
              <a:t>: the </a:t>
            </a:r>
            <a:r>
              <a:rPr lang="it-IT" altLang="it-IT" sz="2000" dirty="0" err="1"/>
              <a:t>provision</a:t>
            </a:r>
            <a:r>
              <a:rPr lang="it-IT" altLang="it-IT" sz="2000" dirty="0"/>
              <a:t> of </a:t>
            </a:r>
            <a:r>
              <a:rPr lang="it-IT" altLang="it-IT" sz="2000" dirty="0" err="1"/>
              <a:t>enough</a:t>
            </a:r>
            <a:r>
              <a:rPr lang="it-IT" altLang="it-IT" sz="2000" dirty="0"/>
              <a:t> </a:t>
            </a:r>
            <a:r>
              <a:rPr lang="it-IT" altLang="it-IT" sz="2000" dirty="0" err="1"/>
              <a:t>detail</a:t>
            </a:r>
            <a:r>
              <a:rPr lang="it-IT" altLang="it-IT" sz="2000" dirty="0"/>
              <a:t> </a:t>
            </a:r>
            <a:r>
              <a:rPr lang="it-IT" altLang="it-IT" sz="2000" dirty="0" err="1"/>
              <a:t>about</a:t>
            </a:r>
            <a:r>
              <a:rPr lang="it-IT" altLang="it-IT" sz="2000" dirty="0"/>
              <a:t> study </a:t>
            </a:r>
            <a:r>
              <a:rPr lang="it-IT" altLang="it-IT" sz="2000" dirty="0" err="1"/>
              <a:t>procedures</a:t>
            </a:r>
            <a:r>
              <a:rPr lang="it-IT" altLang="it-IT" sz="2000" dirty="0"/>
              <a:t> and data so the </a:t>
            </a:r>
            <a:r>
              <a:rPr lang="it-IT" altLang="it-IT" sz="2000" dirty="0" err="1"/>
              <a:t>same</a:t>
            </a:r>
            <a:r>
              <a:rPr lang="it-IT" altLang="it-IT" sz="2000" dirty="0"/>
              <a:t> </a:t>
            </a:r>
            <a:r>
              <a:rPr lang="it-IT" altLang="it-IT" sz="2000" dirty="0" err="1"/>
              <a:t>procedures</a:t>
            </a:r>
            <a:r>
              <a:rPr lang="it-IT" altLang="it-IT" sz="2000" dirty="0"/>
              <a:t> on the </a:t>
            </a:r>
            <a:r>
              <a:rPr lang="it-IT" altLang="it-IT" sz="2000" dirty="0" err="1"/>
              <a:t>same</a:t>
            </a:r>
            <a:r>
              <a:rPr lang="it-IT" altLang="it-IT" sz="2000" dirty="0"/>
              <a:t> data </a:t>
            </a:r>
            <a:r>
              <a:rPr lang="it-IT" altLang="it-IT" sz="2000" dirty="0" err="1"/>
              <a:t>could</a:t>
            </a:r>
            <a:r>
              <a:rPr lang="it-IT" altLang="it-IT" sz="2000" dirty="0"/>
              <a:t>, in theory or in </a:t>
            </a:r>
            <a:r>
              <a:rPr lang="it-IT" altLang="it-IT" sz="2000" dirty="0" err="1"/>
              <a:t>actuality</a:t>
            </a:r>
            <a:r>
              <a:rPr lang="it-IT" altLang="it-IT" sz="2000" dirty="0"/>
              <a:t>, be </a:t>
            </a:r>
            <a:r>
              <a:rPr lang="it-IT" altLang="it-IT" sz="2000" dirty="0" err="1"/>
              <a:t>exactly</a:t>
            </a:r>
            <a:r>
              <a:rPr lang="it-IT" altLang="it-IT" sz="2000" dirty="0"/>
              <a:t> </a:t>
            </a:r>
            <a:r>
              <a:rPr lang="it-IT" altLang="it-IT" sz="2000" dirty="0" err="1"/>
              <a:t>repeated</a:t>
            </a:r>
            <a:endParaRPr lang="it-IT" altLang="it-IT" sz="2000" dirty="0"/>
          </a:p>
        </p:txBody>
      </p:sp>
      <p:sp>
        <p:nvSpPr>
          <p:cNvPr id="8" name="Rectangle 5">
            <a:extLst>
              <a:ext uri="{FF2B5EF4-FFF2-40B4-BE49-F238E27FC236}">
                <a16:creationId xmlns:a16="http://schemas.microsoft.com/office/drawing/2014/main" id="{0A0AFBEA-8BB5-BBE1-94AE-B8C1C006C156}"/>
              </a:ext>
            </a:extLst>
          </p:cNvPr>
          <p:cNvSpPr>
            <a:spLocks noChangeArrowheads="1"/>
          </p:cNvSpPr>
          <p:nvPr/>
        </p:nvSpPr>
        <p:spPr bwMode="auto">
          <a:xfrm>
            <a:off x="0" y="6301223"/>
            <a:ext cx="646516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just"/>
            <a:r>
              <a:rPr lang="it-IT" altLang="it-IT" sz="1500" dirty="0">
                <a:latin typeface="Arial Narrow" panose="020B0604020202020204" pitchFamily="34" charset="0"/>
              </a:rPr>
              <a:t>Steven N. Goodman, Daniele Fanelli, John P. A. </a:t>
            </a:r>
            <a:r>
              <a:rPr lang="it-IT" altLang="it-IT" sz="1500" dirty="0" err="1">
                <a:latin typeface="Arial Narrow" panose="020B0604020202020204" pitchFamily="34" charset="0"/>
              </a:rPr>
              <a:t>Ioannidis</a:t>
            </a:r>
            <a:r>
              <a:rPr lang="it-IT" altLang="it-IT" sz="1500" dirty="0">
                <a:latin typeface="Arial Narrow" panose="020B0604020202020204" pitchFamily="34" charset="0"/>
              </a:rPr>
              <a:t> </a:t>
            </a:r>
            <a:r>
              <a:rPr lang="it-IT" altLang="it-IT" sz="1500" dirty="0" err="1">
                <a:latin typeface="Arial Narrow" panose="020B0604020202020204" pitchFamily="34" charset="0"/>
              </a:rPr>
              <a:t>What</a:t>
            </a:r>
            <a:r>
              <a:rPr lang="it-IT" altLang="it-IT" sz="1500" dirty="0">
                <a:latin typeface="Arial Narrow" panose="020B0604020202020204" pitchFamily="34" charset="0"/>
              </a:rPr>
              <a:t> </a:t>
            </a:r>
            <a:r>
              <a:rPr lang="it-IT" altLang="it-IT" sz="1500" dirty="0" err="1">
                <a:latin typeface="Arial Narrow" panose="020B0604020202020204" pitchFamily="34" charset="0"/>
              </a:rPr>
              <a:t>does</a:t>
            </a:r>
            <a:r>
              <a:rPr lang="it-IT" altLang="it-IT" sz="1500" dirty="0">
                <a:latin typeface="Arial Narrow" panose="020B0604020202020204" pitchFamily="34" charset="0"/>
              </a:rPr>
              <a:t> </a:t>
            </a:r>
            <a:r>
              <a:rPr lang="it-IT" altLang="it-IT" sz="1500" dirty="0" err="1">
                <a:latin typeface="Arial Narrow" panose="020B0604020202020204" pitchFamily="34" charset="0"/>
              </a:rPr>
              <a:t>research</a:t>
            </a:r>
            <a:r>
              <a:rPr lang="it-IT" altLang="it-IT" sz="1500" dirty="0">
                <a:latin typeface="Arial Narrow" panose="020B0604020202020204" pitchFamily="34" charset="0"/>
              </a:rPr>
              <a:t> </a:t>
            </a:r>
            <a:r>
              <a:rPr lang="it-IT" altLang="it-IT" sz="1500" dirty="0" err="1">
                <a:latin typeface="Arial Narrow" panose="020B0604020202020204" pitchFamily="34" charset="0"/>
              </a:rPr>
              <a:t>reproducibility</a:t>
            </a:r>
            <a:r>
              <a:rPr lang="it-IT" altLang="it-IT" sz="1500" dirty="0">
                <a:latin typeface="Arial Narrow" panose="020B0604020202020204" pitchFamily="34" charset="0"/>
              </a:rPr>
              <a:t> </a:t>
            </a:r>
            <a:r>
              <a:rPr lang="it-IT" altLang="it-IT" sz="1500" dirty="0" err="1">
                <a:latin typeface="Arial Narrow" panose="020B0604020202020204" pitchFamily="34" charset="0"/>
              </a:rPr>
              <a:t>mean</a:t>
            </a:r>
            <a:r>
              <a:rPr lang="it-IT" altLang="it-IT" sz="1500" dirty="0">
                <a:latin typeface="Arial Narrow" panose="020B0604020202020204" pitchFamily="34" charset="0"/>
              </a:rPr>
              <a:t>? (2016) Science </a:t>
            </a:r>
            <a:r>
              <a:rPr lang="it-IT" altLang="it-IT" sz="1500" dirty="0" err="1">
                <a:latin typeface="Arial Narrow" panose="020B0604020202020204" pitchFamily="34" charset="0"/>
              </a:rPr>
              <a:t>Translational</a:t>
            </a:r>
            <a:r>
              <a:rPr lang="it-IT" altLang="it-IT" sz="1500" dirty="0">
                <a:latin typeface="Arial Narrow" panose="020B0604020202020204" pitchFamily="34" charset="0"/>
              </a:rPr>
              <a:t> Medicine 8 (341), 341ps12</a:t>
            </a:r>
          </a:p>
        </p:txBody>
      </p:sp>
      <p:sp>
        <p:nvSpPr>
          <p:cNvPr id="9" name="Rectangle 6">
            <a:extLst>
              <a:ext uri="{FF2B5EF4-FFF2-40B4-BE49-F238E27FC236}">
                <a16:creationId xmlns:a16="http://schemas.microsoft.com/office/drawing/2014/main" id="{8EB364A6-0897-A336-43FC-3BD534487E05}"/>
              </a:ext>
            </a:extLst>
          </p:cNvPr>
          <p:cNvSpPr>
            <a:spLocks noChangeArrowheads="1"/>
          </p:cNvSpPr>
          <p:nvPr/>
        </p:nvSpPr>
        <p:spPr bwMode="auto">
          <a:xfrm>
            <a:off x="152400" y="2590800"/>
            <a:ext cx="8686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lnSpc>
                <a:spcPct val="120000"/>
              </a:lnSpc>
            </a:pPr>
            <a:r>
              <a:rPr lang="it-IT" altLang="it-IT" sz="2000" b="1" dirty="0" err="1"/>
              <a:t>Results</a:t>
            </a:r>
            <a:r>
              <a:rPr lang="it-IT" altLang="it-IT" sz="2000" b="1" dirty="0"/>
              <a:t> </a:t>
            </a:r>
            <a:r>
              <a:rPr lang="it-IT" altLang="it-IT" sz="2000" b="1" dirty="0" err="1"/>
              <a:t>Reproducibility</a:t>
            </a:r>
            <a:r>
              <a:rPr lang="it-IT" altLang="it-IT" sz="2000" b="1" dirty="0"/>
              <a:t>:</a:t>
            </a:r>
            <a:r>
              <a:rPr lang="it-IT" altLang="it-IT" sz="2000" dirty="0"/>
              <a:t> </a:t>
            </a:r>
            <a:r>
              <a:rPr lang="it-IT" altLang="it-IT" sz="2000" dirty="0" err="1"/>
              <a:t>obtaining</a:t>
            </a:r>
            <a:r>
              <a:rPr lang="it-IT" altLang="it-IT" sz="2000" dirty="0"/>
              <a:t> the </a:t>
            </a:r>
            <a:r>
              <a:rPr lang="it-IT" altLang="it-IT" sz="2000" dirty="0" err="1"/>
              <a:t>same</a:t>
            </a:r>
            <a:r>
              <a:rPr lang="it-IT" altLang="it-IT" sz="2000" dirty="0"/>
              <a:t> </a:t>
            </a:r>
            <a:r>
              <a:rPr lang="it-IT" altLang="it-IT" sz="2000" dirty="0" err="1"/>
              <a:t>results</a:t>
            </a:r>
            <a:r>
              <a:rPr lang="it-IT" altLang="it-IT" sz="2000" dirty="0"/>
              <a:t> from the </a:t>
            </a:r>
            <a:r>
              <a:rPr lang="it-IT" altLang="it-IT" sz="2000" dirty="0" err="1"/>
              <a:t>conduct</a:t>
            </a:r>
            <a:r>
              <a:rPr lang="it-IT" altLang="it-IT" sz="2000" dirty="0"/>
              <a:t> of an </a:t>
            </a:r>
            <a:r>
              <a:rPr lang="it-IT" altLang="it-IT" sz="2000" dirty="0" err="1"/>
              <a:t>independent</a:t>
            </a:r>
            <a:r>
              <a:rPr lang="it-IT" altLang="it-IT" sz="2000" dirty="0"/>
              <a:t> study </a:t>
            </a:r>
            <a:r>
              <a:rPr lang="it-IT" altLang="it-IT" sz="2000" dirty="0" err="1"/>
              <a:t>whose</a:t>
            </a:r>
            <a:r>
              <a:rPr lang="it-IT" altLang="it-IT" sz="2000" dirty="0"/>
              <a:t> </a:t>
            </a:r>
            <a:r>
              <a:rPr lang="it-IT" altLang="it-IT" sz="2000" dirty="0" err="1"/>
              <a:t>procedures</a:t>
            </a:r>
            <a:r>
              <a:rPr lang="it-IT" altLang="it-IT" sz="2000" dirty="0"/>
              <a:t> are </a:t>
            </a:r>
            <a:r>
              <a:rPr lang="it-IT" altLang="it-IT" sz="2000" dirty="0" err="1"/>
              <a:t>as</a:t>
            </a:r>
            <a:r>
              <a:rPr lang="it-IT" altLang="it-IT" sz="2000" dirty="0"/>
              <a:t> </a:t>
            </a:r>
            <a:r>
              <a:rPr lang="it-IT" altLang="it-IT" sz="2000" dirty="0" err="1"/>
              <a:t>closely</a:t>
            </a:r>
            <a:r>
              <a:rPr lang="it-IT" altLang="it-IT" sz="2000" dirty="0"/>
              <a:t> </a:t>
            </a:r>
            <a:r>
              <a:rPr lang="it-IT" altLang="it-IT" sz="2000" dirty="0" err="1"/>
              <a:t>matched</a:t>
            </a:r>
            <a:r>
              <a:rPr lang="it-IT" altLang="it-IT" sz="2000" dirty="0"/>
              <a:t> to the </a:t>
            </a:r>
            <a:r>
              <a:rPr lang="it-IT" altLang="it-IT" sz="2000" dirty="0" err="1"/>
              <a:t>original</a:t>
            </a:r>
            <a:r>
              <a:rPr lang="it-IT" altLang="it-IT" sz="2000" dirty="0"/>
              <a:t> </a:t>
            </a:r>
            <a:r>
              <a:rPr lang="it-IT" altLang="it-IT" sz="2000" dirty="0" err="1"/>
              <a:t>experiment</a:t>
            </a:r>
            <a:r>
              <a:rPr lang="it-IT" altLang="it-IT" sz="2000" dirty="0"/>
              <a:t> </a:t>
            </a:r>
            <a:r>
              <a:rPr lang="it-IT" altLang="it-IT" sz="2000" dirty="0" err="1"/>
              <a:t>as</a:t>
            </a:r>
            <a:r>
              <a:rPr lang="it-IT" altLang="it-IT" sz="2000" dirty="0"/>
              <a:t> </a:t>
            </a:r>
            <a:r>
              <a:rPr lang="it-IT" altLang="it-IT" sz="2000" dirty="0" err="1"/>
              <a:t>possible</a:t>
            </a:r>
            <a:endParaRPr lang="it-IT" altLang="it-IT" sz="2000" dirty="0"/>
          </a:p>
        </p:txBody>
      </p:sp>
    </p:spTree>
    <p:extLst>
      <p:ext uri="{BB962C8B-B14F-4D97-AF65-F5344CB8AC3E}">
        <p14:creationId xmlns:p14="http://schemas.microsoft.com/office/powerpoint/2010/main" val="29891507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DBDFF5-C1F2-1977-D980-7B7DC84E3397}"/>
              </a:ext>
            </a:extLst>
          </p:cNvPr>
          <p:cNvSpPr>
            <a:spLocks noGrp="1"/>
          </p:cNvSpPr>
          <p:nvPr>
            <p:ph type="sldNum" sz="quarter" idx="4"/>
          </p:nvPr>
        </p:nvSpPr>
        <p:spPr/>
        <p:txBody>
          <a:bodyPr/>
          <a:lstStyle/>
          <a:p>
            <a:fld id="{C231324C-4752-C242-8156-5E21DB4253A5}" type="slidenum">
              <a:rPr lang="en-GB" smtClean="0"/>
              <a:pPr/>
              <a:t>27</a:t>
            </a:fld>
            <a:endParaRPr lang="en-GB" dirty="0"/>
          </a:p>
        </p:txBody>
      </p:sp>
      <p:sp>
        <p:nvSpPr>
          <p:cNvPr id="5" name="Rectangle 3">
            <a:extLst>
              <a:ext uri="{FF2B5EF4-FFF2-40B4-BE49-F238E27FC236}">
                <a16:creationId xmlns:a16="http://schemas.microsoft.com/office/drawing/2014/main" id="{DA5A109B-9B16-2CE9-BAC8-59A0B7ADA924}"/>
              </a:ext>
            </a:extLst>
          </p:cNvPr>
          <p:cNvSpPr txBox="1">
            <a:spLocks noRot="1" noChangeArrowheads="1"/>
          </p:cNvSpPr>
          <p:nvPr/>
        </p:nvSpPr>
        <p:spPr>
          <a:xfrm>
            <a:off x="76200" y="76200"/>
            <a:ext cx="9269288" cy="609600"/>
          </a:xfrm>
          <a:prstGeom prst="rect">
            <a:avLst/>
          </a:prstGeom>
        </p:spPr>
        <p:txBody>
          <a:bodyPr vert="horz" lIns="0" tIns="0" rIns="0" bIns="0" rtlCol="0" anchor="ctr" anchorCtr="0">
            <a:noAutofit/>
          </a:bodyPr>
          <a:lstStyle>
            <a:lvl1pPr algn="l" defTabSz="457200" rtl="0" eaLnBrk="1" latinLnBrk="0" hangingPunct="1">
              <a:lnSpc>
                <a:spcPts val="3600"/>
              </a:lnSpc>
              <a:spcBef>
                <a:spcPct val="0"/>
              </a:spcBef>
              <a:buNone/>
              <a:defRPr sz="3200" b="1" kern="1200">
                <a:solidFill>
                  <a:schemeClr val="tx1"/>
                </a:solidFill>
                <a:latin typeface="+mj-lt"/>
                <a:ea typeface="+mj-ea"/>
                <a:cs typeface="+mj-cs"/>
              </a:defRPr>
            </a:lvl1pPr>
          </a:lstStyle>
          <a:p>
            <a:pPr algn="ctr">
              <a:defRPr/>
            </a:pPr>
            <a:r>
              <a:rPr lang="it-IT" altLang="it-IT" sz="3350" dirty="0"/>
              <a:t>Definition of </a:t>
            </a:r>
            <a:r>
              <a:rPr lang="it-IT" altLang="it-IT" sz="3350" dirty="0" err="1"/>
              <a:t>External</a:t>
            </a:r>
            <a:r>
              <a:rPr lang="it-IT" altLang="it-IT" sz="3350" dirty="0"/>
              <a:t> </a:t>
            </a:r>
            <a:r>
              <a:rPr lang="it-IT" altLang="it-IT" sz="3350" dirty="0" err="1"/>
              <a:t>Validity</a:t>
            </a:r>
            <a:endParaRPr lang="it-IT" altLang="it-IT" sz="3350" dirty="0"/>
          </a:p>
        </p:txBody>
      </p:sp>
      <p:pic>
        <p:nvPicPr>
          <p:cNvPr id="6" name="Picture 4" descr="5108514-only_human">
            <a:extLst>
              <a:ext uri="{FF2B5EF4-FFF2-40B4-BE49-F238E27FC236}">
                <a16:creationId xmlns:a16="http://schemas.microsoft.com/office/drawing/2014/main" id="{BB5E92B9-3A34-5B24-7D77-81078C2E8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457200"/>
            <a:ext cx="2008188"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descr="ANd9GcTggq8r0f0ER4XJMirvAnJ1xzaeLnC74V6SDI0ic2-gS5ClF5OU">
            <a:extLst>
              <a:ext uri="{FF2B5EF4-FFF2-40B4-BE49-F238E27FC236}">
                <a16:creationId xmlns:a16="http://schemas.microsoft.com/office/drawing/2014/main" id="{AE06D50F-7A52-09D2-BA27-F1E7FF10DE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47788"/>
            <a:ext cx="2209800" cy="147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6">
            <a:extLst>
              <a:ext uri="{FF2B5EF4-FFF2-40B4-BE49-F238E27FC236}">
                <a16:creationId xmlns:a16="http://schemas.microsoft.com/office/drawing/2014/main" id="{B4FD912E-7CC9-2E49-84C3-D7A88865F1F7}"/>
              </a:ext>
            </a:extLst>
          </p:cNvPr>
          <p:cNvSpPr txBox="1">
            <a:spLocks noChangeArrowheads="1"/>
          </p:cNvSpPr>
          <p:nvPr/>
        </p:nvSpPr>
        <p:spPr bwMode="auto">
          <a:xfrm>
            <a:off x="228600" y="5248275"/>
            <a:ext cx="8610600" cy="92392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it-IT" altLang="it-IT" sz="2700" b="1" dirty="0"/>
              <a:t>How do </a:t>
            </a:r>
            <a:r>
              <a:rPr lang="it-IT" altLang="it-IT" sz="2700" b="1" dirty="0" err="1"/>
              <a:t>we</a:t>
            </a:r>
            <a:r>
              <a:rPr lang="it-IT" altLang="it-IT" sz="2700" b="1" dirty="0"/>
              <a:t> </a:t>
            </a:r>
            <a:r>
              <a:rPr lang="it-IT" altLang="it-IT" sz="2700" b="1" dirty="0" err="1"/>
              <a:t>translate</a:t>
            </a:r>
            <a:r>
              <a:rPr lang="it-IT" altLang="it-IT" sz="2700" b="1" dirty="0"/>
              <a:t> </a:t>
            </a:r>
            <a:r>
              <a:rPr lang="it-IT" altLang="it-IT" sz="2700" b="1" dirty="0" err="1"/>
              <a:t>preclinical</a:t>
            </a:r>
            <a:r>
              <a:rPr lang="it-IT" altLang="it-IT" sz="2700" b="1" dirty="0"/>
              <a:t> </a:t>
            </a:r>
            <a:r>
              <a:rPr lang="it-IT" altLang="it-IT" sz="2700" b="1" dirty="0" err="1"/>
              <a:t>research</a:t>
            </a:r>
            <a:r>
              <a:rPr lang="it-IT" altLang="it-IT" sz="2700" b="1" dirty="0"/>
              <a:t> </a:t>
            </a:r>
            <a:r>
              <a:rPr lang="it-IT" altLang="it-IT" sz="2700" b="1" dirty="0" err="1"/>
              <a:t>into</a:t>
            </a:r>
            <a:r>
              <a:rPr lang="it-IT" altLang="it-IT" sz="2700" b="1" dirty="0"/>
              <a:t> clinical benefit?</a:t>
            </a:r>
          </a:p>
        </p:txBody>
      </p:sp>
      <p:sp>
        <p:nvSpPr>
          <p:cNvPr id="9" name="Text Box 7">
            <a:extLst>
              <a:ext uri="{FF2B5EF4-FFF2-40B4-BE49-F238E27FC236}">
                <a16:creationId xmlns:a16="http://schemas.microsoft.com/office/drawing/2014/main" id="{35C1A932-9BE7-F17E-5FBD-E6C0C32C4106}"/>
              </a:ext>
            </a:extLst>
          </p:cNvPr>
          <p:cNvSpPr txBox="1">
            <a:spLocks noChangeArrowheads="1"/>
          </p:cNvSpPr>
          <p:nvPr/>
        </p:nvSpPr>
        <p:spPr bwMode="auto">
          <a:xfrm>
            <a:off x="228600" y="3810000"/>
            <a:ext cx="8610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it-IT" altLang="it-IT" sz="2400" b="1" dirty="0"/>
              <a:t>The </a:t>
            </a:r>
            <a:r>
              <a:rPr lang="it-IT" altLang="it-IT" sz="2400" b="1" dirty="0" err="1"/>
              <a:t>extent</a:t>
            </a:r>
            <a:r>
              <a:rPr lang="it-IT" altLang="it-IT" sz="2400" b="1" dirty="0"/>
              <a:t> to </a:t>
            </a:r>
            <a:r>
              <a:rPr lang="it-IT" altLang="it-IT" sz="2400" b="1" dirty="0" err="1"/>
              <a:t>which</a:t>
            </a:r>
            <a:r>
              <a:rPr lang="it-IT" altLang="it-IT" sz="2400" b="1" dirty="0"/>
              <a:t> </a:t>
            </a:r>
            <a:r>
              <a:rPr lang="it-IT" altLang="it-IT" sz="2400" b="1" dirty="0" err="1"/>
              <a:t>preclinical</a:t>
            </a:r>
            <a:r>
              <a:rPr lang="it-IT" altLang="it-IT" sz="2400" b="1" dirty="0"/>
              <a:t> models </a:t>
            </a:r>
            <a:r>
              <a:rPr lang="it-IT" altLang="it-IT" sz="2400" b="1" dirty="0" err="1"/>
              <a:t>provide</a:t>
            </a:r>
            <a:r>
              <a:rPr lang="it-IT" altLang="it-IT" sz="2400" b="1" dirty="0"/>
              <a:t> a </a:t>
            </a:r>
            <a:r>
              <a:rPr lang="it-IT" altLang="it-IT" sz="2400" b="1" dirty="0" err="1"/>
              <a:t>correct</a:t>
            </a:r>
            <a:r>
              <a:rPr lang="it-IT" altLang="it-IT" sz="2400" b="1" dirty="0"/>
              <a:t> </a:t>
            </a:r>
            <a:r>
              <a:rPr lang="it-IT" altLang="it-IT" sz="2400" b="1" dirty="0" err="1"/>
              <a:t>basis</a:t>
            </a:r>
            <a:r>
              <a:rPr lang="it-IT" altLang="it-IT" sz="2400" b="1" dirty="0"/>
              <a:t> for </a:t>
            </a:r>
            <a:r>
              <a:rPr lang="it-IT" altLang="it-IT" sz="2400" b="1" dirty="0" err="1"/>
              <a:t>generalisations</a:t>
            </a:r>
            <a:r>
              <a:rPr lang="it-IT" altLang="it-IT" sz="2400" b="1" dirty="0"/>
              <a:t> to the human </a:t>
            </a:r>
            <a:r>
              <a:rPr lang="it-IT" altLang="it-IT" sz="2400" b="1" dirty="0" err="1"/>
              <a:t>condition</a:t>
            </a:r>
            <a:endParaRPr lang="it-IT" altLang="it-IT" sz="2400" b="1" dirty="0"/>
          </a:p>
        </p:txBody>
      </p:sp>
      <p:sp>
        <p:nvSpPr>
          <p:cNvPr id="10" name="AutoShape 8">
            <a:extLst>
              <a:ext uri="{FF2B5EF4-FFF2-40B4-BE49-F238E27FC236}">
                <a16:creationId xmlns:a16="http://schemas.microsoft.com/office/drawing/2014/main" id="{B0BB6E7F-AE48-6616-9DC4-72DEFF7C4330}"/>
              </a:ext>
            </a:extLst>
          </p:cNvPr>
          <p:cNvSpPr>
            <a:spLocks noChangeArrowheads="1"/>
          </p:cNvSpPr>
          <p:nvPr/>
        </p:nvSpPr>
        <p:spPr bwMode="auto">
          <a:xfrm rot="10800000">
            <a:off x="3810000" y="4714875"/>
            <a:ext cx="1371600" cy="381000"/>
          </a:xfrm>
          <a:prstGeom prst="triangle">
            <a:avLst>
              <a:gd name="adj" fmla="val 50000"/>
            </a:avLst>
          </a:prstGeom>
          <a:solidFill>
            <a:srgbClr val="FF9900">
              <a:alpha val="0"/>
            </a:srgbClr>
          </a:solidFill>
          <a:ln w="25400">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500">
                <a:solidFill>
                  <a:schemeClr val="tx1"/>
                </a:solidFill>
                <a:latin typeface="Arial" panose="020B0604020202020204" pitchFamily="34" charset="0"/>
                <a:cs typeface="Arial" panose="020B0604020202020204" pitchFamily="34" charset="0"/>
              </a:defRPr>
            </a:lvl1pPr>
            <a:lvl2pPr marL="742950" indent="-285750">
              <a:defRPr sz="500">
                <a:solidFill>
                  <a:schemeClr val="tx1"/>
                </a:solidFill>
                <a:latin typeface="Arial" panose="020B0604020202020204" pitchFamily="34" charset="0"/>
                <a:cs typeface="Arial" panose="020B0604020202020204" pitchFamily="34" charset="0"/>
              </a:defRPr>
            </a:lvl2pPr>
            <a:lvl3pPr marL="1143000" indent="-228600">
              <a:defRPr sz="500">
                <a:solidFill>
                  <a:schemeClr val="tx1"/>
                </a:solidFill>
                <a:latin typeface="Arial" panose="020B0604020202020204" pitchFamily="34" charset="0"/>
                <a:cs typeface="Arial" panose="020B0604020202020204" pitchFamily="34" charset="0"/>
              </a:defRPr>
            </a:lvl3pPr>
            <a:lvl4pPr marL="1600200" indent="-228600">
              <a:defRPr sz="500">
                <a:solidFill>
                  <a:schemeClr val="tx1"/>
                </a:solidFill>
                <a:latin typeface="Arial" panose="020B0604020202020204" pitchFamily="34" charset="0"/>
                <a:cs typeface="Arial" panose="020B0604020202020204" pitchFamily="34" charset="0"/>
              </a:defRPr>
            </a:lvl4pPr>
            <a:lvl5pPr marL="2057400" indent="-228600">
              <a:defRPr sz="5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500">
                <a:solidFill>
                  <a:schemeClr val="tx1"/>
                </a:solidFill>
                <a:latin typeface="Arial" panose="020B0604020202020204" pitchFamily="34" charset="0"/>
                <a:cs typeface="Arial" panose="020B0604020202020204" pitchFamily="34" charset="0"/>
              </a:defRPr>
            </a:lvl9pPr>
          </a:lstStyle>
          <a:p>
            <a:pPr eaLnBrk="1" hangingPunct="1"/>
            <a:endParaRPr lang="it-IT" altLang="it-IT"/>
          </a:p>
        </p:txBody>
      </p:sp>
      <p:sp>
        <p:nvSpPr>
          <p:cNvPr id="11" name="AutoShape 9">
            <a:extLst>
              <a:ext uri="{FF2B5EF4-FFF2-40B4-BE49-F238E27FC236}">
                <a16:creationId xmlns:a16="http://schemas.microsoft.com/office/drawing/2014/main" id="{52134F26-A8E7-E0B3-A144-337B10DEE266}"/>
              </a:ext>
            </a:extLst>
          </p:cNvPr>
          <p:cNvSpPr>
            <a:spLocks noChangeArrowheads="1"/>
          </p:cNvSpPr>
          <p:nvPr/>
        </p:nvSpPr>
        <p:spPr bwMode="auto">
          <a:xfrm>
            <a:off x="2819400" y="1752600"/>
            <a:ext cx="3352800" cy="8382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bg1"/>
          </a:solidFill>
          <a:ln w="9525">
            <a:solidFill>
              <a:schemeClr val="tx1"/>
            </a:solidFill>
            <a:miter lim="800000"/>
            <a:headEnd/>
            <a:tailEnd/>
          </a:ln>
          <a:effectLst/>
        </p:spPr>
        <p:txBody>
          <a:bodyPr wrap="none" anchor="ctr"/>
          <a:lstStyle/>
          <a:p>
            <a:pPr>
              <a:defRPr/>
            </a:pPr>
            <a:endParaRPr lang="it-IT">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2700000" scaled="1"/>
                <a:tileRect/>
              </a:gradFill>
            </a:endParaRPr>
          </a:p>
        </p:txBody>
      </p:sp>
    </p:spTree>
    <p:extLst>
      <p:ext uri="{BB962C8B-B14F-4D97-AF65-F5344CB8AC3E}">
        <p14:creationId xmlns:p14="http://schemas.microsoft.com/office/powerpoint/2010/main" val="2724125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28</a:t>
            </a:fld>
            <a:endParaRPr lang="en-GB" dirty="0"/>
          </a:p>
        </p:txBody>
      </p:sp>
      <p:sp>
        <p:nvSpPr>
          <p:cNvPr id="6" name="Title 5"/>
          <p:cNvSpPr>
            <a:spLocks noGrp="1"/>
          </p:cNvSpPr>
          <p:nvPr>
            <p:ph type="title" idx="4294967295"/>
          </p:nvPr>
        </p:nvSpPr>
        <p:spPr>
          <a:xfrm>
            <a:off x="2906773" y="1844824"/>
            <a:ext cx="4134459" cy="1728192"/>
          </a:xfrm>
        </p:spPr>
        <p:txBody>
          <a:bodyPr/>
          <a:lstStyle/>
          <a:p>
            <a:pPr algn="ctr">
              <a:lnSpc>
                <a:spcPct val="90000"/>
              </a:lnSpc>
            </a:pPr>
            <a:r>
              <a:rPr lang="en-US" sz="4800" dirty="0">
                <a:solidFill>
                  <a:schemeClr val="bg1"/>
                </a:solidFill>
              </a:rPr>
              <a:t>Experimental Design process at CRUK-CI</a:t>
            </a:r>
          </a:p>
        </p:txBody>
      </p:sp>
    </p:spTree>
    <p:extLst>
      <p:ext uri="{BB962C8B-B14F-4D97-AF65-F5344CB8AC3E}">
        <p14:creationId xmlns:p14="http://schemas.microsoft.com/office/powerpoint/2010/main" val="31291653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5F75B6-87AC-8CF5-0A6A-41442E58FE7E}"/>
              </a:ext>
            </a:extLst>
          </p:cNvPr>
          <p:cNvSpPr>
            <a:spLocks noGrp="1"/>
          </p:cNvSpPr>
          <p:nvPr>
            <p:ph type="sldNum" sz="quarter" idx="4"/>
          </p:nvPr>
        </p:nvSpPr>
        <p:spPr/>
        <p:txBody>
          <a:bodyPr/>
          <a:lstStyle/>
          <a:p>
            <a:fld id="{C231324C-4752-C242-8156-5E21DB4253A5}" type="slidenum">
              <a:rPr lang="en-GB" smtClean="0"/>
              <a:pPr/>
              <a:t>29</a:t>
            </a:fld>
            <a:endParaRPr lang="en-GB" dirty="0"/>
          </a:p>
        </p:txBody>
      </p:sp>
      <p:pic>
        <p:nvPicPr>
          <p:cNvPr id="6" name="Picture 5">
            <a:extLst>
              <a:ext uri="{FF2B5EF4-FFF2-40B4-BE49-F238E27FC236}">
                <a16:creationId xmlns:a16="http://schemas.microsoft.com/office/drawing/2014/main" id="{7403BD04-07B4-E44C-C89A-28F0440EF1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464" y="116632"/>
            <a:ext cx="8891364" cy="4104456"/>
          </a:xfrm>
          <a:prstGeom prst="rect">
            <a:avLst/>
          </a:prstGeom>
        </p:spPr>
      </p:pic>
      <p:sp>
        <p:nvSpPr>
          <p:cNvPr id="8" name="TextBox 7">
            <a:extLst>
              <a:ext uri="{FF2B5EF4-FFF2-40B4-BE49-F238E27FC236}">
                <a16:creationId xmlns:a16="http://schemas.microsoft.com/office/drawing/2014/main" id="{C787D099-87F6-E411-8054-FF556DF7B25B}"/>
              </a:ext>
            </a:extLst>
          </p:cNvPr>
          <p:cNvSpPr txBox="1"/>
          <p:nvPr/>
        </p:nvSpPr>
        <p:spPr>
          <a:xfrm>
            <a:off x="142285" y="4900808"/>
            <a:ext cx="9621430" cy="584775"/>
          </a:xfrm>
          <a:prstGeom prst="rect">
            <a:avLst/>
          </a:prstGeom>
          <a:noFill/>
        </p:spPr>
        <p:txBody>
          <a:bodyPr wrap="square">
            <a:spAutoFit/>
          </a:bodyPr>
          <a:lstStyle/>
          <a:p>
            <a:r>
              <a:rPr lang="en-GB" sz="1600" b="0" i="1" u="none" strike="noStrike" dirty="0" err="1">
                <a:solidFill>
                  <a:srgbClr val="333333"/>
                </a:solidFill>
                <a:effectLst/>
                <a:latin typeface="Arial" panose="020B0604020202020204" pitchFamily="34" charset="0"/>
                <a:cs typeface="Arial" panose="020B0604020202020204" pitchFamily="34" charset="0"/>
              </a:rPr>
              <a:t>Festing</a:t>
            </a:r>
            <a:r>
              <a:rPr lang="en-GB" sz="1600" b="0" i="1" u="none" strike="noStrike" dirty="0">
                <a:solidFill>
                  <a:srgbClr val="333333"/>
                </a:solidFill>
                <a:effectLst/>
                <a:latin typeface="Arial" panose="020B0604020202020204" pitchFamily="34" charset="0"/>
                <a:cs typeface="Arial" panose="020B0604020202020204" pitchFamily="34" charset="0"/>
              </a:rPr>
              <a:t> MFW. We are not Born Knowing how to Design and Analyse Scientific Experiments. Alternatives to Laboratory Animals. 2013;41(2):P19-P21. doi:</a:t>
            </a:r>
            <a:r>
              <a:rPr lang="en-GB" sz="1600" b="0" i="1" u="sng" dirty="0">
                <a:solidFill>
                  <a:srgbClr val="046FF8"/>
                </a:solidFill>
                <a:effectLst/>
                <a:latin typeface="Arial" panose="020B0604020202020204" pitchFamily="34" charset="0"/>
                <a:cs typeface="Arial" panose="020B0604020202020204" pitchFamily="34" charset="0"/>
                <a:hlinkClick r:id="rId3"/>
              </a:rPr>
              <a:t>10.1177/026119291304100212</a:t>
            </a:r>
            <a:endParaRPr lang="en-US" sz="16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2610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E5BA6-1E7D-425F-B162-CAC7E7E57F14}"/>
              </a:ext>
            </a:extLst>
          </p:cNvPr>
          <p:cNvSpPr>
            <a:spLocks noGrp="1"/>
          </p:cNvSpPr>
          <p:nvPr>
            <p:ph type="title"/>
          </p:nvPr>
        </p:nvSpPr>
        <p:spPr/>
        <p:txBody>
          <a:bodyPr/>
          <a:lstStyle/>
          <a:p>
            <a:r>
              <a:rPr lang="en-US" dirty="0"/>
              <a:t>CRUK-CI Experimental Design Process</a:t>
            </a:r>
          </a:p>
        </p:txBody>
      </p:sp>
      <p:sp>
        <p:nvSpPr>
          <p:cNvPr id="3" name="Content Placeholder 2">
            <a:extLst>
              <a:ext uri="{FF2B5EF4-FFF2-40B4-BE49-F238E27FC236}">
                <a16:creationId xmlns:a16="http://schemas.microsoft.com/office/drawing/2014/main" id="{483BCE71-DFE2-47E6-9EA5-E20C008C1F30}"/>
              </a:ext>
            </a:extLst>
          </p:cNvPr>
          <p:cNvSpPr>
            <a:spLocks noGrp="1"/>
          </p:cNvSpPr>
          <p:nvPr>
            <p:ph idx="1"/>
          </p:nvPr>
        </p:nvSpPr>
        <p:spPr>
          <a:xfrm>
            <a:off x="416496" y="1268760"/>
            <a:ext cx="8915400" cy="4114800"/>
          </a:xfrm>
        </p:spPr>
        <p:txBody>
          <a:bodyPr/>
          <a:lstStyle/>
          <a:p>
            <a:pPr lvl="1"/>
            <a:r>
              <a:rPr lang="en-US" dirty="0"/>
              <a:t>All sequencing and proteomics experiments require experimental design review meeting</a:t>
            </a:r>
          </a:p>
          <a:p>
            <a:pPr lvl="2"/>
            <a:r>
              <a:rPr lang="en-US" dirty="0"/>
              <a:t>Simple form asking about key aspects of experiment</a:t>
            </a:r>
          </a:p>
          <a:p>
            <a:pPr lvl="2"/>
            <a:r>
              <a:rPr lang="en-US" dirty="0"/>
              <a:t>Attended by Researcher and various Cores</a:t>
            </a:r>
          </a:p>
          <a:p>
            <a:pPr marL="712787" lvl="2" indent="0">
              <a:buNone/>
            </a:pPr>
            <a:endParaRPr lang="en-US" dirty="0"/>
          </a:p>
          <a:p>
            <a:pPr lvl="1"/>
            <a:r>
              <a:rPr lang="en-US" dirty="0"/>
              <a:t>Keys:</a:t>
            </a:r>
          </a:p>
          <a:p>
            <a:pPr lvl="2"/>
            <a:r>
              <a:rPr lang="en-US" dirty="0"/>
              <a:t>Form and meeting not onerous</a:t>
            </a:r>
          </a:p>
          <a:p>
            <a:pPr lvl="2"/>
            <a:r>
              <a:rPr lang="en-US" dirty="0"/>
              <a:t>(Currently) not chargeable</a:t>
            </a:r>
          </a:p>
          <a:p>
            <a:pPr lvl="2"/>
            <a:r>
              <a:rPr lang="en-US" dirty="0"/>
              <a:t>Scientists agree process improves experiments!</a:t>
            </a:r>
          </a:p>
          <a:p>
            <a:pPr lvl="2"/>
            <a:endParaRPr lang="en-US" dirty="0"/>
          </a:p>
        </p:txBody>
      </p:sp>
      <p:sp>
        <p:nvSpPr>
          <p:cNvPr id="4" name="Slide Number Placeholder 3">
            <a:extLst>
              <a:ext uri="{FF2B5EF4-FFF2-40B4-BE49-F238E27FC236}">
                <a16:creationId xmlns:a16="http://schemas.microsoft.com/office/drawing/2014/main" id="{221DD0DA-57F9-4978-956D-70DC3D9B0855}"/>
              </a:ext>
            </a:extLst>
          </p:cNvPr>
          <p:cNvSpPr>
            <a:spLocks noGrp="1"/>
          </p:cNvSpPr>
          <p:nvPr>
            <p:ph type="sldNum" sz="quarter" idx="4"/>
          </p:nvPr>
        </p:nvSpPr>
        <p:spPr/>
        <p:txBody>
          <a:bodyPr/>
          <a:lstStyle/>
          <a:p>
            <a:fld id="{C231324C-4752-C242-8156-5E21DB4253A5}" type="slidenum">
              <a:rPr lang="en-GB" smtClean="0"/>
              <a:pPr/>
              <a:t>30</a:t>
            </a:fld>
            <a:endParaRPr lang="en-GB" dirty="0"/>
          </a:p>
        </p:txBody>
      </p:sp>
    </p:spTree>
    <p:extLst>
      <p:ext uri="{BB962C8B-B14F-4D97-AF65-F5344CB8AC3E}">
        <p14:creationId xmlns:p14="http://schemas.microsoft.com/office/powerpoint/2010/main" val="821179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AC7FB-1802-497C-85DF-6D7A59DD826B}"/>
              </a:ext>
            </a:extLst>
          </p:cNvPr>
          <p:cNvSpPr>
            <a:spLocks noGrp="1"/>
          </p:cNvSpPr>
          <p:nvPr>
            <p:ph type="title"/>
          </p:nvPr>
        </p:nvSpPr>
        <p:spPr>
          <a:xfrm>
            <a:off x="200472" y="260648"/>
            <a:ext cx="8915400" cy="990600"/>
          </a:xfrm>
        </p:spPr>
        <p:txBody>
          <a:bodyPr/>
          <a:lstStyle/>
          <a:p>
            <a:r>
              <a:rPr lang="en-US" sz="2800" dirty="0"/>
              <a:t>Experimental Design Meetings - Genomics</a:t>
            </a:r>
          </a:p>
        </p:txBody>
      </p:sp>
      <p:sp>
        <p:nvSpPr>
          <p:cNvPr id="3" name="Content Placeholder 2">
            <a:extLst>
              <a:ext uri="{FF2B5EF4-FFF2-40B4-BE49-F238E27FC236}">
                <a16:creationId xmlns:a16="http://schemas.microsoft.com/office/drawing/2014/main" id="{65FDF9C7-600A-4A83-8164-BC245BFAE987}"/>
              </a:ext>
            </a:extLst>
          </p:cNvPr>
          <p:cNvSpPr>
            <a:spLocks noGrp="1"/>
          </p:cNvSpPr>
          <p:nvPr>
            <p:ph idx="1"/>
          </p:nvPr>
        </p:nvSpPr>
        <p:spPr>
          <a:xfrm>
            <a:off x="214064" y="755948"/>
            <a:ext cx="9275440" cy="5121324"/>
          </a:xfrm>
        </p:spPr>
        <p:txBody>
          <a:bodyPr/>
          <a:lstStyle/>
          <a:p>
            <a:pPr>
              <a:defRPr/>
            </a:pPr>
            <a:endParaRPr lang="en-US" sz="800" dirty="0"/>
          </a:p>
          <a:p>
            <a:pPr>
              <a:defRPr/>
            </a:pPr>
            <a:r>
              <a:rPr lang="en-US" sz="1800" dirty="0"/>
              <a:t>Wednesday 45 min slots (</a:t>
            </a:r>
            <a:r>
              <a:rPr lang="en-US" sz="1800" dirty="0">
                <a:solidFill>
                  <a:schemeClr val="accent2"/>
                </a:solidFill>
              </a:rPr>
              <a:t>2:00-3:30pm</a:t>
            </a:r>
            <a:r>
              <a:rPr lang="en-US" sz="1800" dirty="0"/>
              <a:t>) with Bioinformatics &amp; Genomics Cores</a:t>
            </a:r>
          </a:p>
          <a:p>
            <a:pPr>
              <a:defRPr/>
            </a:pPr>
            <a:r>
              <a:rPr lang="en-US" sz="1800" dirty="0"/>
              <a:t>Requirements:</a:t>
            </a:r>
          </a:p>
          <a:p>
            <a:pPr lvl="1">
              <a:defRPr/>
            </a:pPr>
            <a:r>
              <a:rPr lang="en-US" sz="1800" dirty="0"/>
              <a:t>Email </a:t>
            </a:r>
            <a:r>
              <a:rPr lang="en-US" sz="1800" u="sng" dirty="0">
                <a:solidFill>
                  <a:srgbClr val="0000FF"/>
                </a:solidFill>
                <a:hlinkClick r:id="rId2"/>
              </a:rPr>
              <a:t>CRIExperimentalDesign@cruk.cam.ac.uk</a:t>
            </a:r>
            <a:r>
              <a:rPr lang="en-US" sz="1800" u="sng" dirty="0">
                <a:solidFill>
                  <a:srgbClr val="0000FF"/>
                </a:solidFill>
              </a:rPr>
              <a:t> </a:t>
            </a:r>
            <a:r>
              <a:rPr lang="en-US" sz="1800" dirty="0">
                <a:solidFill>
                  <a:srgbClr val="000000"/>
                </a:solidFill>
              </a:rPr>
              <a:t>to request meeting</a:t>
            </a:r>
          </a:p>
          <a:p>
            <a:pPr lvl="1">
              <a:defRPr/>
            </a:pPr>
            <a:r>
              <a:rPr lang="en-US" sz="1800" dirty="0">
                <a:solidFill>
                  <a:srgbClr val="000000"/>
                </a:solidFill>
              </a:rPr>
              <a:t>Fill in </a:t>
            </a:r>
            <a:r>
              <a:rPr lang="en-US" sz="1800" dirty="0">
                <a:solidFill>
                  <a:srgbClr val="000000"/>
                </a:solidFill>
                <a:hlinkClick r:id="rId3" action="ppaction://hlinkfile"/>
              </a:rPr>
              <a:t>Experimental Design Form </a:t>
            </a:r>
            <a:r>
              <a:rPr lang="en-US" sz="1800" dirty="0">
                <a:solidFill>
                  <a:srgbClr val="000000"/>
                </a:solidFill>
              </a:rPr>
              <a:t>and return 1 week prior to meeting</a:t>
            </a:r>
          </a:p>
          <a:p>
            <a:pPr lvl="1">
              <a:defRPr/>
            </a:pPr>
            <a:r>
              <a:rPr lang="en-US" sz="1800" b="1" dirty="0"/>
              <a:t>Your attendance</a:t>
            </a:r>
          </a:p>
          <a:p>
            <a:pPr lvl="1">
              <a:defRPr/>
            </a:pPr>
            <a:r>
              <a:rPr lang="en-US" sz="1800" dirty="0"/>
              <a:t>Provide</a:t>
            </a:r>
            <a:r>
              <a:rPr lang="en-US" sz="1800" b="1" dirty="0"/>
              <a:t> project </a:t>
            </a:r>
            <a:r>
              <a:rPr lang="en-US" sz="1800" b="1" i="1" dirty="0"/>
              <a:t>background </a:t>
            </a:r>
            <a:r>
              <a:rPr lang="en-US" sz="1800" dirty="0"/>
              <a:t>(a few slides from you)</a:t>
            </a:r>
          </a:p>
          <a:p>
            <a:pPr>
              <a:defRPr/>
            </a:pPr>
            <a:r>
              <a:rPr lang="en-US" sz="1800" dirty="0"/>
              <a:t>Discussion:</a:t>
            </a:r>
          </a:p>
          <a:p>
            <a:pPr lvl="2">
              <a:defRPr/>
            </a:pPr>
            <a:r>
              <a:rPr lang="en-US" dirty="0"/>
              <a:t>Planning, time-scale, cost, aims, scope, questions</a:t>
            </a:r>
          </a:p>
          <a:p>
            <a:pPr lvl="2">
              <a:defRPr/>
            </a:pPr>
            <a:r>
              <a:rPr lang="en-US" dirty="0"/>
              <a:t>Choosing the correct technology</a:t>
            </a:r>
          </a:p>
          <a:p>
            <a:pPr lvl="2">
              <a:defRPr/>
            </a:pPr>
            <a:r>
              <a:rPr lang="en-US" dirty="0"/>
              <a:t>Effect size &amp; Sample-size calculation?</a:t>
            </a:r>
          </a:p>
          <a:p>
            <a:pPr lvl="2">
              <a:defRPr/>
            </a:pPr>
            <a:r>
              <a:rPr lang="en-US" dirty="0"/>
              <a:t>Sample collection and processing methods</a:t>
            </a:r>
          </a:p>
          <a:p>
            <a:pPr lvl="2">
              <a:defRPr/>
            </a:pPr>
            <a:r>
              <a:rPr lang="en-US" dirty="0"/>
              <a:t>Sample information (meta-data) collection</a:t>
            </a:r>
          </a:p>
          <a:p>
            <a:pPr lvl="2">
              <a:defRPr/>
            </a:pPr>
            <a:r>
              <a:rPr lang="en-US" dirty="0" err="1"/>
              <a:t>Randomisation</a:t>
            </a:r>
            <a:r>
              <a:rPr lang="en-US" dirty="0"/>
              <a:t>, Blocking and Replication issues</a:t>
            </a:r>
          </a:p>
          <a:p>
            <a:pPr lvl="2">
              <a:defRPr/>
            </a:pPr>
            <a:r>
              <a:rPr lang="en-US" dirty="0"/>
              <a:t>Technical issues</a:t>
            </a:r>
          </a:p>
          <a:p>
            <a:endParaRPr lang="en-US" dirty="0"/>
          </a:p>
        </p:txBody>
      </p:sp>
      <p:sp>
        <p:nvSpPr>
          <p:cNvPr id="4" name="Slide Number Placeholder 3">
            <a:extLst>
              <a:ext uri="{FF2B5EF4-FFF2-40B4-BE49-F238E27FC236}">
                <a16:creationId xmlns:a16="http://schemas.microsoft.com/office/drawing/2014/main" id="{1D0A2278-2102-48A9-AC63-39893DF7C182}"/>
              </a:ext>
            </a:extLst>
          </p:cNvPr>
          <p:cNvSpPr>
            <a:spLocks noGrp="1"/>
          </p:cNvSpPr>
          <p:nvPr>
            <p:ph type="sldNum" sz="quarter" idx="4"/>
          </p:nvPr>
        </p:nvSpPr>
        <p:spPr/>
        <p:txBody>
          <a:bodyPr/>
          <a:lstStyle/>
          <a:p>
            <a:fld id="{C231324C-4752-C242-8156-5E21DB4253A5}" type="slidenum">
              <a:rPr lang="en-GB" smtClean="0"/>
              <a:pPr/>
              <a:t>31</a:t>
            </a:fld>
            <a:endParaRPr lang="en-GB" dirty="0"/>
          </a:p>
        </p:txBody>
      </p:sp>
    </p:spTree>
    <p:extLst>
      <p:ext uri="{BB962C8B-B14F-4D97-AF65-F5344CB8AC3E}">
        <p14:creationId xmlns:p14="http://schemas.microsoft.com/office/powerpoint/2010/main" val="9831371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AC7FB-1802-497C-85DF-6D7A59DD826B}"/>
              </a:ext>
            </a:extLst>
          </p:cNvPr>
          <p:cNvSpPr>
            <a:spLocks noGrp="1"/>
          </p:cNvSpPr>
          <p:nvPr>
            <p:ph type="title"/>
          </p:nvPr>
        </p:nvSpPr>
        <p:spPr>
          <a:xfrm>
            <a:off x="200472" y="260648"/>
            <a:ext cx="8915400" cy="990600"/>
          </a:xfrm>
        </p:spPr>
        <p:txBody>
          <a:bodyPr/>
          <a:lstStyle/>
          <a:p>
            <a:r>
              <a:rPr lang="en-US" sz="2800" dirty="0"/>
              <a:t>Experimental Design Meetings - Proteomics</a:t>
            </a:r>
          </a:p>
        </p:txBody>
      </p:sp>
      <p:sp>
        <p:nvSpPr>
          <p:cNvPr id="3" name="Content Placeholder 2">
            <a:extLst>
              <a:ext uri="{FF2B5EF4-FFF2-40B4-BE49-F238E27FC236}">
                <a16:creationId xmlns:a16="http://schemas.microsoft.com/office/drawing/2014/main" id="{65FDF9C7-600A-4A83-8164-BC245BFAE987}"/>
              </a:ext>
            </a:extLst>
          </p:cNvPr>
          <p:cNvSpPr>
            <a:spLocks noGrp="1"/>
          </p:cNvSpPr>
          <p:nvPr>
            <p:ph idx="1"/>
          </p:nvPr>
        </p:nvSpPr>
        <p:spPr>
          <a:xfrm>
            <a:off x="214064" y="755948"/>
            <a:ext cx="9275440" cy="4114800"/>
          </a:xfrm>
        </p:spPr>
        <p:txBody>
          <a:bodyPr/>
          <a:lstStyle/>
          <a:p>
            <a:pPr>
              <a:defRPr/>
            </a:pPr>
            <a:endParaRPr lang="en-US" sz="800" dirty="0"/>
          </a:p>
          <a:p>
            <a:pPr>
              <a:defRPr/>
            </a:pPr>
            <a:r>
              <a:rPr lang="en-US" sz="1800" dirty="0"/>
              <a:t>FRIDAY 45 min slots (</a:t>
            </a:r>
            <a:r>
              <a:rPr lang="en-US" sz="1800" dirty="0">
                <a:solidFill>
                  <a:schemeClr val="accent2"/>
                </a:solidFill>
              </a:rPr>
              <a:t>11:30-13:00pm</a:t>
            </a:r>
            <a:r>
              <a:rPr lang="en-US" sz="1800" dirty="0"/>
              <a:t>) with Bioinformatics proteomics Cores</a:t>
            </a:r>
          </a:p>
          <a:p>
            <a:pPr>
              <a:defRPr/>
            </a:pPr>
            <a:r>
              <a:rPr lang="en-US" sz="1800" dirty="0"/>
              <a:t>Requirements:</a:t>
            </a:r>
          </a:p>
          <a:p>
            <a:pPr lvl="1">
              <a:defRPr/>
            </a:pPr>
            <a:r>
              <a:rPr lang="en-US" sz="1800" dirty="0"/>
              <a:t>Email </a:t>
            </a:r>
            <a:r>
              <a:rPr lang="en-US" sz="1800" u="sng" dirty="0" err="1">
                <a:solidFill>
                  <a:srgbClr val="0000FF"/>
                </a:solidFill>
              </a:rPr>
              <a:t>ProteomicsProjectDesign@cruk.cam.ac.uk</a:t>
            </a:r>
            <a:r>
              <a:rPr lang="en-US" sz="1800" u="sng" dirty="0">
                <a:solidFill>
                  <a:srgbClr val="0000FF"/>
                </a:solidFill>
              </a:rPr>
              <a:t> </a:t>
            </a:r>
            <a:r>
              <a:rPr lang="en-US" sz="1800" dirty="0">
                <a:solidFill>
                  <a:srgbClr val="000000"/>
                </a:solidFill>
              </a:rPr>
              <a:t>to request meeting</a:t>
            </a:r>
          </a:p>
          <a:p>
            <a:pPr lvl="1">
              <a:defRPr/>
            </a:pPr>
            <a:r>
              <a:rPr lang="en-US" sz="1800" dirty="0">
                <a:solidFill>
                  <a:srgbClr val="000000"/>
                </a:solidFill>
              </a:rPr>
              <a:t>Fill in </a:t>
            </a:r>
            <a:r>
              <a:rPr lang="en-US" sz="1800" u="sng" dirty="0" err="1">
                <a:solidFill>
                  <a:srgbClr val="0000FF"/>
                </a:solidFill>
              </a:rPr>
              <a:t>ProteomicsMetadataTemplate.xls</a:t>
            </a:r>
            <a:r>
              <a:rPr lang="en-US" sz="1800" dirty="0">
                <a:solidFill>
                  <a:srgbClr val="000000"/>
                </a:solidFill>
              </a:rPr>
              <a:t> </a:t>
            </a:r>
            <a:r>
              <a:rPr lang="en-US" sz="1800" b="1" dirty="0"/>
              <a:t>Your attendance</a:t>
            </a:r>
          </a:p>
          <a:p>
            <a:pPr lvl="1">
              <a:defRPr/>
            </a:pPr>
            <a:r>
              <a:rPr lang="en-US" sz="1800" dirty="0"/>
              <a:t>Provide</a:t>
            </a:r>
            <a:r>
              <a:rPr lang="en-US" sz="1800" b="1" dirty="0"/>
              <a:t> project </a:t>
            </a:r>
            <a:r>
              <a:rPr lang="en-US" sz="1800" b="1" i="1" dirty="0"/>
              <a:t>background </a:t>
            </a:r>
            <a:r>
              <a:rPr lang="en-US" sz="1800" dirty="0"/>
              <a:t>(a few slides from you)</a:t>
            </a:r>
          </a:p>
          <a:p>
            <a:pPr>
              <a:defRPr/>
            </a:pPr>
            <a:r>
              <a:rPr lang="en-US" sz="1800" dirty="0"/>
              <a:t>Discussion:</a:t>
            </a:r>
          </a:p>
          <a:p>
            <a:pPr lvl="2">
              <a:defRPr/>
            </a:pPr>
            <a:r>
              <a:rPr lang="en-US" dirty="0"/>
              <a:t>Planning, time-scale, cost, aims, scope, questions</a:t>
            </a:r>
          </a:p>
          <a:p>
            <a:pPr lvl="2">
              <a:defRPr/>
            </a:pPr>
            <a:r>
              <a:rPr lang="en-US" dirty="0"/>
              <a:t>Choosing the correct technology</a:t>
            </a:r>
          </a:p>
          <a:p>
            <a:pPr lvl="2">
              <a:defRPr/>
            </a:pPr>
            <a:r>
              <a:rPr lang="en-US" dirty="0"/>
              <a:t>Sample collection and processing methods</a:t>
            </a:r>
          </a:p>
          <a:p>
            <a:pPr lvl="2">
              <a:defRPr/>
            </a:pPr>
            <a:r>
              <a:rPr lang="en-US" dirty="0"/>
              <a:t>Sample information (meta-data) collection</a:t>
            </a:r>
          </a:p>
          <a:p>
            <a:pPr lvl="2">
              <a:defRPr/>
            </a:pPr>
            <a:r>
              <a:rPr lang="en-US" dirty="0" err="1"/>
              <a:t>Randomisation</a:t>
            </a:r>
            <a:r>
              <a:rPr lang="en-US" dirty="0"/>
              <a:t>, Blocking and Replication issues</a:t>
            </a:r>
          </a:p>
          <a:p>
            <a:endParaRPr lang="en-US" dirty="0"/>
          </a:p>
        </p:txBody>
      </p:sp>
      <p:sp>
        <p:nvSpPr>
          <p:cNvPr id="4" name="Slide Number Placeholder 3">
            <a:extLst>
              <a:ext uri="{FF2B5EF4-FFF2-40B4-BE49-F238E27FC236}">
                <a16:creationId xmlns:a16="http://schemas.microsoft.com/office/drawing/2014/main" id="{1D0A2278-2102-48A9-AC63-39893DF7C182}"/>
              </a:ext>
            </a:extLst>
          </p:cNvPr>
          <p:cNvSpPr>
            <a:spLocks noGrp="1"/>
          </p:cNvSpPr>
          <p:nvPr>
            <p:ph type="sldNum" sz="quarter" idx="4"/>
          </p:nvPr>
        </p:nvSpPr>
        <p:spPr/>
        <p:txBody>
          <a:bodyPr/>
          <a:lstStyle/>
          <a:p>
            <a:fld id="{C231324C-4752-C242-8156-5E21DB4253A5}" type="slidenum">
              <a:rPr lang="en-GB" smtClean="0"/>
              <a:pPr/>
              <a:t>32</a:t>
            </a:fld>
            <a:endParaRPr lang="en-GB" dirty="0"/>
          </a:p>
        </p:txBody>
      </p:sp>
    </p:spTree>
    <p:extLst>
      <p:ext uri="{BB962C8B-B14F-4D97-AF65-F5344CB8AC3E}">
        <p14:creationId xmlns:p14="http://schemas.microsoft.com/office/powerpoint/2010/main" val="4049346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A22858-1EFA-E5FB-65FE-96E49E1BC733}"/>
              </a:ext>
            </a:extLst>
          </p:cNvPr>
          <p:cNvSpPr>
            <a:spLocks noGrp="1"/>
          </p:cNvSpPr>
          <p:nvPr>
            <p:ph type="sldNum" sz="quarter" idx="4"/>
          </p:nvPr>
        </p:nvSpPr>
        <p:spPr/>
        <p:txBody>
          <a:bodyPr/>
          <a:lstStyle/>
          <a:p>
            <a:fld id="{C231324C-4752-C242-8156-5E21DB4253A5}" type="slidenum">
              <a:rPr lang="en-GB" smtClean="0"/>
              <a:pPr/>
              <a:t>33</a:t>
            </a:fld>
            <a:endParaRPr lang="en-GB" dirty="0"/>
          </a:p>
        </p:txBody>
      </p:sp>
      <p:sp>
        <p:nvSpPr>
          <p:cNvPr id="6" name="Title 1">
            <a:extLst>
              <a:ext uri="{FF2B5EF4-FFF2-40B4-BE49-F238E27FC236}">
                <a16:creationId xmlns:a16="http://schemas.microsoft.com/office/drawing/2014/main" id="{D9238A6C-74B9-5197-D4BF-B69824FE1585}"/>
              </a:ext>
            </a:extLst>
          </p:cNvPr>
          <p:cNvSpPr>
            <a:spLocks noGrp="1"/>
          </p:cNvSpPr>
          <p:nvPr>
            <p:ph type="title"/>
          </p:nvPr>
        </p:nvSpPr>
        <p:spPr>
          <a:xfrm>
            <a:off x="200472" y="260648"/>
            <a:ext cx="9491464" cy="990600"/>
          </a:xfrm>
        </p:spPr>
        <p:txBody>
          <a:bodyPr/>
          <a:lstStyle/>
          <a:p>
            <a:r>
              <a:rPr lang="en-US" sz="2800" dirty="0"/>
              <a:t>Experimental Design Meetings – preclinical </a:t>
            </a:r>
            <a:r>
              <a:rPr lang="en-US" sz="2800" i="1" dirty="0"/>
              <a:t>in vivo </a:t>
            </a:r>
            <a:r>
              <a:rPr lang="en-US" sz="2800" dirty="0"/>
              <a:t>experiments</a:t>
            </a:r>
          </a:p>
        </p:txBody>
      </p:sp>
      <p:sp>
        <p:nvSpPr>
          <p:cNvPr id="10" name="Content Placeholder 2">
            <a:extLst>
              <a:ext uri="{FF2B5EF4-FFF2-40B4-BE49-F238E27FC236}">
                <a16:creationId xmlns:a16="http://schemas.microsoft.com/office/drawing/2014/main" id="{802E9BFE-4DBF-459B-2E6C-2B7B8D46EEC8}"/>
              </a:ext>
            </a:extLst>
          </p:cNvPr>
          <p:cNvSpPr>
            <a:spLocks noGrp="1"/>
          </p:cNvSpPr>
          <p:nvPr>
            <p:ph idx="1"/>
          </p:nvPr>
        </p:nvSpPr>
        <p:spPr>
          <a:xfrm>
            <a:off x="214064" y="755948"/>
            <a:ext cx="9477872" cy="5409356"/>
          </a:xfrm>
        </p:spPr>
        <p:txBody>
          <a:bodyPr/>
          <a:lstStyle/>
          <a:p>
            <a:pPr>
              <a:defRPr/>
            </a:pPr>
            <a:endParaRPr lang="en-US" sz="800" dirty="0"/>
          </a:p>
          <a:p>
            <a:pPr>
              <a:defRPr/>
            </a:pPr>
            <a:r>
              <a:rPr lang="en-US" sz="1800" dirty="0"/>
              <a:t>Please, </a:t>
            </a:r>
            <a:r>
              <a:rPr lang="en-US" sz="1800" dirty="0" err="1"/>
              <a:t>seNd</a:t>
            </a:r>
            <a:r>
              <a:rPr lang="en-US" sz="1800" dirty="0"/>
              <a:t> EMAIL FOR a stats CLINIC:</a:t>
            </a:r>
          </a:p>
          <a:p>
            <a:pPr lvl="1">
              <a:defRPr/>
            </a:pPr>
            <a:r>
              <a:rPr lang="en-US" sz="1800" dirty="0"/>
              <a:t>Email </a:t>
            </a:r>
            <a:r>
              <a:rPr lang="en-US" sz="1800" u="sng" dirty="0">
                <a:solidFill>
                  <a:srgbClr val="0000FF"/>
                </a:solidFill>
                <a:hlinkClick r:id="rId2"/>
              </a:rPr>
              <a:t>luca.porcu@cruk.cam.ac.uk</a:t>
            </a:r>
            <a:r>
              <a:rPr lang="en-US" sz="1800" u="sng" dirty="0">
                <a:solidFill>
                  <a:srgbClr val="0000FF"/>
                </a:solidFill>
              </a:rPr>
              <a:t> or </a:t>
            </a:r>
            <a:r>
              <a:rPr lang="en-US" sz="1800" u="sng" dirty="0" err="1">
                <a:solidFill>
                  <a:srgbClr val="0000FF"/>
                </a:solidFill>
              </a:rPr>
              <a:t>statistics@cruk.ca.ac.uk</a:t>
            </a:r>
            <a:r>
              <a:rPr lang="en-US" sz="1800" u="sng" dirty="0">
                <a:solidFill>
                  <a:srgbClr val="0000FF"/>
                </a:solidFill>
              </a:rPr>
              <a:t> </a:t>
            </a:r>
            <a:r>
              <a:rPr lang="en-US" sz="1800" dirty="0">
                <a:solidFill>
                  <a:srgbClr val="000000"/>
                </a:solidFill>
              </a:rPr>
              <a:t>to request meeting (first meeting is not charged)</a:t>
            </a:r>
            <a:endParaRPr lang="en-US" sz="1800" dirty="0"/>
          </a:p>
          <a:p>
            <a:pPr lvl="1">
              <a:defRPr/>
            </a:pPr>
            <a:r>
              <a:rPr lang="en-US" sz="1800" dirty="0"/>
              <a:t>Provide</a:t>
            </a:r>
            <a:r>
              <a:rPr lang="en-US" sz="1800" b="1" dirty="0"/>
              <a:t> project </a:t>
            </a:r>
            <a:r>
              <a:rPr lang="en-US" sz="1800" b="1" i="1" dirty="0"/>
              <a:t>background and objectives </a:t>
            </a:r>
            <a:r>
              <a:rPr lang="en-US" sz="1800" dirty="0"/>
              <a:t>(a few slides from you)</a:t>
            </a:r>
          </a:p>
          <a:p>
            <a:pPr>
              <a:defRPr/>
            </a:pPr>
            <a:r>
              <a:rPr lang="en-US" sz="1800" dirty="0"/>
              <a:t>Discussion:</a:t>
            </a:r>
          </a:p>
          <a:p>
            <a:pPr lvl="2">
              <a:defRPr/>
            </a:pPr>
            <a:r>
              <a:rPr lang="en-US" dirty="0"/>
              <a:t>Background, objectives, endpoints</a:t>
            </a:r>
          </a:p>
          <a:p>
            <a:pPr lvl="2">
              <a:defRPr/>
            </a:pPr>
            <a:r>
              <a:rPr lang="en-US" dirty="0"/>
              <a:t>Efficient statistical design</a:t>
            </a:r>
          </a:p>
          <a:p>
            <a:pPr lvl="2">
              <a:defRPr/>
            </a:pPr>
            <a:r>
              <a:rPr lang="en-US" dirty="0"/>
              <a:t>Control of variability using randomization, blocking and replication</a:t>
            </a:r>
          </a:p>
          <a:p>
            <a:pPr lvl="2">
              <a:defRPr/>
            </a:pPr>
            <a:r>
              <a:rPr lang="en-US" dirty="0"/>
              <a:t>Effect size &amp; sample-size calculation</a:t>
            </a:r>
          </a:p>
          <a:p>
            <a:pPr lvl="2">
              <a:defRPr/>
            </a:pPr>
            <a:r>
              <a:rPr lang="en-US" dirty="0"/>
              <a:t>Type of </a:t>
            </a:r>
            <a:r>
              <a:rPr lang="en-US" dirty="0" err="1"/>
              <a:t>randomisation</a:t>
            </a:r>
            <a:r>
              <a:rPr lang="en-US" dirty="0"/>
              <a:t> and producing randomization lists</a:t>
            </a:r>
          </a:p>
          <a:p>
            <a:pPr marL="712787" lvl="2" indent="0">
              <a:buNone/>
              <a:defRPr/>
            </a:pPr>
            <a:endParaRPr lang="en-US" dirty="0"/>
          </a:p>
          <a:p>
            <a:pPr marL="180975" lvl="2" indent="-33338">
              <a:buNone/>
              <a:defRPr/>
            </a:pPr>
            <a:r>
              <a:rPr lang="en-US" dirty="0"/>
              <a:t>NOTE: for Personal Project Licenses (PPLs) meetings with the statistician is useful to improve the statistical sections of the PPL, to better justify the number of animals, to demonstrate to the Home Office that a statistical support is present and to anticipate the statistical design of future pivotal experiments (first meeting is not charged. The </a:t>
            </a:r>
            <a:r>
              <a:rPr lang="en-US" dirty="0" err="1"/>
              <a:t>ollowing</a:t>
            </a:r>
            <a:r>
              <a:rPr lang="en-US" dirty="0"/>
              <a:t> meetings are charged based on a previous agreement with the PPL holder.</a:t>
            </a:r>
          </a:p>
          <a:p>
            <a:pPr marL="712787" lvl="2" indent="0">
              <a:buNone/>
              <a:defRPr/>
            </a:pPr>
            <a:endParaRPr lang="en-US" dirty="0"/>
          </a:p>
        </p:txBody>
      </p:sp>
    </p:spTree>
    <p:extLst>
      <p:ext uri="{BB962C8B-B14F-4D97-AF65-F5344CB8AC3E}">
        <p14:creationId xmlns:p14="http://schemas.microsoft.com/office/powerpoint/2010/main" val="3488123535"/>
      </p:ext>
    </p:extLst>
  </p:cSld>
  <p:clrMapOvr>
    <a:masterClrMapping/>
  </p:clrMapOvr>
</p:sld>
</file>

<file path=ppt/theme/theme1.xml><?xml version="1.0" encoding="utf-8"?>
<a:theme xmlns:a="http://schemas.openxmlformats.org/drawingml/2006/main" name="CRUK Theme">
  <a:themeElements>
    <a:clrScheme name="CRUK Palette">
      <a:dk1>
        <a:srgbClr val="211F70"/>
      </a:dk1>
      <a:lt1>
        <a:sysClr val="window" lastClr="FFFFFF"/>
      </a:lt1>
      <a:dk2>
        <a:srgbClr val="000000"/>
      </a:dk2>
      <a:lt2>
        <a:srgbClr val="BABABA"/>
      </a:lt2>
      <a:accent1>
        <a:srgbClr val="D8006B"/>
      </a:accent1>
      <a:accent2>
        <a:srgbClr val="24A8E6"/>
      </a:accent2>
      <a:accent3>
        <a:srgbClr val="EA7BAF"/>
      </a:accent3>
      <a:accent4>
        <a:srgbClr val="8282B3"/>
      </a:accent4>
      <a:accent5>
        <a:srgbClr val="81D3F1"/>
      </a:accent5>
      <a:accent6>
        <a:srgbClr val="5D5C5C"/>
      </a:accent6>
      <a:hlink>
        <a:srgbClr val="9A99C2"/>
      </a:hlink>
      <a:folHlink>
        <a:srgbClr val="F3AD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BABABA"/>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CD462874CE0C46A04B79CE3BA52F53" ma:contentTypeVersion="0" ma:contentTypeDescription="Create a new document." ma:contentTypeScope="" ma:versionID="cab34115d545c224939113a9716b2953">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8E5E1AA-2083-4318-84DD-F5A6A6E1E677}">
  <ds:schemaRefs>
    <ds:schemaRef ds:uri="http://schemas.microsoft.com/sharepoint/v3/contenttype/forms"/>
  </ds:schemaRefs>
</ds:datastoreItem>
</file>

<file path=customXml/itemProps2.xml><?xml version="1.0" encoding="utf-8"?>
<ds:datastoreItem xmlns:ds="http://schemas.openxmlformats.org/officeDocument/2006/customXml" ds:itemID="{9DE55B6D-CC67-41E3-A084-006FDF826E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1173AE39-7099-4FE1-BF7C-8F30842C4CF0}">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13687</TotalTime>
  <Words>1876</Words>
  <Application>Microsoft Macintosh PowerPoint</Application>
  <PresentationFormat>A4 Paper (210x297 mm)</PresentationFormat>
  <Paragraphs>252</Paragraphs>
  <Slides>33</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ＭＳ Ｐゴシック</vt:lpstr>
      <vt:lpstr>Aptos</vt:lpstr>
      <vt:lpstr>Arial</vt:lpstr>
      <vt:lpstr>Arial Narrow</vt:lpstr>
      <vt:lpstr>Calibri</vt:lpstr>
      <vt:lpstr>Garamond</vt:lpstr>
      <vt:lpstr>Lucida Grande</vt:lpstr>
      <vt:lpstr>Wingdings</vt:lpstr>
      <vt:lpstr>CRUK Theme</vt:lpstr>
      <vt:lpstr>INTRODUCTION TO EXPERIMENTAL DESIGN AT CRUK-CI</vt:lpstr>
      <vt:lpstr>Agenda</vt:lpstr>
      <vt:lpstr>What is an Experiment?</vt:lpstr>
      <vt:lpstr>PowerPoint Presentation</vt:lpstr>
      <vt:lpstr>Why Perform Experiments?</vt:lpstr>
      <vt:lpstr>Confirmatory experiments: the traditional scientific method of biology and medicine</vt:lpstr>
      <vt:lpstr>PowerPoint Presentation</vt:lpstr>
      <vt:lpstr>PowerPoint Presentation</vt:lpstr>
      <vt:lpstr>PowerPoint Presentation</vt:lpstr>
      <vt:lpstr>Why Experimental Design Matters?</vt:lpstr>
      <vt:lpstr>Definition of internal validity for an experiment</vt:lpstr>
      <vt:lpstr>Ronald A. Fisher(1890-1962)</vt:lpstr>
      <vt:lpstr>PowerPoint Presentation</vt:lpstr>
      <vt:lpstr>SELECTION BIAS</vt:lpstr>
      <vt:lpstr>PERFORMANCE BIAS</vt:lpstr>
      <vt:lpstr>DETECTION BIAS</vt:lpstr>
      <vt:lpstr>Bad Design Issues</vt:lpstr>
      <vt:lpstr>Crisis in Reproducible Research</vt:lpstr>
      <vt:lpstr>47 of 53 high-profile cancer studies  were not reproducible!</vt:lpstr>
      <vt:lpstr>PowerPoint Presentation</vt:lpstr>
      <vt:lpstr>PowerPoint Presentation</vt:lpstr>
      <vt:lpstr>PowerPoint Presentation</vt:lpstr>
      <vt:lpstr>Consequences of Poor Experimental Design…</vt:lpstr>
      <vt:lpstr>A Well-Designed Experiment:</vt:lpstr>
      <vt:lpstr>Absence of biases is a necessary but not sufficient condition for good preclinical research</vt:lpstr>
      <vt:lpstr>Definition of Reproducibility</vt:lpstr>
      <vt:lpstr>PowerPoint Presentation</vt:lpstr>
      <vt:lpstr>Experimental Design process at CRUK-CI</vt:lpstr>
      <vt:lpstr>PowerPoint Presentation</vt:lpstr>
      <vt:lpstr>CRUK-CI Experimental Design Process</vt:lpstr>
      <vt:lpstr>Experimental Design Meetings - Genomics</vt:lpstr>
      <vt:lpstr>Experimental Design Meetings - Proteomics</vt:lpstr>
      <vt:lpstr>Experimental Design Meetings – preclinical in vivo experiments</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Kamal Kishore</cp:lastModifiedBy>
  <cp:revision>438</cp:revision>
  <cp:lastPrinted>2017-09-17T14:30:32Z</cp:lastPrinted>
  <dcterms:created xsi:type="dcterms:W3CDTF">2012-09-07T13:33:17Z</dcterms:created>
  <dcterms:modified xsi:type="dcterms:W3CDTF">2024-09-25T14:48:31Z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0x01010012CD462874CE0C46A04B79CE3BA52F53</vt:lpwstr>
  </property>
</Properties>
</file>